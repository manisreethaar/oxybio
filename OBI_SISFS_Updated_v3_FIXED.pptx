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 Lakhs — midpoint estimate)</c:v>
                </c:pt>
              </c:strCache>
            </c:strRef>
          </c:tx>
          <c:spPr>
            <a:solidFill>
              <a:srgbClr val="0D9488"/>
            </a:solidFill>
            <a:effectLst/>
          </c:spPr>
          <c:invertIfNegative val="0"/>
          <c:dLbls>
            <c:numFmt formatCode="#,##0" sourceLinked="0"/>
            <c:txPr>
              <a:bodyPr/>
              <a:lstStyle/>
              <a:p>
                <a:pPr>
                  <a:defRPr b="0" i="0" strike="noStrike" sz="900" u="none">
                    <a:solidFill>
                      <a:srgbClr val="0A6059"/>
                    </a:solidFill>
                    <a:latin typeface="Arial"/>
                  </a:defRPr>
                </a:pPr>
              </a:p>
            </c:txPr>
            <c:showLegendKey val="0"/>
            <c:showVal val="1"/>
            <c:showCatName val="0"/>
            <c:showSerName val="0"/>
            <c:showPercent val="0"/>
            <c:showBubbleSize val="0"/>
            <c:showLeaderLines val="0"/>
          </c:dLbls>
          <c:cat>
            <c:multiLvlStrRef>
              <c:f>Sheet1!$A$2:$A$6</c:f>
              <c:multiLvlStrCache>
                <c:ptCount val="5"/>
                <c:lvl>
                  <c:pt idx="0">
                    <c:v>Y1 (FY26–27)
Pre-Revenue</c:v>
                  </c:pt>
                  <c:pt idx="1">
                    <c:v>Y2 (FY27–28)
Launch</c:v>
                  </c:pt>
                  <c:pt idx="2">
                    <c:v>Y3 (FY28–29)
Scale</c:v>
                  </c:pt>
                  <c:pt idx="3">
                    <c:v>Y4 (FY29–30)
Expansion</c:v>
                  </c:pt>
                  <c:pt idx="4">
                    <c:v>Y5 (FY30–31)
South India</c:v>
                  </c:pt>
                </c:lvl>
              </c:multiLvlStrCache>
            </c:multiLvlStrRef>
          </c:cat>
          <c:val>
            <c:numRef>
              <c:f>Sheet1!$B$2:$B$6</c:f>
              <c:numCache>
                <c:formatCode>General</c:formatCode>
                <c:ptCount val="5"/>
                <c:pt idx="0">
                  <c:v>0</c:v>
                </c:pt>
                <c:pt idx="1">
                  <c:v>22.5</c:v>
                </c:pt>
                <c:pt idx="2">
                  <c:v>115</c:v>
                </c:pt>
                <c:pt idx="3">
                  <c:v>500</c:v>
                </c:pt>
                <c:pt idx="4">
                  <c:v>1200</c:v>
                </c:pt>
              </c:numCache>
            </c:numRef>
          </c:val>
        </c:ser>
        <c:dLbls>
          <c:numFmt formatCode="#,##0" sourceLinked="0"/>
          <c:txPr>
            <a:bodyPr/>
            <a:lstStyle/>
            <a:p>
              <a:pPr>
                <a:defRPr b="0" i="0" strike="noStrike" sz="900" u="none">
                  <a:solidFill>
                    <a:srgbClr val="0A6059"/>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b="0" sz="800">
                    <a:solidFill>
                      <a:srgbClr val="374151"/>
                    </a:solidFill>
                    <a:latin typeface="Arial"/>
                  </a:defRPr>
                </a:pPr>
                <a:r>
                  <a:rPr lang="en-US" dirty="0"/>
                  <a:t>Financial Year</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title>
          <c:tx>
            <c:rich>
              <a:bodyPr rot="-5400000"/>
              <a:lstStyle/>
              <a:p>
                <a:pPr>
                  <a:defRPr b="0" sz="800">
                    <a:solidFill>
                      <a:srgbClr val="374151"/>
                    </a:solidFill>
                    <a:latin typeface="Arial"/>
                  </a:defRPr>
                </a:pPr>
                <a:r>
                  <a:rPr lang="en-US" dirty="0"/>
                  <a:t>Revenue (₹ Lakhs)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Fund Deployment</c:v>
                </c:pt>
              </c:strCache>
            </c:strRef>
          </c:tx>
          <c:spPr>
            <a:solidFill>
              <a:schemeClr val="accent1"/>
            </a:solidFill>
            <a:ln w="9525" cap="flat">
              <a:solidFill>
                <a:srgbClr val="F9F9F9"/>
              </a:solidFill>
              <a:prstDash val="solid"/>
              <a:round/>
            </a:ln>
            <a:effectLst/>
          </c:spPr>
          <c:dPt>
            <c:idx val="0"/>
            <c:bubble3D val="0"/>
            <c:spPr>
              <a:solidFill>
                <a:srgbClr val="0D9488"/>
              </a:solidFill>
              <a:effectLst/>
            </c:spPr>
          </c:dPt>
          <c:dPt>
            <c:idx val="1"/>
            <c:bubble3D val="0"/>
            <c:spPr>
              <a:solidFill>
                <a:srgbClr val="0369A1"/>
              </a:solidFill>
              <a:effectLst/>
            </c:spPr>
          </c:dPt>
          <c:dPt>
            <c:idx val="2"/>
            <c:bubble3D val="0"/>
            <c:spPr>
              <a:solidFill>
                <a:srgbClr val="7C3AED"/>
              </a:solidFill>
              <a:effectLst/>
            </c:spPr>
          </c:dPt>
          <c:dPt>
            <c:idx val="3"/>
            <c:bubble3D val="0"/>
            <c:spPr>
              <a:solidFill>
                <a:srgbClr val="D97706"/>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Bioactive Validation + NABL Testing (30%)</c:v>
                </c:pt>
                <c:pt idx="1">
                  <c:v>Regulatory + IP Filing (25%)</c:v>
                </c:pt>
                <c:pt idx="2">
                  <c:v>Shelf-Life + Process Validation (20%)</c:v>
                </c:pt>
                <c:pt idx="3">
                  <c:v>Consumables, Reagents + Stipends (25%)</c:v>
                </c:pt>
              </c:strCache>
            </c:strRef>
          </c:cat>
          <c:val>
            <c:numRef>
              <c:f>Sheet1!$B$2:$B$5</c:f>
              <c:numCache>
                <c:ptCount val="4"/>
                <c:pt idx="0">
                  <c:v>30</c:v>
                </c:pt>
                <c:pt idx="1">
                  <c:v>25</c:v>
                </c:pt>
                <c:pt idx="2">
                  <c:v>20</c:v>
                </c:pt>
                <c:pt idx="3">
                  <c:v>25</c:v>
                </c:pt>
              </c:numCache>
            </c:numRef>
          </c:val>
        </c:ser>
        <c:firstSliceAng val="0"/>
      </c:pieChart>
      <c:spPr>
        <a:noFill/>
        <a:ln>
          <a:noFill/>
        </a:ln>
        <a:effectLst/>
      </c:spPr>
    </c:plotArea>
    <c:plotVisOnly val="1"/>
    <c:dispBlanksAs val="span"/>
  </c:chart>
  <c:spPr>
    <a:solidFill>
      <a:srgbClr val="FAFFFE"/>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'Good afternoon, respected committee members. I am Libinraj Christopher, Co-Director of Oxygen Bioinnovations Private Limited — a deep-tech fermentation startup from Hosur, Tamil Nadu. We are DPIIT-recognised under the DeepTech Biotechnology category. Our founder and CEO Manisreethaar is also with us today and will address any technical questions after the pitch. Let me walk you through our business.'  Time: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'Our CEO Manisreethaar has direct prior experience in pharma-grade fermentation R&amp;D at Anthem Biosciences, Bengaluru — which is rare in Indian food-tech. He conceived and built our fermentation protocol from the ground up. I handle lab operations and team management day-to-day. Together with our research fellow and 7 interns from Adhiyamaan College, we are a focused, execution-ready team.' Time: 45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'Our customer is the 18-to-28-year-old student or young professional in Hosur and Bengaluru. They are health-aware, under stress, and spending ₹50 to ₹120 on beverages daily — but every functional option available to them is either an expensive imported supplement at ₹500 a serving, or a sugar-heavy energy drink with no real nutrition. Nobody has brought functional mushroom fermentation to a ₹65 bottle in India. That is the gap we fill.' Time: 45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India functional beverages market is ₹15,000 crore today, growing at 12% annually to ₹26,000 crore by 2029. Probiotic drinks alone are at 18.8% CAGR. But here is the white space — zero Indian brands have combined LAB fermentation with species-specific medicinal mushroom bioactives in a ₹65 RTD format. Every existing option is either too expensive, wrong format, or scientifically shallow. We are filling that exact void.' Time: 40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'Our platform has three stages. First, we engineer the substrate — sprouted ragi, black rice, and urad dal in a specific ratio. Urad dal is our key ingredient — it provides natural glutamic acid which our L. brevis bacteria converts to GABA. No MSG needed. Second, fermentation at 37 degrees for 24 to 48 hours. Third, heat stabilisation — which makes it shelf-stable, no cold chain. On top of this base, we integrate species-specific mushroom extracts — each mushroom has a different extraction protocol to preserve its unique bioactives. CLARITY uses Lion's Mane with a strict sub-70-degree water extraction. MOMENTUM uses Cordyceps with ethanol-first. VITALITY uses Reishi with dual extraction.' Time: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'Five reasons our customer chooses us. One: ₹65 price — affordable as a daily habit. Two: no cold chain, so we can sell to gyms and canteens without refrigeration infrastructure. Three: Indian grains, Indian taste profile. Four: we make science-backed claims about specific bioactives, not vague wellness marketing. Five: clean label — no MSG, no preservatives, no synthetic anything. And our platform is extensible — the same fermentation process can support any grain or mushroom combination.' Time: 50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and honest: 'We have not yet completed third-party testing — that is precisely what this SISFS grant funds. We have confirmed pH endpoint and contamination control protocols. NABL testing and HPLC bioactive quantification are our Phase 1 deliverables. On regulatory: we are preparing our FSSAI state licence application — 60 to 90 day process. On IP: we are DPIIT-recognised. Our patent application is in preparation with a Chennai-based registered patent agent and will be filed once our HPLC data is confirmed — that is the legally correct sequence, as our patent covers a specific fermentation process and we want the data to back every claim.' Time: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and confident: 'Our total addressable market is the ₹15,000 crore India functional beverages segment, growing to ₹26,000 crore by 2029. We are targeting a very specific serviceable market — urban, health-aware, 18-28 year olds in South India. By Year 3, our conservative target is 0.06% of the functional beverage category — roughly 1,250 active customers. On stage — we are pre-revenue, which is expected. We are completing the validation work this grant funds. On orders — zero today, because we legally cannot sell without an FSSAI licence. We are not delaying by choice; we are doing this correctly.' Time: 50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'Five things make us hard to copy. First, our founder's pharma fermentation background — this is not a hobby project. Second, species-specific extraction protocols — we do not use the same protocol for Lion's Mane and Cordyceps. Third, we engineer GABA naturally through substrate design, without MSG. Fourth, we built OxyOS — a full GMP digital management system — before we have a single rupee of revenue. Fifth, our platform can extend to any grain and any mushroom combination. These are not marketing claims. They are technical choices that take years to build and replicate.' Time: 55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'We are the only company checking all six boxes. Four Sigmatic comes closest on mushroom bioactives but is a US import at ₹500-plus per serving, and they do not use Indian grain fermentation. The Indian capsule brands have mushroom extracts but no fermentation, no GABA, no RTD format. Probiotic drinks like Yakult have fermentation but no mushroom bioactives. The RTD space — Paper Boat, Raw Pressery — has no functional mushroom content. Nobody combines all six.' Time: 40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all three streams. Key numbers to say out loud: 'D2C at ₹65-75 gives us 45-55% gross margin. B2B at ₹50-60 bulk gives 35-45%. Subscription is our highest-margin channel at 50-60%, and it gives us predictable recurring revenue. All three streams run off one production line — we don't need separate manufacturing for each. Our launch market is Tamil Nadu and Karnataka.' Time: 45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to the chart: 'Year 1 is zero revenue — we are doing this right, not fast. We will not sell without an FSSAI licence. Year 2 is our launch year — ₹15 to 30 lakhs as we establish D2C and 50 institutional accounts. By Year 3 we expect ₹80 to 150 lakhs with all three SKUs live. By Year 5 we are targeting ₹1,000 to 1,400 lakhs — which is 0.1% of the functional beverages market. Conservative, grounded numbers.' Time: 40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'We identify our risks before investors do — and every one of them has a specific, active mitigation. Two medium-risk items: FSSAI timing and GABA yield. Two low-risk items: lab constraints and IP disclosure timing. None of these are unmanaged. We are not asking you to fund a team that is surprised by risk — we are asking you to fund a team that has already thought through every obstacle.' Time: 50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'We are DPIIT-recognised, incubated at TBI-DETI@ACE in Hosur, and this is our first external funding application — SISFS. We are simultaneously preparing our BIRAC BIG application for the July 2026 call. Our cap table is clean — two founders, no external equity, no debt. We are not looking for dilutive capital at this stage — we are building the validation evidence base that will make our next fundraise come from a position of strength.' Time: 40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'We are asking for ₹20 lakhs — linked to 8 specific, measurable milestones across 12 months. Every rupee goes to validation, regulatory, or IP. No team salaries inflated, no marketing spend before product exists. By the end of this 12-month grant period, we will have: NABL-cleared batches, GABA HPLC data, FSSAI state licence, patent provisional filed, and a 100-unit consumer-validated pilot batch. That is a fully de-risked, launch-ready product.' Pause. 'We would welcome your questions.' Time: 45 sec. [Hand to Manisreethaar for technical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B3D"/>
        </a:solidFill>
      </p:bgPr>
    </p:bg>
    <p:spTree>
      <p:nvGrpSpPr>
        <p:cNvPr id="1" name=""/>
        <p:cNvGrpSpPr/>
        <p:nvPr/>
      </p:nvGrpSpPr>
      <p:grpSpPr>
        <a:xfrm>
          <a:off x="0" y="0"/>
          <a:ext cx="0" cy="0"/>
          <a:chOff x="0" y="0"/>
          <a:chExt cx="0" cy="0"/>
        </a:xfrm>
      </p:grpSpPr>
      <p:sp>
        <p:nvSpPr>
          <p:cNvPr id="2" name="Text 0"/>
          <p:cNvSpPr/>
          <p:nvPr/>
        </p:nvSpPr>
        <p:spPr>
          <a:xfrm>
            <a:off x="5029200" y="182880"/>
            <a:ext cx="3749040" cy="228600"/>
          </a:xfrm>
          <a:prstGeom prst="rect">
            <a:avLst/>
          </a:prstGeom>
          <a:noFill/>
          <a:ln/>
        </p:spPr>
        <p:txBody>
          <a:bodyPr wrap="square" rtlCol="0" anchor="ctr"/>
          <a:lstStyle/>
          <a:p>
            <a:pPr algn="r" indent="0" marL="0">
              <a:buNone/>
            </a:pPr>
            <a:r>
              <a:rPr lang="en-US" sz="750" b="1" dirty="0">
                <a:solidFill>
                  <a:srgbClr val="0D9488"/>
                </a:solidFill>
                <a:latin typeface="Calibri" pitchFamily="34" charset="0"/>
                <a:ea typeface="Calibri" pitchFamily="34" charset="-122"/>
                <a:cs typeface="Calibri" pitchFamily="34" charset="-120"/>
              </a:rPr>
              <a:t>DPIIT Recognised · DIPP258270 · Valid to 2036</a:t>
            </a:r>
            <a:endParaRPr lang="en-US" sz="750" dirty="0"/>
          </a:p>
        </p:txBody>
      </p:sp>
      <p:sp>
        <p:nvSpPr>
          <p:cNvPr id="3" name="Shape 1"/>
          <p:cNvSpPr/>
          <p:nvPr/>
        </p:nvSpPr>
        <p:spPr>
          <a:xfrm>
            <a:off x="457200" y="457200"/>
            <a:ext cx="3840480" cy="246888"/>
          </a:xfrm>
          <a:prstGeom prst="roundRect">
            <a:avLst>
              <a:gd name="adj" fmla="val 18519"/>
            </a:avLst>
          </a:prstGeom>
          <a:solidFill>
            <a:srgbClr val="0D9488"/>
          </a:solidFill>
          <a:ln w="12700">
            <a:solidFill>
              <a:srgbClr val="0D9488"/>
            </a:solidFill>
            <a:prstDash val="solid"/>
          </a:ln>
        </p:spPr>
      </p:sp>
      <p:sp>
        <p:nvSpPr>
          <p:cNvPr id="4" name="Text 2"/>
          <p:cNvSpPr/>
          <p:nvPr/>
        </p:nvSpPr>
        <p:spPr>
          <a:xfrm>
            <a:off x="457200" y="457200"/>
            <a:ext cx="3840480" cy="24688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BIOTECHNOLOGY  ·  FOODTECH  ·  FUNCTIONAL BEVERAGES</a:t>
            </a:r>
            <a:endParaRPr lang="en-US" sz="650" dirty="0"/>
          </a:p>
        </p:txBody>
      </p:sp>
      <p:sp>
        <p:nvSpPr>
          <p:cNvPr id="5" name="Text 3"/>
          <p:cNvSpPr/>
          <p:nvPr/>
        </p:nvSpPr>
        <p:spPr>
          <a:xfrm>
            <a:off x="457200" y="868680"/>
            <a:ext cx="8321040" cy="868680"/>
          </a:xfrm>
          <a:prstGeom prst="rect">
            <a:avLst/>
          </a:prstGeom>
          <a:noFill/>
          <a:ln/>
        </p:spPr>
        <p:txBody>
          <a:bodyPr wrap="square" rtlCol="0" anchor="ctr"/>
          <a:lstStyle/>
          <a:p>
            <a:pPr indent="0" marL="0">
              <a:buNone/>
            </a:pPr>
            <a:r>
              <a:rPr lang="en-US" sz="4200" b="1" spc="80" kern="0" dirty="0">
                <a:solidFill>
                  <a:srgbClr val="FFFFFF"/>
                </a:solidFill>
                <a:latin typeface="Calibri" pitchFamily="34" charset="0"/>
                <a:ea typeface="Calibri" pitchFamily="34" charset="-122"/>
                <a:cs typeface="Calibri" pitchFamily="34" charset="-120"/>
              </a:rPr>
              <a:t>OXYGEN BIOINNOVATIONS</a:t>
            </a:r>
            <a:endParaRPr lang="en-US" sz="4200" dirty="0"/>
          </a:p>
        </p:txBody>
      </p:sp>
      <p:sp>
        <p:nvSpPr>
          <p:cNvPr id="6" name="Text 4"/>
          <p:cNvSpPr/>
          <p:nvPr/>
        </p:nvSpPr>
        <p:spPr>
          <a:xfrm>
            <a:off x="457200" y="1664208"/>
            <a:ext cx="8321040" cy="457200"/>
          </a:xfrm>
          <a:prstGeom prst="rect">
            <a:avLst/>
          </a:prstGeom>
          <a:noFill/>
          <a:ln/>
        </p:spPr>
        <p:txBody>
          <a:bodyPr wrap="square" rtlCol="0" anchor="ctr"/>
          <a:lstStyle/>
          <a:p>
            <a:pPr indent="0" marL="0">
              <a:buNone/>
            </a:pPr>
            <a:r>
              <a:rPr lang="en-US" sz="2400" spc="400" kern="0" dirty="0">
                <a:solidFill>
                  <a:srgbClr val="0D9488"/>
                </a:solidFill>
                <a:latin typeface="Calibri" pitchFamily="34" charset="0"/>
                <a:ea typeface="Calibri" pitchFamily="34" charset="-122"/>
                <a:cs typeface="Calibri" pitchFamily="34" charset="-120"/>
              </a:rPr>
              <a:t>PRIVATE LIMITED</a:t>
            </a:r>
            <a:endParaRPr lang="en-US" sz="2400" dirty="0"/>
          </a:p>
        </p:txBody>
      </p:sp>
      <p:sp>
        <p:nvSpPr>
          <p:cNvPr id="7" name="Text 5"/>
          <p:cNvSpPr/>
          <p:nvPr/>
        </p:nvSpPr>
        <p:spPr>
          <a:xfrm>
            <a:off x="457200" y="2231136"/>
            <a:ext cx="8321040" cy="320040"/>
          </a:xfrm>
          <a:prstGeom prst="rect">
            <a:avLst/>
          </a:prstGeom>
          <a:noFill/>
          <a:ln/>
        </p:spPr>
        <p:txBody>
          <a:bodyPr wrap="square" rtlCol="0" anchor="ctr"/>
          <a:lstStyle/>
          <a:p>
            <a:pPr indent="0" marL="0">
              <a:buNone/>
            </a:pPr>
            <a:r>
              <a:rPr lang="en-US" sz="1250" i="1" dirty="0">
                <a:solidFill>
                  <a:srgbClr val="A7F3D0"/>
                </a:solidFill>
                <a:latin typeface="Calibri" pitchFamily="34" charset="0"/>
                <a:ea typeface="Calibri" pitchFamily="34" charset="-122"/>
                <a:cs typeface="Calibri" pitchFamily="34" charset="-120"/>
              </a:rPr>
              <a:t>உணவே மருந்து  ·  Food Is Medicine</a:t>
            </a:r>
            <a:endParaRPr lang="en-US" sz="1250" dirty="0"/>
          </a:p>
        </p:txBody>
      </p:sp>
      <p:sp>
        <p:nvSpPr>
          <p:cNvPr id="8" name="Shape 6"/>
          <p:cNvSpPr/>
          <p:nvPr/>
        </p:nvSpPr>
        <p:spPr>
          <a:xfrm>
            <a:off x="457200" y="2688336"/>
            <a:ext cx="8229600" cy="18288"/>
          </a:xfrm>
          <a:prstGeom prst="rect">
            <a:avLst/>
          </a:prstGeom>
          <a:solidFill>
            <a:srgbClr val="1E4D5C"/>
          </a:solidFill>
          <a:ln w="12700">
            <a:solidFill>
              <a:srgbClr val="1E4D5C"/>
            </a:solidFill>
            <a:prstDash val="solid"/>
          </a:ln>
        </p:spPr>
      </p:sp>
      <p:sp>
        <p:nvSpPr>
          <p:cNvPr id="9" name="Text 7"/>
          <p:cNvSpPr/>
          <p:nvPr/>
        </p:nvSpPr>
        <p:spPr>
          <a:xfrm>
            <a:off x="457200" y="2816352"/>
            <a:ext cx="1005840" cy="201168"/>
          </a:xfrm>
          <a:prstGeom prst="rect">
            <a:avLst/>
          </a:prstGeom>
          <a:noFill/>
          <a:ln/>
        </p:spPr>
        <p:txBody>
          <a:bodyPr wrap="square" rtlCol="0" anchor="ctr"/>
          <a:lstStyle/>
          <a:p>
            <a:pPr indent="0" marL="0">
              <a:buNone/>
            </a:pPr>
            <a:r>
              <a:rPr lang="en-US" sz="750" b="1" spc="200" kern="0" dirty="0">
                <a:solidFill>
                  <a:srgbClr val="D97706"/>
                </a:solidFill>
                <a:latin typeface="Calibri" pitchFamily="34" charset="0"/>
                <a:ea typeface="Calibri" pitchFamily="34" charset="-122"/>
                <a:cs typeface="Calibri" pitchFamily="34" charset="-120"/>
              </a:rPr>
              <a:t>VISION</a:t>
            </a:r>
            <a:endParaRPr lang="en-US" sz="750" dirty="0"/>
          </a:p>
        </p:txBody>
      </p:sp>
      <p:sp>
        <p:nvSpPr>
          <p:cNvPr id="10" name="Text 8"/>
          <p:cNvSpPr/>
          <p:nvPr/>
        </p:nvSpPr>
        <p:spPr>
          <a:xfrm>
            <a:off x="457200" y="3035808"/>
            <a:ext cx="8046720" cy="530352"/>
          </a:xfrm>
          <a:prstGeom prst="rect">
            <a:avLst/>
          </a:prstGeom>
          <a:noFill/>
          <a:ln/>
        </p:spPr>
        <p:txBody>
          <a:bodyPr wrap="square" rtlCol="0" anchor="ctr"/>
          <a:lstStyle/>
          <a:p>
            <a:pPr indent="0" marL="0">
              <a:buNone/>
            </a:pPr>
            <a:r>
              <a:rPr lang="en-US" sz="1350" dirty="0">
                <a:solidFill>
                  <a:srgbClr val="CBD5E1"/>
                </a:solidFill>
                <a:latin typeface="Calibri" pitchFamily="34" charset="0"/>
                <a:ea typeface="Calibri" pitchFamily="34" charset="-122"/>
                <a:cs typeface="Calibri" pitchFamily="34" charset="-120"/>
              </a:rPr>
              <a:t>Building India’s first science-grounded functional food brand from traditional grains and medicinal mushrooms — affordable, daily, rooted in South Indian agricultural heritage. Fermentation platform. Traditional ingredients. Full-scale brand vision.</a:t>
            </a:r>
            <a:endParaRPr lang="en-US" sz="1350" dirty="0"/>
          </a:p>
        </p:txBody>
      </p:sp>
      <p:sp>
        <p:nvSpPr>
          <p:cNvPr id="11" name="Text 9"/>
          <p:cNvSpPr/>
          <p:nvPr/>
        </p:nvSpPr>
        <p:spPr>
          <a:xfrm>
            <a:off x="457200" y="3730752"/>
            <a:ext cx="8229600" cy="256032"/>
          </a:xfrm>
          <a:prstGeom prst="rect">
            <a:avLst/>
          </a:prstGeom>
          <a:noFill/>
          <a:ln/>
        </p:spPr>
        <p:txBody>
          <a:bodyPr wrap="square" rtlCol="0" anchor="ctr"/>
          <a:lstStyle/>
          <a:p>
            <a:pPr algn="l" indent="0" marL="0">
              <a:buNone/>
            </a:pPr>
            <a:r>
              <a:rPr lang="en-US" sz="1000" b="1" spc="300" kern="0" dirty="0">
                <a:solidFill>
                  <a:srgbClr val="64748B"/>
                </a:solidFill>
                <a:latin typeface="Calibri" pitchFamily="34" charset="0"/>
                <a:ea typeface="Calibri" pitchFamily="34" charset="-122"/>
                <a:cs typeface="Calibri" pitchFamily="34" charset="-120"/>
              </a:rPr>
              <a:t>CLARITY  ·  MOMENTUM  ·  VITALITY  (working names — not finalised brand identities)</a:t>
            </a:r>
            <a:endParaRPr lang="en-US" sz="1000" dirty="0"/>
          </a:p>
        </p:txBody>
      </p:sp>
      <p:sp>
        <p:nvSpPr>
          <p:cNvPr id="12" name="Text 10"/>
          <p:cNvSpPr/>
          <p:nvPr/>
        </p:nvSpPr>
        <p:spPr>
          <a:xfrm>
            <a:off x="457200" y="4736592"/>
            <a:ext cx="8229600" cy="228600"/>
          </a:xfrm>
          <a:prstGeom prst="rect">
            <a:avLst/>
          </a:prstGeom>
          <a:noFill/>
          <a:ln/>
        </p:spPr>
        <p:txBody>
          <a:bodyPr wrap="square" rtlCol="0" anchor="ctr"/>
          <a:lstStyle/>
          <a:p>
            <a:pPr algn="ctr" indent="0" marL="0">
              <a:buNone/>
            </a:pPr>
            <a:r>
              <a:rPr lang="en-US" sz="750" dirty="0">
                <a:solidFill>
                  <a:srgbClr val="475569"/>
                </a:solidFill>
                <a:latin typeface="Calibri" pitchFamily="34" charset="0"/>
                <a:ea typeface="Calibri" pitchFamily="34" charset="-122"/>
                <a:cs typeface="Calibri" pitchFamily="34" charset="-120"/>
              </a:rPr>
              <a:t>CIN: U72100TZ2026PTC038160   ·   TBI-DETI@ACE, Hosur, Tamil Nadu   ·   SISFS Application No. 113783</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855878"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855878"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THE TEAM</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Founders &amp; Core Team</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Text 4"/>
          <p:cNvSpPr/>
          <p:nvPr/>
        </p:nvSpPr>
        <p:spPr>
          <a:xfrm>
            <a:off x="365760" y="941832"/>
            <a:ext cx="8412480" cy="228600"/>
          </a:xfrm>
          <a:prstGeom prst="rect">
            <a:avLst/>
          </a:prstGeom>
          <a:noFill/>
          <a:ln/>
        </p:spPr>
        <p:txBody>
          <a:bodyPr wrap="square"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Both founders hold M.Tech Nanoscience (Anna University) + B.Tech Biotechnology — full-time, founding roles</a:t>
            </a:r>
            <a:endParaRPr lang="en-US" sz="950" dirty="0"/>
          </a:p>
        </p:txBody>
      </p:sp>
      <p:sp>
        <p:nvSpPr>
          <p:cNvPr id="7" name="Shape 5"/>
          <p:cNvSpPr/>
          <p:nvPr/>
        </p:nvSpPr>
        <p:spPr>
          <a:xfrm>
            <a:off x="365760" y="1234440"/>
            <a:ext cx="4023360" cy="2651760"/>
          </a:xfrm>
          <a:prstGeom prst="roundRect">
            <a:avLst>
              <a:gd name="adj" fmla="val 2759"/>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8" name="Text 6"/>
          <p:cNvSpPr/>
          <p:nvPr/>
        </p:nvSpPr>
        <p:spPr>
          <a:xfrm>
            <a:off x="502920" y="1325880"/>
            <a:ext cx="3749040" cy="347472"/>
          </a:xfrm>
          <a:prstGeom prst="rect">
            <a:avLst/>
          </a:prstGeom>
          <a:noFill/>
          <a:ln/>
        </p:spPr>
        <p:txBody>
          <a:bodyPr wrap="square" rtlCol="0" anchor="ctr"/>
          <a:lstStyle/>
          <a:p>
            <a:pPr indent="0" marL="0">
              <a:buNone/>
            </a:pPr>
            <a:r>
              <a:rPr lang="en-US" sz="1500" b="1" dirty="0">
                <a:solidFill>
                  <a:srgbClr val="0A6059"/>
                </a:solidFill>
                <a:latin typeface="Calibri" pitchFamily="34" charset="0"/>
                <a:ea typeface="Calibri" pitchFamily="34" charset="-122"/>
                <a:cs typeface="Calibri" pitchFamily="34" charset="-120"/>
              </a:rPr>
              <a:t>Manisreethaar S</a:t>
            </a:r>
            <a:endParaRPr lang="en-US" sz="1500" dirty="0"/>
          </a:p>
        </p:txBody>
      </p:sp>
      <p:sp>
        <p:nvSpPr>
          <p:cNvPr id="9" name="Text 7"/>
          <p:cNvSpPr/>
          <p:nvPr/>
        </p:nvSpPr>
        <p:spPr>
          <a:xfrm>
            <a:off x="502920" y="1627632"/>
            <a:ext cx="3749040" cy="228600"/>
          </a:xfrm>
          <a:prstGeom prst="rect">
            <a:avLst/>
          </a:prstGeom>
          <a:noFill/>
          <a:ln/>
        </p:spPr>
        <p:txBody>
          <a:bodyPr wrap="square"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CEO &amp; Director  ·  Majority Shareholder  ·  Full-Time</a:t>
            </a:r>
            <a:endParaRPr lang="en-US" sz="850" dirty="0"/>
          </a:p>
        </p:txBody>
      </p:sp>
      <p:sp>
        <p:nvSpPr>
          <p:cNvPr id="10" name="Shape 8"/>
          <p:cNvSpPr/>
          <p:nvPr/>
        </p:nvSpPr>
        <p:spPr>
          <a:xfrm>
            <a:off x="502920" y="1883664"/>
            <a:ext cx="3749040" cy="13716"/>
          </a:xfrm>
          <a:prstGeom prst="rect">
            <a:avLst/>
          </a:prstGeom>
          <a:solidFill>
            <a:srgbClr val="CCEDE9"/>
          </a:solidFill>
          <a:ln w="12700">
            <a:solidFill>
              <a:srgbClr val="CCEDE9"/>
            </a:solidFill>
            <a:prstDash val="solid"/>
          </a:ln>
        </p:spPr>
      </p:sp>
      <p:sp>
        <p:nvSpPr>
          <p:cNvPr id="11" name="Text 9"/>
          <p:cNvSpPr/>
          <p:nvPr/>
        </p:nvSpPr>
        <p:spPr>
          <a:xfrm>
            <a:off x="502920" y="1920240"/>
            <a:ext cx="3749040" cy="1874520"/>
          </a:xfrm>
          <a:prstGeom prst="rect">
            <a:avLst/>
          </a:prstGeom>
          <a:noFill/>
          <a:ln/>
        </p:spPr>
        <p:txBody>
          <a:bodyPr wrap="square" rtlCol="0" anchor="t"/>
          <a:lstStyle/>
          <a:p>
            <a:pPr indent="0" marL="0">
              <a:buNone/>
            </a:pPr>
            <a:r>
              <a:rPr lang="en-US" sz="950" b="1" dirty="0">
                <a:solidFill>
                  <a:srgbClr val="374151"/>
                </a:solidFill>
                <a:latin typeface="Calibri" pitchFamily="34" charset="0"/>
                <a:ea typeface="Calibri" pitchFamily="34" charset="-122"/>
                <a:cs typeface="Calibri" pitchFamily="34" charset="-120"/>
              </a:rPr>
              <a:t xml:space="preserve">Education: </a:t>
            </a:r>
            <a:pPr indent="0" marL="0">
              <a:buNone/>
            </a:pPr>
            <a:r>
              <a:rPr lang="en-US" sz="950" dirty="0">
                <a:solidFill>
                  <a:srgbClr val="374151"/>
                </a:solidFill>
                <a:latin typeface="Calibri" pitchFamily="34" charset="0"/>
                <a:ea typeface="Calibri" pitchFamily="34" charset="-122"/>
                <a:cs typeface="Calibri" pitchFamily="34" charset="-120"/>
              </a:rPr>
              <a:t>M.Tech Nanoscience &amp; Technology, Anna University | B.Tech Biotechnology
</a:t>
            </a:r>
            <a:endParaRPr lang="en-US" sz="950" dirty="0"/>
          </a:p>
          <a:p>
            <a:pPr indent="0" marL="0">
              <a:buNone/>
            </a:pPr>
            <a:r>
              <a:rPr lang="en-US" sz="950" b="1" dirty="0">
                <a:solidFill>
                  <a:srgbClr val="374151"/>
                </a:solidFill>
                <a:latin typeface="Calibri" pitchFamily="34" charset="0"/>
                <a:ea typeface="Calibri" pitchFamily="34" charset="-122"/>
                <a:cs typeface="Calibri" pitchFamily="34" charset="-120"/>
              </a:rPr>
              <a:t xml:space="preserve">Prior Experience: </a:t>
            </a:r>
            <a:r>
              <a:rPr lang="en-US" sz="950" dirty="0">
                <a:solidFill>
                  <a:srgbClr val="374151"/>
                </a:solidFill>
                <a:latin typeface="Calibri" pitchFamily="34" charset="0"/>
                <a:ea typeface="Calibri" pitchFamily="34" charset="-122"/>
                <a:cs typeface="Calibri" pitchFamily="34" charset="-120"/>
              </a:rPr>
              <a:t>Faculty + Project Mentor, Dept of Biotechnology, Adhiyamaan College of Engineering, Hosur (2022–2025, 3 years) · Microbial upstream R&amp;D, pharma-grade fermentation — Anthem Biosciences, Bengaluru (2025–2026)</a:t>
            </a:r>
            <a:endParaRPr lang="en-US" sz="950" dirty="0"/>
          </a:p>
          <a:p>
            <a:pPr indent="0" marL="0">
              <a:buNone/>
            </a:pPr>
            <a:r>
              <a:rPr lang="en-US" sz="950" b="1" dirty="0">
                <a:solidFill>
                  <a:srgbClr val="374151"/>
                </a:solidFill>
                <a:latin typeface="Calibri" pitchFamily="34" charset="0"/>
                <a:ea typeface="Calibri" pitchFamily="34" charset="-122"/>
                <a:cs typeface="Calibri" pitchFamily="34" charset="-120"/>
              </a:rPr>
              <a:t xml:space="preserve">At OBI: </a:t>
            </a:r>
            <a:r>
              <a:rPr lang="en-US" sz="950" dirty="0">
                <a:solidFill>
                  <a:srgbClr val="374151"/>
                </a:solidFill>
                <a:latin typeface="Calibri" pitchFamily="34" charset="0"/>
                <a:ea typeface="Calibri" pitchFamily="34" charset="-122"/>
                <a:cs typeface="Calibri" pitchFamily="34" charset="-120"/>
              </a:rPr>
              <a:t>Fermentation platform architect; species-specific extraction protocol development; OxyOS full-stack design; scientific, strategic and grant lead</a:t>
            </a:r>
            <a:endParaRPr lang="en-US" sz="950" dirty="0"/>
          </a:p>
        </p:txBody>
      </p:sp>
      <p:sp>
        <p:nvSpPr>
          <p:cNvPr id="12" name="Shape 10"/>
          <p:cNvSpPr/>
          <p:nvPr/>
        </p:nvSpPr>
        <p:spPr>
          <a:xfrm>
            <a:off x="4709160" y="1234440"/>
            <a:ext cx="4023360" cy="2651760"/>
          </a:xfrm>
          <a:prstGeom prst="roundRect">
            <a:avLst>
              <a:gd name="adj" fmla="val 2759"/>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3" name="Text 11"/>
          <p:cNvSpPr/>
          <p:nvPr/>
        </p:nvSpPr>
        <p:spPr>
          <a:xfrm>
            <a:off x="4846320" y="1325880"/>
            <a:ext cx="3749040" cy="347472"/>
          </a:xfrm>
          <a:prstGeom prst="rect">
            <a:avLst/>
          </a:prstGeom>
          <a:noFill/>
          <a:ln/>
        </p:spPr>
        <p:txBody>
          <a:bodyPr wrap="square" rtlCol="0" anchor="ctr"/>
          <a:lstStyle/>
          <a:p>
            <a:pPr indent="0" marL="0">
              <a:buNone/>
            </a:pPr>
            <a:r>
              <a:rPr lang="en-US" sz="1500" b="1" dirty="0">
                <a:solidFill>
                  <a:srgbClr val="0A6059"/>
                </a:solidFill>
                <a:latin typeface="Calibri" pitchFamily="34" charset="0"/>
                <a:ea typeface="Calibri" pitchFamily="34" charset="-122"/>
                <a:cs typeface="Calibri" pitchFamily="34" charset="-120"/>
              </a:rPr>
              <a:t>Libinraj Christopher</a:t>
            </a:r>
            <a:endParaRPr lang="en-US" sz="1500" dirty="0"/>
          </a:p>
        </p:txBody>
      </p:sp>
      <p:sp>
        <p:nvSpPr>
          <p:cNvPr id="14" name="Text 12"/>
          <p:cNvSpPr/>
          <p:nvPr/>
        </p:nvSpPr>
        <p:spPr>
          <a:xfrm>
            <a:off x="4846320" y="1627632"/>
            <a:ext cx="3749040" cy="228600"/>
          </a:xfrm>
          <a:prstGeom prst="rect">
            <a:avLst/>
          </a:prstGeom>
          <a:noFill/>
          <a:ln/>
        </p:spPr>
        <p:txBody>
          <a:bodyPr wrap="square"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Co-Director  ·  1% Shareholder  ·  Full-Time</a:t>
            </a:r>
            <a:endParaRPr lang="en-US" sz="850" dirty="0"/>
          </a:p>
        </p:txBody>
      </p:sp>
      <p:sp>
        <p:nvSpPr>
          <p:cNvPr id="15" name="Shape 13"/>
          <p:cNvSpPr/>
          <p:nvPr/>
        </p:nvSpPr>
        <p:spPr>
          <a:xfrm>
            <a:off x="4846320" y="1883664"/>
            <a:ext cx="3749040" cy="13716"/>
          </a:xfrm>
          <a:prstGeom prst="rect">
            <a:avLst/>
          </a:prstGeom>
          <a:solidFill>
            <a:srgbClr val="CCEDE9"/>
          </a:solidFill>
          <a:ln w="12700">
            <a:solidFill>
              <a:srgbClr val="CCEDE9"/>
            </a:solidFill>
            <a:prstDash val="solid"/>
          </a:ln>
        </p:spPr>
      </p:sp>
      <p:sp>
        <p:nvSpPr>
          <p:cNvPr id="16" name="Text 14"/>
          <p:cNvSpPr/>
          <p:nvPr/>
        </p:nvSpPr>
        <p:spPr>
          <a:xfrm>
            <a:off x="4846320" y="1920240"/>
            <a:ext cx="3749040" cy="1874520"/>
          </a:xfrm>
          <a:prstGeom prst="rect">
            <a:avLst/>
          </a:prstGeom>
          <a:noFill/>
          <a:ln/>
        </p:spPr>
        <p:txBody>
          <a:bodyPr wrap="square" rtlCol="0" anchor="t"/>
          <a:lstStyle/>
          <a:p>
            <a:pPr indent="0" marL="0">
              <a:buNone/>
            </a:pPr>
            <a:r>
              <a:rPr lang="en-US" sz="950" b="1" dirty="0">
                <a:solidFill>
                  <a:srgbClr val="374151"/>
                </a:solidFill>
                <a:latin typeface="Calibri" pitchFamily="34" charset="0"/>
                <a:ea typeface="Calibri" pitchFamily="34" charset="-122"/>
                <a:cs typeface="Calibri" pitchFamily="34" charset="-120"/>
              </a:rPr>
              <a:t xml:space="preserve">Education: </a:t>
            </a:r>
            <a:pPr indent="0" marL="0">
              <a:buNone/>
            </a:pPr>
            <a:r>
              <a:rPr lang="en-US" sz="950" dirty="0">
                <a:solidFill>
                  <a:srgbClr val="374151"/>
                </a:solidFill>
                <a:latin typeface="Calibri" pitchFamily="34" charset="0"/>
                <a:ea typeface="Calibri" pitchFamily="34" charset="-122"/>
                <a:cs typeface="Calibri" pitchFamily="34" charset="-120"/>
              </a:rPr>
              <a:t>M.Tech Nanoscience &amp; Technology, Anna University | B.Tech Biotechnology
</a:t>
            </a:r>
            <a:endParaRPr lang="en-US" sz="950" dirty="0"/>
          </a:p>
          <a:p>
            <a:pPr indent="0" marL="0">
              <a:buNone/>
            </a:pPr>
            <a:r>
              <a:rPr lang="en-US" sz="950" b="1" dirty="0">
                <a:solidFill>
                  <a:srgbClr val="374151"/>
                </a:solidFill>
                <a:latin typeface="Calibri" pitchFamily="34" charset="0"/>
                <a:ea typeface="Calibri" pitchFamily="34" charset="-122"/>
                <a:cs typeface="Calibri" pitchFamily="34" charset="-120"/>
              </a:rPr>
              <a:t xml:space="preserve">Prior Experience: </a:t>
            </a:r>
            <a:r>
              <a:rPr lang="en-US" sz="950" dirty="0">
                <a:solidFill>
                  <a:srgbClr val="374151"/>
                </a:solidFill>
                <a:latin typeface="Calibri" pitchFamily="34" charset="0"/>
                <a:ea typeface="Calibri" pitchFamily="34" charset="-122"/>
                <a:cs typeface="Calibri" pitchFamily="34" charset="-120"/>
              </a:rPr>
              <a:t>Senior Research Analyst, Lyceum Pvt Ltd (2023–2026, 2 years)</a:t>
            </a:r>
            <a:endParaRPr lang="en-US" sz="950" dirty="0"/>
          </a:p>
          <a:p>
            <a:pPr indent="0" marL="0">
              <a:buNone/>
            </a:pPr>
            <a:r>
              <a:rPr lang="en-US" sz="950" b="1" dirty="0">
                <a:solidFill>
                  <a:srgbClr val="374151"/>
                </a:solidFill>
                <a:latin typeface="Calibri" pitchFamily="34" charset="0"/>
                <a:ea typeface="Calibri" pitchFamily="34" charset="-122"/>
                <a:cs typeface="Calibri" pitchFamily="34" charset="-120"/>
              </a:rPr>
              <a:t xml:space="preserve">At OBI: </a:t>
            </a:r>
            <a:r>
              <a:rPr lang="en-US" sz="950" dirty="0">
                <a:solidFill>
                  <a:srgbClr val="374151"/>
                </a:solidFill>
                <a:latin typeface="Calibri" pitchFamily="34" charset="0"/>
                <a:ea typeface="Calibri" pitchFamily="34" charset="-122"/>
                <a:cs typeface="Calibri" pitchFamily="34" charset="-120"/>
              </a:rPr>
              <a:t>Day-to-day lab operations, intern supervision, sample analysis, document and literature research, compliance documentation support</a:t>
            </a:r>
            <a:endParaRPr lang="en-US" sz="950" dirty="0"/>
          </a:p>
        </p:txBody>
      </p:sp>
      <p:sp>
        <p:nvSpPr>
          <p:cNvPr id="17" name="Shape 15"/>
          <p:cNvSpPr/>
          <p:nvPr/>
        </p:nvSpPr>
        <p:spPr>
          <a:xfrm>
            <a:off x="365760" y="4041648"/>
            <a:ext cx="8412480" cy="896112"/>
          </a:xfrm>
          <a:prstGeom prst="roundRect">
            <a:avLst>
              <a:gd name="adj" fmla="val 8163"/>
            </a:avLst>
          </a:prstGeom>
          <a:solidFill>
            <a:srgbClr val="F0FDFA"/>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8" name="Text 16"/>
          <p:cNvSpPr/>
          <p:nvPr/>
        </p:nvSpPr>
        <p:spPr>
          <a:xfrm>
            <a:off x="502920" y="4114800"/>
            <a:ext cx="8229600" cy="201168"/>
          </a:xfrm>
          <a:prstGeom prst="rect">
            <a:avLst/>
          </a:prstGeom>
          <a:noFill/>
          <a:ln/>
        </p:spPr>
        <p:txBody>
          <a:bodyPr wrap="square" rtlCol="0" anchor="ctr"/>
          <a:lstStyle/>
          <a:p>
            <a:pPr indent="0" marL="0">
              <a:buNone/>
            </a:pPr>
            <a:r>
              <a:rPr lang="en-US" sz="800" b="1" dirty="0">
                <a:solidFill>
                  <a:srgbClr val="0D9488"/>
                </a:solidFill>
                <a:latin typeface="Calibri" pitchFamily="34" charset="0"/>
                <a:ea typeface="Calibri" pitchFamily="34" charset="-122"/>
                <a:cs typeface="Calibri" pitchFamily="34" charset="-120"/>
              </a:rPr>
              <a:t>EXTENDED TEAM — Incubated at TBI-DETI@ACE, Adhiyamaan College of Engineering, Hosur</a:t>
            </a:r>
            <a:endParaRPr lang="en-US" sz="800" dirty="0"/>
          </a:p>
        </p:txBody>
      </p:sp>
      <p:sp>
        <p:nvSpPr>
          <p:cNvPr id="19" name="Text 17"/>
          <p:cNvSpPr/>
          <p:nvPr/>
        </p:nvSpPr>
        <p:spPr>
          <a:xfrm>
            <a:off x="502920" y="4315968"/>
            <a:ext cx="8229600" cy="502920"/>
          </a:xfrm>
          <a:prstGeom prst="rect">
            <a:avLst/>
          </a:prstGeom>
          <a:noFill/>
          <a:ln/>
        </p:spPr>
        <p:txBody>
          <a:bodyPr wrap="square" rtlCol="0" anchor="t"/>
          <a:lstStyle/>
          <a:p>
            <a:pPr indent="0" marL="0">
              <a:buNone/>
            </a:pPr>
            <a:r>
              <a:rPr lang="en-US" sz="950" b="1" dirty="0">
                <a:solidFill>
                  <a:srgbClr val="374151"/>
                </a:solidFill>
                <a:latin typeface="Calibri" pitchFamily="34" charset="0"/>
                <a:ea typeface="Calibri" pitchFamily="34" charset="-122"/>
                <a:cs typeface="Calibri" pitchFamily="34" charset="-120"/>
              </a:rPr>
              <a:t xml:space="preserve">1 Research Fellow </a:t>
            </a:r>
            <a:pPr indent="0" marL="0">
              <a:buNone/>
            </a:pPr>
            <a:r>
              <a:rPr lang="en-US" sz="950" dirty="0">
                <a:solidFill>
                  <a:srgbClr val="374151"/>
                </a:solidFill>
                <a:latin typeface="Calibri" pitchFamily="34" charset="0"/>
                <a:ea typeface="Calibri" pitchFamily="34" charset="-122"/>
                <a:cs typeface="Calibri" pitchFamily="34" charset="-120"/>
              </a:rPr>
              <a:t xml:space="preserve">(Fermentation science &amp; lab operations)   ·   </a:t>
            </a:r>
            <a:pPr indent="0" marL="0">
              <a:buNone/>
            </a:pPr>
            <a:r>
              <a:rPr lang="en-US" sz="950" b="1" dirty="0">
                <a:solidFill>
                  <a:srgbClr val="374151"/>
                </a:solidFill>
                <a:latin typeface="Calibri" pitchFamily="34" charset="0"/>
                <a:ea typeface="Calibri" pitchFamily="34" charset="-122"/>
                <a:cs typeface="Calibri" pitchFamily="34" charset="-120"/>
              </a:rPr>
              <a:t xml:space="preserve">4 B.Tech Final-Year Interns </a:t>
            </a:r>
            <a:pPr indent="0" marL="0">
              <a:buNone/>
            </a:pPr>
            <a:r>
              <a:rPr lang="en-US" sz="950" dirty="0">
                <a:solidFill>
                  <a:srgbClr val="374151"/>
                </a:solidFill>
                <a:latin typeface="Calibri" pitchFamily="34" charset="0"/>
                <a:ea typeface="Calibri" pitchFamily="34" charset="-122"/>
                <a:cs typeface="Calibri" pitchFamily="34" charset="-120"/>
              </a:rPr>
              <a:t xml:space="preserve">(Lab execution, assay, data recording)   ·   </a:t>
            </a:r>
            <a:pPr indent="0" marL="0">
              <a:buNone/>
            </a:pPr>
            <a:r>
              <a:rPr lang="en-US" sz="950" b="1" dirty="0">
                <a:solidFill>
                  <a:srgbClr val="374151"/>
                </a:solidFill>
                <a:latin typeface="Calibri" pitchFamily="34" charset="0"/>
                <a:ea typeface="Calibri" pitchFamily="34" charset="-122"/>
                <a:cs typeface="Calibri" pitchFamily="34" charset="-120"/>
              </a:rPr>
              <a:t xml:space="preserve">3 B.Tech Third-Year Interns </a:t>
            </a:r>
            <a:pPr indent="0" marL="0">
              <a:buNone/>
            </a:pPr>
            <a:r>
              <a:rPr lang="en-US" sz="950" dirty="0">
                <a:solidFill>
                  <a:srgbClr val="374151"/>
                </a:solidFill>
                <a:latin typeface="Calibri" pitchFamily="34" charset="0"/>
                <a:ea typeface="Calibri" pitchFamily="34" charset="-122"/>
                <a:cs typeface="Calibri" pitchFamily="34" charset="-120"/>
              </a:rPr>
              <a:t>(SOP training, fermentation support)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822960"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822960"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PROBLEM</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Who Is Our Customer — And What Is Their Problem?</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Shape 4"/>
          <p:cNvSpPr/>
          <p:nvPr/>
        </p:nvSpPr>
        <p:spPr>
          <a:xfrm>
            <a:off x="365760" y="1097280"/>
            <a:ext cx="3931920" cy="3566160"/>
          </a:xfrm>
          <a:prstGeom prst="roundRect">
            <a:avLst>
              <a:gd name="adj" fmla="val 2051"/>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7" name="Shape 5"/>
          <p:cNvSpPr/>
          <p:nvPr/>
        </p:nvSpPr>
        <p:spPr>
          <a:xfrm>
            <a:off x="548640" y="1170432"/>
            <a:ext cx="1380744" cy="228600"/>
          </a:xfrm>
          <a:prstGeom prst="roundRect">
            <a:avLst>
              <a:gd name="adj" fmla="val 20000"/>
            </a:avLst>
          </a:prstGeom>
          <a:solidFill>
            <a:srgbClr val="0D9488"/>
          </a:solidFill>
          <a:ln w="12700">
            <a:solidFill>
              <a:srgbClr val="0D9488"/>
            </a:solidFill>
            <a:prstDash val="solid"/>
          </a:ln>
        </p:spPr>
      </p:sp>
      <p:sp>
        <p:nvSpPr>
          <p:cNvPr id="8" name="Text 6"/>
          <p:cNvSpPr/>
          <p:nvPr/>
        </p:nvSpPr>
        <p:spPr>
          <a:xfrm>
            <a:off x="548640" y="1170432"/>
            <a:ext cx="1380744"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TARGET CUSTOMER</a:t>
            </a:r>
            <a:endParaRPr lang="en-US" sz="700" dirty="0"/>
          </a:p>
        </p:txBody>
      </p:sp>
      <p:sp>
        <p:nvSpPr>
          <p:cNvPr id="9" name="Text 7"/>
          <p:cNvSpPr/>
          <p:nvPr/>
        </p:nvSpPr>
        <p:spPr>
          <a:xfrm>
            <a:off x="548640" y="1481328"/>
            <a:ext cx="3566160" cy="685800"/>
          </a:xfrm>
          <a:prstGeom prst="rect">
            <a:avLst/>
          </a:prstGeom>
          <a:noFill/>
          <a:ln/>
        </p:spPr>
        <p:txBody>
          <a:bodyPr wrap="square" rtlCol="0" anchor="ctr"/>
          <a:lstStyle/>
          <a:p>
            <a:pPr indent="0" marL="0">
              <a:buNone/>
            </a:pPr>
            <a:r>
              <a:rPr lang="en-US" sz="1800" b="1" dirty="0">
                <a:solidFill>
                  <a:srgbClr val="0A6059"/>
                </a:solidFill>
                <a:latin typeface="Calibri" pitchFamily="34" charset="0"/>
                <a:ea typeface="Calibri" pitchFamily="34" charset="-122"/>
                <a:cs typeface="Calibri" pitchFamily="34" charset="-120"/>
              </a:rPr>
              <a:t>Urban Students &amp;</a:t>
            </a:r>
            <a:endParaRPr lang="en-US" sz="1800" dirty="0"/>
          </a:p>
          <a:p>
            <a:pPr indent="0" marL="0">
              <a:buNone/>
            </a:pPr>
            <a:r>
              <a:rPr lang="en-US" sz="1800" b="1" dirty="0">
                <a:solidFill>
                  <a:srgbClr val="0A6059"/>
                </a:solidFill>
                <a:latin typeface="Calibri" pitchFamily="34" charset="0"/>
                <a:ea typeface="Calibri" pitchFamily="34" charset="-122"/>
                <a:cs typeface="Calibri" pitchFamily="34" charset="-120"/>
              </a:rPr>
              <a:t>Young Professionals</a:t>
            </a:r>
            <a:endParaRPr lang="en-US" sz="1800" dirty="0"/>
          </a:p>
        </p:txBody>
      </p:sp>
      <p:sp>
        <p:nvSpPr>
          <p:cNvPr id="10" name="Text 8"/>
          <p:cNvSpPr/>
          <p:nvPr/>
        </p:nvSpPr>
        <p:spPr>
          <a:xfrm>
            <a:off x="548640" y="2194560"/>
            <a:ext cx="3566160" cy="2331720"/>
          </a:xfrm>
          <a:prstGeom prst="rect">
            <a:avLst/>
          </a:prstGeom>
          <a:noFill/>
          <a:ln/>
        </p:spPr>
        <p:txBody>
          <a:bodyPr wrap="square" rtlCol="0" anchor="t"/>
          <a:lstStyle/>
          <a:p>
            <a:pPr indent="0" marL="0">
              <a:buNone/>
            </a:pPr>
            <a:r>
              <a:rPr lang="en-US" sz="950" b="1" dirty="0">
                <a:solidFill>
                  <a:srgbClr val="374151"/>
                </a:solidFill>
                <a:latin typeface="Calibri" pitchFamily="34" charset="0"/>
                <a:ea typeface="Calibri" pitchFamily="34" charset="-122"/>
                <a:cs typeface="Calibri" pitchFamily="34" charset="-120"/>
              </a:rPr>
              <a:t xml:space="preserve">Age: </a:t>
            </a:r>
            <a:pPr indent="0" marL="0">
              <a:buNone/>
            </a:pPr>
            <a:r>
              <a:rPr lang="en-US" sz="950" dirty="0">
                <a:solidFill>
                  <a:srgbClr val="374151"/>
                </a:solidFill>
                <a:latin typeface="Calibri" pitchFamily="34" charset="0"/>
                <a:ea typeface="Calibri" pitchFamily="34" charset="-122"/>
                <a:cs typeface="Calibri" pitchFamily="34" charset="-120"/>
              </a:rPr>
              <a:t>18–45 years · Primary filter: health awareness and education, not age
</a:t>
            </a:r>
            <a:endParaRPr lang="en-US" sz="950" dirty="0"/>
          </a:p>
          <a:p>
            <a:pPr indent="0" marL="0">
              <a:buNone/>
            </a:pPr>
            <a:r>
              <a:rPr lang="en-US" sz="950" b="1" dirty="0">
                <a:solidFill>
                  <a:srgbClr val="374151"/>
                </a:solidFill>
                <a:latin typeface="Calibri" pitchFamily="34" charset="0"/>
                <a:ea typeface="Calibri" pitchFamily="34" charset="-122"/>
                <a:cs typeface="Calibri" pitchFamily="34" charset="-120"/>
              </a:rPr>
              <a:t xml:space="preserve">Geography: </a:t>
            </a:r>
            <a:pPr indent="0" marL="0">
              <a:buNone/>
            </a:pPr>
            <a:r>
              <a:rPr lang="en-US" sz="950" dirty="0">
                <a:solidFill>
                  <a:srgbClr val="374151"/>
                </a:solidFill>
                <a:latin typeface="Calibri" pitchFamily="34" charset="0"/>
                <a:ea typeface="Calibri" pitchFamily="34" charset="-122"/>
                <a:cs typeface="Calibri" pitchFamily="34" charset="-120"/>
              </a:rPr>
              <a:t>Hosur, Tamil Nadu + Bengaluru, Karnataka
</a:t>
            </a:r>
            <a:endParaRPr lang="en-US" sz="950" dirty="0"/>
          </a:p>
          <a:p>
            <a:pPr indent="0" marL="0">
              <a:buNone/>
            </a:pPr>
            <a:r>
              <a:rPr lang="en-US" sz="950" b="1" dirty="0">
                <a:solidFill>
                  <a:srgbClr val="374151"/>
                </a:solidFill>
                <a:latin typeface="Calibri" pitchFamily="34" charset="0"/>
                <a:ea typeface="Calibri" pitchFamily="34" charset="-122"/>
                <a:cs typeface="Calibri" pitchFamily="34" charset="-120"/>
              </a:rPr>
              <a:t xml:space="preserve">Profile: </a:t>
            </a:r>
            <a:pPr indent="0" marL="0">
              <a:buNone/>
            </a:pPr>
            <a:r>
              <a:rPr lang="en-US" sz="950" dirty="0">
                <a:solidFill>
                  <a:srgbClr val="374151"/>
                </a:solidFill>
                <a:latin typeface="Calibri" pitchFamily="34" charset="0"/>
                <a:ea typeface="Calibri" pitchFamily="34" charset="-122"/>
                <a:cs typeface="Calibri" pitchFamily="34" charset="-120"/>
              </a:rPr>
              <a:t>Engineering students, first-job professionals, gym-going, health-aware
</a:t>
            </a:r>
            <a:endParaRPr lang="en-US" sz="950" dirty="0"/>
          </a:p>
          <a:p>
            <a:pPr indent="0" marL="0">
              <a:buNone/>
            </a:pPr>
            <a:r>
              <a:rPr lang="en-US" sz="950" b="1" dirty="0">
                <a:solidFill>
                  <a:srgbClr val="374151"/>
                </a:solidFill>
                <a:latin typeface="Calibri" pitchFamily="34" charset="0"/>
                <a:ea typeface="Calibri" pitchFamily="34" charset="-122"/>
                <a:cs typeface="Calibri" pitchFamily="34" charset="-120"/>
              </a:rPr>
              <a:t xml:space="preserve">Daily spend: </a:t>
            </a:r>
            <a:pPr indent="0" marL="0">
              <a:buNone/>
            </a:pPr>
            <a:r>
              <a:rPr lang="en-US" sz="950" dirty="0">
                <a:solidFill>
                  <a:srgbClr val="374151"/>
                </a:solidFill>
                <a:latin typeface="Calibri" pitchFamily="34" charset="0"/>
                <a:ea typeface="Calibri" pitchFamily="34" charset="-122"/>
                <a:cs typeface="Calibri" pitchFamily="34" charset="-120"/>
              </a:rPr>
              <a:t>Sub-₹100 daily beverage budget · health-conscious spending
</a:t>
            </a:r>
            <a:endParaRPr lang="en-US" sz="950" dirty="0"/>
          </a:p>
          <a:p>
            <a:pPr indent="0" marL="0">
              <a:buNone/>
            </a:pPr>
            <a:r>
              <a:rPr lang="en-US" sz="950" b="1" dirty="0">
                <a:solidFill>
                  <a:srgbClr val="374151"/>
                </a:solidFill>
                <a:latin typeface="Calibri" pitchFamily="34" charset="0"/>
                <a:ea typeface="Calibri" pitchFamily="34" charset="-122"/>
                <a:cs typeface="Calibri" pitchFamily="34" charset="-120"/>
              </a:rPr>
              <a:t xml:space="preserve">Mindset: </a:t>
            </a:r>
            <a:r>
              <a:rPr lang="en-US" sz="950" dirty="0">
                <a:solidFill>
                  <a:srgbClr val="374151"/>
                </a:solidFill>
                <a:latin typeface="Calibri" pitchFamily="34" charset="0"/>
                <a:ea typeface="Calibri" pitchFamily="34" charset="-122"/>
                <a:cs typeface="Calibri" pitchFamily="34" charset="-120"/>
              </a:rPr>
              <a:t>Aware of functional foods but lacks access · educated early adopters who drive word-of-mouth awareness</a:t>
            </a:r>
            <a:endParaRPr lang="en-US" sz="950" dirty="0"/>
          </a:p>
        </p:txBody>
      </p:sp>
      <p:sp>
        <p:nvSpPr>
          <p:cNvPr id="11" name="Shape 9"/>
          <p:cNvSpPr/>
          <p:nvPr/>
        </p:nvSpPr>
        <p:spPr>
          <a:xfrm>
            <a:off x="4480560" y="1097280"/>
            <a:ext cx="4297680" cy="3566160"/>
          </a:xfrm>
          <a:prstGeom prst="roundRect">
            <a:avLst>
              <a:gd name="adj" fmla="val 2051"/>
            </a:avLst>
          </a:prstGeom>
          <a:solidFill>
            <a:srgbClr val="FFF8F0"/>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2" name="Shape 10"/>
          <p:cNvSpPr/>
          <p:nvPr/>
        </p:nvSpPr>
        <p:spPr>
          <a:xfrm>
            <a:off x="4663440" y="1170432"/>
            <a:ext cx="1080821" cy="228600"/>
          </a:xfrm>
          <a:prstGeom prst="roundRect">
            <a:avLst>
              <a:gd name="adj" fmla="val 20000"/>
            </a:avLst>
          </a:prstGeom>
          <a:solidFill>
            <a:srgbClr val="D97706"/>
          </a:solidFill>
          <a:ln w="12700">
            <a:solidFill>
              <a:srgbClr val="D97706"/>
            </a:solidFill>
            <a:prstDash val="solid"/>
          </a:ln>
        </p:spPr>
      </p:sp>
      <p:sp>
        <p:nvSpPr>
          <p:cNvPr id="13" name="Text 11"/>
          <p:cNvSpPr/>
          <p:nvPr/>
        </p:nvSpPr>
        <p:spPr>
          <a:xfrm>
            <a:off x="4663440" y="1170432"/>
            <a:ext cx="1080821"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THE PROBLEM</a:t>
            </a:r>
            <a:endParaRPr lang="en-US" sz="700" dirty="0"/>
          </a:p>
        </p:txBody>
      </p:sp>
      <p:sp>
        <p:nvSpPr>
          <p:cNvPr id="14" name="Text 12"/>
          <p:cNvSpPr/>
          <p:nvPr/>
        </p:nvSpPr>
        <p:spPr>
          <a:xfrm>
            <a:off x="4663440" y="1481328"/>
            <a:ext cx="3931920" cy="347472"/>
          </a:xfrm>
          <a:prstGeom prst="rect">
            <a:avLst/>
          </a:prstGeom>
          <a:noFill/>
          <a:ln/>
        </p:spPr>
        <p:txBody>
          <a:bodyPr wrap="square" rtlCol="0" anchor="ctr"/>
          <a:lstStyle/>
          <a:p>
            <a:pPr indent="0" marL="0">
              <a:buNone/>
            </a:pPr>
            <a:r>
              <a:rPr lang="en-US" sz="1400" b="1" dirty="0">
                <a:solidFill>
                  <a:srgbClr val="7C2D12"/>
                </a:solidFill>
                <a:latin typeface="Calibri" pitchFamily="34" charset="0"/>
                <a:ea typeface="Calibri" pitchFamily="34" charset="-122"/>
                <a:cs typeface="Calibri" pitchFamily="34" charset="-120"/>
              </a:rPr>
              <a:t>Three Unresolved Needs</a:t>
            </a:r>
            <a:endParaRPr lang="en-US" sz="1400" dirty="0"/>
          </a:p>
        </p:txBody>
      </p:sp>
      <p:sp>
        <p:nvSpPr>
          <p:cNvPr id="15" name="Shape 13"/>
          <p:cNvSpPr/>
          <p:nvPr/>
        </p:nvSpPr>
        <p:spPr>
          <a:xfrm>
            <a:off x="4663440" y="1901952"/>
            <a:ext cx="3931920" cy="1005840"/>
          </a:xfrm>
          <a:prstGeom prst="roundRect">
            <a:avLst>
              <a:gd name="adj" fmla="val 5455"/>
            </a:avLst>
          </a:prstGeom>
          <a:solidFill>
            <a:srgbClr val="FFFFFF"/>
          </a:solidFill>
          <a:ln w="6350">
            <a:solidFill>
              <a:srgbClr val="FED7AA"/>
            </a:solidFill>
            <a:prstDash val="solid"/>
          </a:ln>
          <a:effectLst>
            <a:outerShdw sx="100000" sy="100000" kx="0" ky="0" algn="bl" rotWithShape="0" blurRad="63500" dist="25400" dir="2700000">
              <a:srgbClr val="000000">
                <a:alpha val="9000"/>
              </a:srgbClr>
            </a:outerShdw>
          </a:effectLst>
        </p:spPr>
      </p:sp>
      <p:sp>
        <p:nvSpPr>
          <p:cNvPr id="16" name="Text 14"/>
          <p:cNvSpPr/>
          <p:nvPr/>
        </p:nvSpPr>
        <p:spPr>
          <a:xfrm>
            <a:off x="4773168" y="1947672"/>
            <a:ext cx="3703320" cy="256032"/>
          </a:xfrm>
          <a:prstGeom prst="rect">
            <a:avLst/>
          </a:prstGeom>
          <a:noFill/>
          <a:ln/>
        </p:spPr>
        <p:txBody>
          <a:bodyPr wrap="square" rtlCol="0" anchor="ctr"/>
          <a:lstStyle/>
          <a:p>
            <a:pPr indent="0" marL="0">
              <a:buNone/>
            </a:pPr>
            <a:r>
              <a:rPr lang="en-US" sz="950" b="1" dirty="0">
                <a:solidFill>
                  <a:srgbClr val="7C2D12"/>
                </a:solidFill>
                <a:latin typeface="Calibri" pitchFamily="34" charset="0"/>
                <a:ea typeface="Calibri" pitchFamily="34" charset="-122"/>
                <a:cs typeface="Calibri" pitchFamily="34" charset="-120"/>
              </a:rPr>
              <a:t>Cognitive Stress &amp; Fatigue</a:t>
            </a:r>
            <a:endParaRPr lang="en-US" sz="950" dirty="0"/>
          </a:p>
        </p:txBody>
      </p:sp>
      <p:sp>
        <p:nvSpPr>
          <p:cNvPr id="17" name="Text 15"/>
          <p:cNvSpPr/>
          <p:nvPr/>
        </p:nvSpPr>
        <p:spPr>
          <a:xfrm>
            <a:off x="4773168" y="2194560"/>
            <a:ext cx="3703320" cy="65836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40%+ of Indian students report chronic cognitive fatigue and stress. No affordable, daily-use solution exists. (Source: NFHS-5)</a:t>
            </a:r>
            <a:endParaRPr lang="en-US" sz="850" dirty="0"/>
          </a:p>
        </p:txBody>
      </p:sp>
      <p:sp>
        <p:nvSpPr>
          <p:cNvPr id="18" name="Shape 16"/>
          <p:cNvSpPr/>
          <p:nvPr/>
        </p:nvSpPr>
        <p:spPr>
          <a:xfrm>
            <a:off x="4663440" y="2999232"/>
            <a:ext cx="3931920" cy="1005840"/>
          </a:xfrm>
          <a:prstGeom prst="roundRect">
            <a:avLst>
              <a:gd name="adj" fmla="val 5455"/>
            </a:avLst>
          </a:prstGeom>
          <a:solidFill>
            <a:srgbClr val="FFFFFF"/>
          </a:solidFill>
          <a:ln w="6350">
            <a:solidFill>
              <a:srgbClr val="FED7AA"/>
            </a:solidFill>
            <a:prstDash val="solid"/>
          </a:ln>
          <a:effectLst>
            <a:outerShdw sx="100000" sy="100000" kx="0" ky="0" algn="bl" rotWithShape="0" blurRad="63500" dist="25400" dir="2700000">
              <a:srgbClr val="000000">
                <a:alpha val="9000"/>
              </a:srgbClr>
            </a:outerShdw>
          </a:effectLst>
        </p:spPr>
      </p:sp>
      <p:sp>
        <p:nvSpPr>
          <p:cNvPr id="19" name="Text 17"/>
          <p:cNvSpPr/>
          <p:nvPr/>
        </p:nvSpPr>
        <p:spPr>
          <a:xfrm>
            <a:off x="4773168" y="3044952"/>
            <a:ext cx="3703320" cy="256032"/>
          </a:xfrm>
          <a:prstGeom prst="rect">
            <a:avLst/>
          </a:prstGeom>
          <a:noFill/>
          <a:ln/>
        </p:spPr>
        <p:txBody>
          <a:bodyPr wrap="square" rtlCol="0" anchor="ctr"/>
          <a:lstStyle/>
          <a:p>
            <a:pPr indent="0" marL="0">
              <a:buNone/>
            </a:pPr>
            <a:r>
              <a:rPr lang="en-US" sz="950" b="1" dirty="0">
                <a:solidFill>
                  <a:srgbClr val="7C2D12"/>
                </a:solidFill>
                <a:latin typeface="Calibri" pitchFamily="34" charset="0"/>
                <a:ea typeface="Calibri" pitchFamily="34" charset="-122"/>
                <a:cs typeface="Calibri" pitchFamily="34" charset="-120"/>
              </a:rPr>
              <a:t>Micronutrient &amp; Adaptogen Gap</a:t>
            </a:r>
            <a:endParaRPr lang="en-US" sz="950" dirty="0"/>
          </a:p>
        </p:txBody>
      </p:sp>
      <p:sp>
        <p:nvSpPr>
          <p:cNvPr id="20" name="Text 18"/>
          <p:cNvSpPr/>
          <p:nvPr/>
        </p:nvSpPr>
        <p:spPr>
          <a:xfrm>
            <a:off x="4773168" y="3291840"/>
            <a:ext cx="3703320" cy="65836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Diet deficient in B-vitamins, iron, and adaptogens — yet supplements are either unaffordable or in capsule form that breaks the daily habit.</a:t>
            </a:r>
            <a:endParaRPr lang="en-US" sz="850" dirty="0"/>
          </a:p>
        </p:txBody>
      </p:sp>
      <p:sp>
        <p:nvSpPr>
          <p:cNvPr id="21" name="Shape 19"/>
          <p:cNvSpPr/>
          <p:nvPr/>
        </p:nvSpPr>
        <p:spPr>
          <a:xfrm>
            <a:off x="4663440" y="4096512"/>
            <a:ext cx="3931920" cy="1005840"/>
          </a:xfrm>
          <a:prstGeom prst="roundRect">
            <a:avLst>
              <a:gd name="adj" fmla="val 5455"/>
            </a:avLst>
          </a:prstGeom>
          <a:solidFill>
            <a:srgbClr val="FFFFFF"/>
          </a:solidFill>
          <a:ln w="6350">
            <a:solidFill>
              <a:srgbClr val="FED7AA"/>
            </a:solidFill>
            <a:prstDash val="solid"/>
          </a:ln>
          <a:effectLst>
            <a:outerShdw sx="100000" sy="100000" kx="0" ky="0" algn="bl" rotWithShape="0" blurRad="63500" dist="25400" dir="2700000">
              <a:srgbClr val="000000">
                <a:alpha val="9000"/>
              </a:srgbClr>
            </a:outerShdw>
          </a:effectLst>
        </p:spPr>
      </p:sp>
      <p:sp>
        <p:nvSpPr>
          <p:cNvPr id="22" name="Text 20"/>
          <p:cNvSpPr/>
          <p:nvPr/>
        </p:nvSpPr>
        <p:spPr>
          <a:xfrm>
            <a:off x="4773168" y="4142232"/>
            <a:ext cx="3703320" cy="256032"/>
          </a:xfrm>
          <a:prstGeom prst="rect">
            <a:avLst/>
          </a:prstGeom>
          <a:noFill/>
          <a:ln/>
        </p:spPr>
        <p:txBody>
          <a:bodyPr wrap="square" rtlCol="0" anchor="ctr"/>
          <a:lstStyle/>
          <a:p>
            <a:pPr indent="0" marL="0">
              <a:buNone/>
            </a:pPr>
            <a:r>
              <a:rPr lang="en-US" sz="950" b="1" dirty="0">
                <a:solidFill>
                  <a:srgbClr val="7C2D12"/>
                </a:solidFill>
                <a:latin typeface="Calibri" pitchFamily="34" charset="0"/>
                <a:ea typeface="Calibri" pitchFamily="34" charset="-122"/>
                <a:cs typeface="Calibri" pitchFamily="34" charset="-120"/>
              </a:rPr>
              <a:t>No India-Origin Functional RTD</a:t>
            </a:r>
            <a:endParaRPr lang="en-US" sz="950" dirty="0"/>
          </a:p>
        </p:txBody>
      </p:sp>
      <p:sp>
        <p:nvSpPr>
          <p:cNvPr id="23" name="Text 21"/>
          <p:cNvSpPr/>
          <p:nvPr/>
        </p:nvSpPr>
        <p:spPr>
          <a:xfrm>
            <a:off x="4773168" y="4389120"/>
            <a:ext cx="3703320" cy="65836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No Indian-origin RTD beverage combines LAB fermentation with medicinal mushroom bioactives. Existing options are imported supplements (₹500–2,000/month), Indian capsules/powders, or probiotic drinks without mushroom bioactives. Emerging Indian fermented millet RTDs (BlissBody, milSipp) are gut-health only — zero medicinal mushroom bioactives.</a:t>
            </a:r>
            <a:endParaRPr lang="en-US" sz="850" dirty="0"/>
          </a:p>
          <a:p>
            <a:pPr indent="0" marL="0">
              <a:buNone/>
            </a:pPr>
            <a:r>
              <a:rPr lang="en-US" sz="850" b="1" dirty="0">
                <a:solidFill>
                  <a:srgbClr val="D97706"/>
                </a:solidFill>
                <a:latin typeface="Calibri" pitchFamily="34" charset="0"/>
                <a:ea typeface="Calibri" pitchFamily="34" charset="-122"/>
                <a:cs typeface="Calibri" pitchFamily="34" charset="-120"/>
              </a:rPr>
              <a:t>No Healthy Carbonated Alternative</a:t>
            </a:r>
            <a:endParaRPr lang="en-US" sz="850" dirty="0"/>
          </a:p>
          <a:p>
            <a:pPr indent="0" marL="0">
              <a:buNone/>
            </a:pPr>
            <a:r>
              <a:rPr lang="en-US" sz="850" dirty="0">
                <a:solidFill>
                  <a:srgbClr val="374151"/>
                </a:solidFill>
                <a:latin typeface="Calibri" pitchFamily="34" charset="0"/>
                <a:ea typeface="Calibri" pitchFamily="34" charset="-122"/>
                <a:cs typeface="Calibri" pitchFamily="34" charset="-120"/>
              </a:rPr>
              <a:t>India’s ₹30,000 Cr carbonated soft drink market delivers 25–35g sugar per serving, zero functional nutrition, and fuels India’s 101 million diabetic burden (IDF 2023). No Indian brand offers a healthy, functional carbonated RTD at accessible price.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822960"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822960"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PROBLEM</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How Big Is the Opportunity — and Why Existing Solutions Fall Short</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Shape 4"/>
          <p:cNvSpPr/>
          <p:nvPr/>
        </p:nvSpPr>
        <p:spPr>
          <a:xfrm>
            <a:off x="365760" y="1097280"/>
            <a:ext cx="1920240" cy="1005840"/>
          </a:xfrm>
          <a:prstGeom prst="roundRect">
            <a:avLst>
              <a:gd name="adj" fmla="val 7273"/>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7" name="Text 5"/>
          <p:cNvSpPr/>
          <p:nvPr/>
        </p:nvSpPr>
        <p:spPr>
          <a:xfrm>
            <a:off x="457200" y="1188720"/>
            <a:ext cx="1737360" cy="457200"/>
          </a:xfrm>
          <a:prstGeom prst="rect">
            <a:avLst/>
          </a:prstGeom>
          <a:noFill/>
          <a:ln/>
        </p:spPr>
        <p:txBody>
          <a:bodyPr wrap="square" rtlCol="0" anchor="ctr"/>
          <a:lstStyle/>
          <a:p>
            <a:pPr algn="ctr" indent="0" marL="0">
              <a:buNone/>
            </a:pPr>
            <a:r>
              <a:rPr lang="en-US" sz="1700" b="1" dirty="0">
                <a:solidFill>
                  <a:srgbClr val="0A6059"/>
                </a:solidFill>
                <a:latin typeface="Calibri" pitchFamily="34" charset="0"/>
                <a:ea typeface="Calibri" pitchFamily="34" charset="-122"/>
                <a:cs typeface="Calibri" pitchFamily="34" charset="-120"/>
              </a:rPr>
              <a:t>$6.9B (₹57,000 Cr)</a:t>
            </a:r>
            <a:endParaRPr lang="en-US" sz="1700" dirty="0"/>
          </a:p>
        </p:txBody>
      </p:sp>
      <p:sp>
        <p:nvSpPr>
          <p:cNvPr id="8" name="Text 6"/>
          <p:cNvSpPr/>
          <p:nvPr/>
        </p:nvSpPr>
        <p:spPr>
          <a:xfrm>
            <a:off x="457200" y="1645920"/>
            <a:ext cx="1737360" cy="347472"/>
          </a:xfrm>
          <a:prstGeom prst="rect">
            <a:avLst/>
          </a:prstGeom>
          <a:noFill/>
          <a:ln/>
        </p:spPr>
        <p:txBody>
          <a:bodyPr wrap="square" rtlCol="0" anchor="ctr"/>
          <a:lstStyle/>
          <a:p>
            <a:pPr algn="ctr" indent="0" marL="0">
              <a:buNone/>
            </a:pPr>
            <a:r>
              <a:rPr lang="en-US" sz="750" dirty="0">
                <a:solidFill>
                  <a:srgbClr val="374151"/>
                </a:solidFill>
                <a:latin typeface="Calibri" pitchFamily="34" charset="0"/>
                <a:ea typeface="Calibri" pitchFamily="34" charset="-122"/>
                <a:cs typeface="Calibri" pitchFamily="34" charset="-120"/>
              </a:rPr>
              <a:t>India Functional Beverages Market 2025 · Grand View Research 2024</a:t>
            </a:r>
            <a:endParaRPr lang="en-US" sz="750" dirty="0"/>
          </a:p>
        </p:txBody>
      </p:sp>
      <p:sp>
        <p:nvSpPr>
          <p:cNvPr id="9" name="Shape 7"/>
          <p:cNvSpPr/>
          <p:nvPr/>
        </p:nvSpPr>
        <p:spPr>
          <a:xfrm>
            <a:off x="2468880" y="1097280"/>
            <a:ext cx="1920240" cy="1005840"/>
          </a:xfrm>
          <a:prstGeom prst="roundRect">
            <a:avLst>
              <a:gd name="adj" fmla="val 7273"/>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0" name="Text 8"/>
          <p:cNvSpPr/>
          <p:nvPr/>
        </p:nvSpPr>
        <p:spPr>
          <a:xfrm>
            <a:off x="2560320" y="1188720"/>
            <a:ext cx="1737360" cy="457200"/>
          </a:xfrm>
          <a:prstGeom prst="rect">
            <a:avLst/>
          </a:prstGeom>
          <a:noFill/>
          <a:ln/>
        </p:spPr>
        <p:txBody>
          <a:bodyPr wrap="square" rtlCol="0" anchor="ctr"/>
          <a:lstStyle/>
          <a:p>
            <a:pPr algn="ctr" indent="0" marL="0">
              <a:buNone/>
            </a:pPr>
            <a:r>
              <a:rPr lang="en-US" sz="1700" b="1" dirty="0">
                <a:solidFill>
                  <a:srgbClr val="0A6059"/>
                </a:solidFill>
                <a:latin typeface="Calibri" pitchFamily="34" charset="0"/>
                <a:ea typeface="Calibri" pitchFamily="34" charset="-122"/>
                <a:cs typeface="Calibri" pitchFamily="34" charset="-120"/>
              </a:rPr>
              <a:t>$18.8B</a:t>
            </a:r>
            <a:endParaRPr lang="en-US" sz="1700" dirty="0"/>
          </a:p>
        </p:txBody>
      </p:sp>
      <p:sp>
        <p:nvSpPr>
          <p:cNvPr id="11" name="Text 9"/>
          <p:cNvSpPr/>
          <p:nvPr/>
        </p:nvSpPr>
        <p:spPr>
          <a:xfrm>
            <a:off x="2560320" y="1645920"/>
            <a:ext cx="1737360" cy="347472"/>
          </a:xfrm>
          <a:prstGeom prst="rect">
            <a:avLst/>
          </a:prstGeom>
          <a:noFill/>
          <a:ln/>
        </p:spPr>
        <p:txBody>
          <a:bodyPr wrap="square" rtlCol="0" anchor="ctr"/>
          <a:lstStyle/>
          <a:p>
            <a:pPr algn="ctr" indent="0" marL="0">
              <a:buNone/>
            </a:pPr>
            <a:r>
              <a:rPr lang="en-US" sz="750" dirty="0">
                <a:solidFill>
                  <a:srgbClr val="374151"/>
                </a:solidFill>
                <a:latin typeface="Calibri" pitchFamily="34" charset="0"/>
                <a:ea typeface="Calibri" pitchFamily="34" charset="-122"/>
                <a:cs typeface="Calibri" pitchFamily="34" charset="-120"/>
              </a:rPr>
              <a:t>Projected by 2034 (10.74% CAGR)</a:t>
            </a:r>
            <a:endParaRPr lang="en-US" sz="750" dirty="0"/>
          </a:p>
        </p:txBody>
      </p:sp>
      <p:sp>
        <p:nvSpPr>
          <p:cNvPr id="12" name="Shape 10"/>
          <p:cNvSpPr/>
          <p:nvPr/>
        </p:nvSpPr>
        <p:spPr>
          <a:xfrm>
            <a:off x="4572000" y="1097280"/>
            <a:ext cx="1920240" cy="1005840"/>
          </a:xfrm>
          <a:prstGeom prst="roundRect">
            <a:avLst>
              <a:gd name="adj" fmla="val 7273"/>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3" name="Text 11"/>
          <p:cNvSpPr/>
          <p:nvPr/>
        </p:nvSpPr>
        <p:spPr>
          <a:xfrm>
            <a:off x="4663440" y="1188720"/>
            <a:ext cx="1737360" cy="457200"/>
          </a:xfrm>
          <a:prstGeom prst="rect">
            <a:avLst/>
          </a:prstGeom>
          <a:noFill/>
          <a:ln/>
        </p:spPr>
        <p:txBody>
          <a:bodyPr wrap="square" rtlCol="0" anchor="ctr"/>
          <a:lstStyle/>
          <a:p>
            <a:pPr algn="ctr" indent="0" marL="0">
              <a:buNone/>
            </a:pPr>
            <a:r>
              <a:rPr lang="en-US" sz="2200" b="1" dirty="0">
                <a:solidFill>
                  <a:srgbClr val="0A6059"/>
                </a:solidFill>
                <a:latin typeface="Calibri" pitchFamily="34" charset="0"/>
                <a:ea typeface="Calibri" pitchFamily="34" charset="-122"/>
                <a:cs typeface="Calibri" pitchFamily="34" charset="-120"/>
              </a:rPr>
              <a:t>10.74%</a:t>
            </a:r>
            <a:endParaRPr lang="en-US" sz="2200" dirty="0"/>
          </a:p>
        </p:txBody>
      </p:sp>
      <p:sp>
        <p:nvSpPr>
          <p:cNvPr id="14" name="Text 12"/>
          <p:cNvSpPr/>
          <p:nvPr/>
        </p:nvSpPr>
        <p:spPr>
          <a:xfrm>
            <a:off x="4663440" y="1645920"/>
            <a:ext cx="1737360" cy="347472"/>
          </a:xfrm>
          <a:prstGeom prst="rect">
            <a:avLst/>
          </a:prstGeom>
          <a:noFill/>
          <a:ln/>
        </p:spPr>
        <p:txBody>
          <a:bodyPr wrap="square" rtlCol="0" anchor="ctr"/>
          <a:lstStyle/>
          <a:p>
            <a:pPr algn="ctr" indent="0" marL="0">
              <a:buNone/>
            </a:pPr>
            <a:r>
              <a:rPr lang="en-US" sz="750" dirty="0">
                <a:solidFill>
                  <a:srgbClr val="374151"/>
                </a:solidFill>
                <a:latin typeface="Calibri" pitchFamily="34" charset="0"/>
                <a:ea typeface="Calibri" pitchFamily="34" charset="-122"/>
                <a:cs typeface="Calibri" pitchFamily="34" charset="-120"/>
              </a:rPr>
              <a:t>India Functional Beverages CAGR 2025–2034</a:t>
            </a:r>
            <a:endParaRPr lang="en-US" sz="750" dirty="0"/>
          </a:p>
        </p:txBody>
      </p:sp>
      <p:sp>
        <p:nvSpPr>
          <p:cNvPr id="15" name="Shape 13"/>
          <p:cNvSpPr/>
          <p:nvPr/>
        </p:nvSpPr>
        <p:spPr>
          <a:xfrm>
            <a:off x="6675120" y="1097280"/>
            <a:ext cx="1920240" cy="1005840"/>
          </a:xfrm>
          <a:prstGeom prst="roundRect">
            <a:avLst>
              <a:gd name="adj" fmla="val 7273"/>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6" name="Text 14"/>
          <p:cNvSpPr/>
          <p:nvPr/>
        </p:nvSpPr>
        <p:spPr>
          <a:xfrm>
            <a:off x="6766560" y="1188720"/>
            <a:ext cx="1737360" cy="457200"/>
          </a:xfrm>
          <a:prstGeom prst="rect">
            <a:avLst/>
          </a:prstGeom>
          <a:noFill/>
          <a:ln/>
        </p:spPr>
        <p:txBody>
          <a:bodyPr wrap="square" rtlCol="0" anchor="ctr"/>
          <a:lstStyle/>
          <a:p>
            <a:pPr algn="ctr" indent="0" marL="0">
              <a:buNone/>
            </a:pPr>
            <a:r>
              <a:rPr lang="en-US" sz="2200" b="1" dirty="0">
                <a:solidFill>
                  <a:srgbClr val="0A6059"/>
                </a:solidFill>
                <a:latin typeface="Calibri" pitchFamily="34" charset="0"/>
                <a:ea typeface="Calibri" pitchFamily="34" charset="-122"/>
                <a:cs typeface="Calibri" pitchFamily="34" charset="-120"/>
              </a:rPr>
              <a:t>0</a:t>
            </a:r>
            <a:endParaRPr lang="en-US" sz="2200" dirty="0"/>
          </a:p>
        </p:txBody>
      </p:sp>
      <p:sp>
        <p:nvSpPr>
          <p:cNvPr id="17" name="Text 15"/>
          <p:cNvSpPr/>
          <p:nvPr/>
        </p:nvSpPr>
        <p:spPr>
          <a:xfrm>
            <a:off x="6766560" y="1645920"/>
            <a:ext cx="1737360" cy="347472"/>
          </a:xfrm>
          <a:prstGeom prst="rect">
            <a:avLst/>
          </a:prstGeom>
          <a:noFill/>
          <a:ln/>
        </p:spPr>
        <p:txBody>
          <a:bodyPr wrap="square" rtlCol="0" anchor="ctr"/>
          <a:lstStyle/>
          <a:p>
            <a:pPr algn="ctr" indent="0" marL="0">
              <a:buNone/>
            </a:pPr>
            <a:r>
              <a:rPr lang="en-US" sz="750" dirty="0">
                <a:solidFill>
                  <a:srgbClr val="374151"/>
                </a:solidFill>
                <a:latin typeface="Calibri" pitchFamily="34" charset="0"/>
                <a:ea typeface="Calibri" pitchFamily="34" charset="-122"/>
                <a:cs typeface="Calibri" pitchFamily="34" charset="-120"/>
              </a:rPr>
              <a:t>Indian RTD brands combining LAB fermentation with medicinal mushroom bioactives</a:t>
            </a:r>
            <a:endParaRPr lang="en-US" sz="750" dirty="0"/>
          </a:p>
        </p:txBody>
      </p:sp>
      <p:sp>
        <p:nvSpPr>
          <p:cNvPr id="18" name="Shape 16"/>
          <p:cNvSpPr/>
          <p:nvPr/>
        </p:nvSpPr>
        <p:spPr>
          <a:xfrm>
            <a:off x="365760" y="2286000"/>
            <a:ext cx="2655418" cy="228600"/>
          </a:xfrm>
          <a:prstGeom prst="roundRect">
            <a:avLst>
              <a:gd name="adj" fmla="val 20000"/>
            </a:avLst>
          </a:prstGeom>
          <a:solidFill>
            <a:srgbClr val="0A6059"/>
          </a:solidFill>
          <a:ln w="12700">
            <a:solidFill>
              <a:srgbClr val="0A6059"/>
            </a:solidFill>
            <a:prstDash val="solid"/>
          </a:ln>
        </p:spPr>
      </p:sp>
      <p:sp>
        <p:nvSpPr>
          <p:cNvPr id="19" name="Text 17"/>
          <p:cNvSpPr/>
          <p:nvPr/>
        </p:nvSpPr>
        <p:spPr>
          <a:xfrm>
            <a:off x="365760" y="2286000"/>
            <a:ext cx="2655418"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CURRENT SOLUTIONS AND THEIR GAPS</a:t>
            </a:r>
            <a:endParaRPr lang="en-US" sz="700" dirty="0"/>
          </a:p>
        </p:txBody>
      </p:sp>
      <p:sp>
        <p:nvSpPr>
          <p:cNvPr id="20" name="Shape 18"/>
          <p:cNvSpPr/>
          <p:nvPr/>
        </p:nvSpPr>
        <p:spPr>
          <a:xfrm>
            <a:off x="365760" y="2542032"/>
            <a:ext cx="2011680" cy="2377440"/>
          </a:xfrm>
          <a:prstGeom prst="roundRect">
            <a:avLst>
              <a:gd name="adj" fmla="val 3636"/>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1" name="Text 19"/>
          <p:cNvSpPr/>
          <p:nvPr/>
        </p:nvSpPr>
        <p:spPr>
          <a:xfrm>
            <a:off x="457200" y="2633472"/>
            <a:ext cx="1828800" cy="475488"/>
          </a:xfrm>
          <a:prstGeom prst="rect">
            <a:avLst/>
          </a:prstGeom>
          <a:noFill/>
          <a:ln/>
        </p:spPr>
        <p:txBody>
          <a:bodyPr wrap="square"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Imported Mushroom</a:t>
            </a:r>
            <a:endParaRPr lang="en-US" sz="1000" dirty="0"/>
          </a:p>
          <a:p>
            <a:pPr algn="ctr" indent="0" marL="0">
              <a:buNone/>
            </a:pPr>
            <a:r>
              <a:rPr lang="en-US" sz="1000" b="1" dirty="0">
                <a:solidFill>
                  <a:srgbClr val="1E293B"/>
                </a:solidFill>
                <a:latin typeface="Calibri" pitchFamily="34" charset="0"/>
                <a:ea typeface="Calibri" pitchFamily="34" charset="-122"/>
                <a:cs typeface="Calibri" pitchFamily="34" charset="-120"/>
              </a:rPr>
              <a:t>Supplements</a:t>
            </a:r>
            <a:endParaRPr lang="en-US" sz="1000" dirty="0"/>
          </a:p>
        </p:txBody>
      </p:sp>
      <p:sp>
        <p:nvSpPr>
          <p:cNvPr id="22" name="Text 20"/>
          <p:cNvSpPr/>
          <p:nvPr/>
        </p:nvSpPr>
        <p:spPr>
          <a:xfrm>
            <a:off x="457200" y="3127248"/>
            <a:ext cx="1828800" cy="274320"/>
          </a:xfrm>
          <a:prstGeom prst="rect">
            <a:avLst/>
          </a:prstGeom>
          <a:noFill/>
          <a:ln/>
        </p:spPr>
        <p:txBody>
          <a:bodyPr wrap="square" rtlCol="0" anchor="ctr"/>
          <a:lstStyle/>
          <a:p>
            <a:pPr algn="ctr" indent="0" marL="0">
              <a:buNone/>
            </a:pPr>
            <a:r>
              <a:rPr lang="en-US" sz="800" i="1" dirty="0">
                <a:solidFill>
                  <a:srgbClr val="0D9488"/>
                </a:solidFill>
                <a:latin typeface="Calibri" pitchFamily="34" charset="0"/>
                <a:ea typeface="Calibri" pitchFamily="34" charset="-122"/>
                <a:cs typeface="Calibri" pitchFamily="34" charset="-120"/>
              </a:rPr>
              <a:t>Four Sigmatic, Wellbeing Nutrition</a:t>
            </a:r>
            <a:endParaRPr lang="en-US" sz="800" dirty="0"/>
          </a:p>
        </p:txBody>
      </p:sp>
      <p:sp>
        <p:nvSpPr>
          <p:cNvPr id="23" name="Shape 21"/>
          <p:cNvSpPr/>
          <p:nvPr/>
        </p:nvSpPr>
        <p:spPr>
          <a:xfrm>
            <a:off x="457200" y="3429000"/>
            <a:ext cx="1828800" cy="13716"/>
          </a:xfrm>
          <a:prstGeom prst="rect">
            <a:avLst/>
          </a:prstGeom>
          <a:solidFill>
            <a:srgbClr val="CCEDE9"/>
          </a:solidFill>
          <a:ln w="12700">
            <a:solidFill>
              <a:srgbClr val="CCEDE9"/>
            </a:solidFill>
            <a:prstDash val="solid"/>
          </a:ln>
        </p:spPr>
      </p:sp>
      <p:sp>
        <p:nvSpPr>
          <p:cNvPr id="24" name="Text 22"/>
          <p:cNvSpPr/>
          <p:nvPr/>
        </p:nvSpPr>
        <p:spPr>
          <a:xfrm>
            <a:off x="457200" y="3474720"/>
            <a:ext cx="1828800" cy="12984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₹500–2,000/month — out of reach for health-aware students and young professionals. Foreign brand, no Indian grain base, no fermentation. Imported, padded with fillers. Consumer has no way to verify bioactive content or potency. Not a daily-habit format.</a:t>
            </a:r>
            <a:endParaRPr lang="en-US" sz="850" dirty="0"/>
          </a:p>
        </p:txBody>
      </p:sp>
      <p:sp>
        <p:nvSpPr>
          <p:cNvPr id="25" name="Shape 23"/>
          <p:cNvSpPr/>
          <p:nvPr/>
        </p:nvSpPr>
        <p:spPr>
          <a:xfrm>
            <a:off x="2514600" y="2542032"/>
            <a:ext cx="2011680" cy="2377440"/>
          </a:xfrm>
          <a:prstGeom prst="roundRect">
            <a:avLst>
              <a:gd name="adj" fmla="val 3636"/>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6" name="Text 24"/>
          <p:cNvSpPr/>
          <p:nvPr/>
        </p:nvSpPr>
        <p:spPr>
          <a:xfrm>
            <a:off x="2606040" y="2633472"/>
            <a:ext cx="1828800" cy="475488"/>
          </a:xfrm>
          <a:prstGeom prst="rect">
            <a:avLst/>
          </a:prstGeom>
          <a:noFill/>
          <a:ln/>
        </p:spPr>
        <p:txBody>
          <a:bodyPr wrap="square"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Capsule Supplements</a:t>
            </a:r>
            <a:endParaRPr lang="en-US" sz="1000" dirty="0"/>
          </a:p>
          <a:p>
            <a:pPr algn="ctr" indent="0" marL="0">
              <a:buNone/>
            </a:pPr>
            <a:r>
              <a:rPr lang="en-US" sz="1000" b="1" dirty="0">
                <a:solidFill>
                  <a:srgbClr val="1E293B"/>
                </a:solidFill>
                <a:latin typeface="Calibri" pitchFamily="34" charset="0"/>
                <a:ea typeface="Calibri" pitchFamily="34" charset="-122"/>
                <a:cs typeface="Calibri" pitchFamily="34" charset="-120"/>
              </a:rPr>
              <a:t>(Indian)</a:t>
            </a:r>
            <a:endParaRPr lang="en-US" sz="1000" dirty="0"/>
          </a:p>
        </p:txBody>
      </p:sp>
      <p:sp>
        <p:nvSpPr>
          <p:cNvPr id="27" name="Text 25"/>
          <p:cNvSpPr/>
          <p:nvPr/>
        </p:nvSpPr>
        <p:spPr>
          <a:xfrm>
            <a:off x="2606040" y="3127248"/>
            <a:ext cx="1828800" cy="274320"/>
          </a:xfrm>
          <a:prstGeom prst="rect">
            <a:avLst/>
          </a:prstGeom>
          <a:noFill/>
          <a:ln/>
        </p:spPr>
        <p:txBody>
          <a:bodyPr wrap="square" rtlCol="0" anchor="ctr"/>
          <a:lstStyle/>
          <a:p>
            <a:pPr algn="ctr" indent="0" marL="0">
              <a:buNone/>
            </a:pPr>
            <a:r>
              <a:rPr lang="en-US" sz="800" i="1" dirty="0">
                <a:solidFill>
                  <a:srgbClr val="0D9488"/>
                </a:solidFill>
                <a:latin typeface="Calibri" pitchFamily="34" charset="0"/>
                <a:ea typeface="Calibri" pitchFamily="34" charset="-122"/>
                <a:cs typeface="Calibri" pitchFamily="34" charset="-120"/>
              </a:rPr>
              <a:t>Himalayan Organics, WOW Life Science</a:t>
            </a:r>
            <a:endParaRPr lang="en-US" sz="800" dirty="0"/>
          </a:p>
        </p:txBody>
      </p:sp>
      <p:sp>
        <p:nvSpPr>
          <p:cNvPr id="28" name="Shape 26"/>
          <p:cNvSpPr/>
          <p:nvPr/>
        </p:nvSpPr>
        <p:spPr>
          <a:xfrm>
            <a:off x="2606040" y="3429000"/>
            <a:ext cx="1828800" cy="13716"/>
          </a:xfrm>
          <a:prstGeom prst="rect">
            <a:avLst/>
          </a:prstGeom>
          <a:solidFill>
            <a:srgbClr val="CCEDE9"/>
          </a:solidFill>
          <a:ln w="12700">
            <a:solidFill>
              <a:srgbClr val="CCEDE9"/>
            </a:solidFill>
            <a:prstDash val="solid"/>
          </a:ln>
        </p:spPr>
      </p:sp>
      <p:sp>
        <p:nvSpPr>
          <p:cNvPr id="29" name="Text 27"/>
          <p:cNvSpPr/>
          <p:nvPr/>
        </p:nvSpPr>
        <p:spPr>
          <a:xfrm>
            <a:off x="2606040" y="3474720"/>
            <a:ext cx="1828800" cy="12984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Capsule format breaks daily habit — clinical associations reduce accessibility. No fermentation. No RTD. No GABA or postbiotic benefit. High price per month. No cultural connection to Indian diet. Consumer compliance is low for capsule regimes.</a:t>
            </a:r>
            <a:endParaRPr lang="en-US" sz="850" dirty="0"/>
          </a:p>
        </p:txBody>
      </p:sp>
      <p:sp>
        <p:nvSpPr>
          <p:cNvPr id="30" name="Shape 28"/>
          <p:cNvSpPr/>
          <p:nvPr/>
        </p:nvSpPr>
        <p:spPr>
          <a:xfrm>
            <a:off x="4663440" y="2542032"/>
            <a:ext cx="2011680" cy="2377440"/>
          </a:xfrm>
          <a:prstGeom prst="roundRect">
            <a:avLst>
              <a:gd name="adj" fmla="val 3636"/>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31" name="Text 29"/>
          <p:cNvSpPr/>
          <p:nvPr/>
        </p:nvSpPr>
        <p:spPr>
          <a:xfrm>
            <a:off x="4754880" y="2633472"/>
            <a:ext cx="1828800" cy="475488"/>
          </a:xfrm>
          <a:prstGeom prst="rect">
            <a:avLst/>
          </a:prstGeom>
          <a:noFill/>
          <a:ln/>
        </p:spPr>
        <p:txBody>
          <a:bodyPr wrap="square"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Probiotic RTD Drinks</a:t>
            </a:r>
            <a:endParaRPr lang="en-US" sz="1000" dirty="0"/>
          </a:p>
        </p:txBody>
      </p:sp>
      <p:sp>
        <p:nvSpPr>
          <p:cNvPr id="32" name="Text 30"/>
          <p:cNvSpPr/>
          <p:nvPr/>
        </p:nvSpPr>
        <p:spPr>
          <a:xfrm>
            <a:off x="4754880" y="3127248"/>
            <a:ext cx="1828800" cy="274320"/>
          </a:xfrm>
          <a:prstGeom prst="rect">
            <a:avLst/>
          </a:prstGeom>
          <a:noFill/>
          <a:ln/>
        </p:spPr>
        <p:txBody>
          <a:bodyPr wrap="square" rtlCol="0" anchor="ctr"/>
          <a:lstStyle/>
          <a:p>
            <a:pPr algn="ctr" indent="0" marL="0">
              <a:buNone/>
            </a:pPr>
            <a:r>
              <a:rPr lang="en-US" sz="800" i="1" dirty="0">
                <a:solidFill>
                  <a:srgbClr val="0D9488"/>
                </a:solidFill>
                <a:latin typeface="Calibri" pitchFamily="34" charset="0"/>
                <a:ea typeface="Calibri" pitchFamily="34" charset="-122"/>
                <a:cs typeface="Calibri" pitchFamily="34" charset="-120"/>
              </a:rPr>
              <a:t>Yakult, Epigamia, Mother Dairy</a:t>
            </a:r>
            <a:endParaRPr lang="en-US" sz="800" dirty="0"/>
          </a:p>
        </p:txBody>
      </p:sp>
      <p:sp>
        <p:nvSpPr>
          <p:cNvPr id="33" name="Shape 31"/>
          <p:cNvSpPr/>
          <p:nvPr/>
        </p:nvSpPr>
        <p:spPr>
          <a:xfrm>
            <a:off x="4754880" y="3429000"/>
            <a:ext cx="1828800" cy="13716"/>
          </a:xfrm>
          <a:prstGeom prst="rect">
            <a:avLst/>
          </a:prstGeom>
          <a:solidFill>
            <a:srgbClr val="CCEDE9"/>
          </a:solidFill>
          <a:ln w="12700">
            <a:solidFill>
              <a:srgbClr val="CCEDE9"/>
            </a:solidFill>
            <a:prstDash val="solid"/>
          </a:ln>
        </p:spPr>
      </p:sp>
      <p:sp>
        <p:nvSpPr>
          <p:cNvPr id="34" name="Text 32"/>
          <p:cNvSpPr/>
          <p:nvPr/>
        </p:nvSpPr>
        <p:spPr>
          <a:xfrm>
            <a:off x="4754880" y="3474720"/>
            <a:ext cx="1828800" cy="12984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No medicinal mushroom bioactives. Limited to dairy-based Lactobacillus strains. No GABA. No adaptogenic effect. Cold-chain dependent (live cultures). Flavored with sugar and additives. Gut health only — no cognitive or energy functional claim possible with current formulation.</a:t>
            </a:r>
            <a:endParaRPr lang="en-US" sz="850" dirty="0"/>
          </a:p>
        </p:txBody>
      </p:sp>
      <p:sp>
        <p:nvSpPr>
          <p:cNvPr id="35" name="Shape 33"/>
          <p:cNvSpPr/>
          <p:nvPr/>
        </p:nvSpPr>
        <p:spPr>
          <a:xfrm>
            <a:off x="6812280" y="2542032"/>
            <a:ext cx="2011680" cy="2377440"/>
          </a:xfrm>
          <a:prstGeom prst="roundRect">
            <a:avLst>
              <a:gd name="adj" fmla="val 3636"/>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36" name="Text 34"/>
          <p:cNvSpPr/>
          <p:nvPr/>
        </p:nvSpPr>
        <p:spPr>
          <a:xfrm>
            <a:off x="6903720" y="2633472"/>
            <a:ext cx="1828800" cy="475488"/>
          </a:xfrm>
          <a:prstGeom prst="rect">
            <a:avLst/>
          </a:prstGeom>
          <a:noFill/>
          <a:ln/>
        </p:spPr>
        <p:txBody>
          <a:bodyPr wrap="square"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Energy / Functional</a:t>
            </a:r>
            <a:endParaRPr lang="en-US" sz="1000" dirty="0"/>
          </a:p>
          <a:p>
            <a:pPr algn="ctr" indent="0" marL="0">
              <a:buNone/>
            </a:pPr>
            <a:r>
              <a:rPr lang="en-US" sz="1000" b="1" dirty="0">
                <a:solidFill>
                  <a:srgbClr val="1E293B"/>
                </a:solidFill>
                <a:latin typeface="Calibri" pitchFamily="34" charset="0"/>
                <a:ea typeface="Calibri" pitchFamily="34" charset="-122"/>
                <a:cs typeface="Calibri" pitchFamily="34" charset="-120"/>
              </a:rPr>
              <a:t>Beverages</a:t>
            </a:r>
            <a:endParaRPr lang="en-US" sz="1000" dirty="0"/>
          </a:p>
        </p:txBody>
      </p:sp>
      <p:sp>
        <p:nvSpPr>
          <p:cNvPr id="37" name="Text 35"/>
          <p:cNvSpPr/>
          <p:nvPr/>
        </p:nvSpPr>
        <p:spPr>
          <a:xfrm>
            <a:off x="6903720" y="3127248"/>
            <a:ext cx="1828800" cy="274320"/>
          </a:xfrm>
          <a:prstGeom prst="rect">
            <a:avLst/>
          </a:prstGeom>
          <a:noFill/>
          <a:ln/>
        </p:spPr>
        <p:txBody>
          <a:bodyPr wrap="square" rtlCol="0" anchor="ctr"/>
          <a:lstStyle/>
          <a:p>
            <a:pPr algn="ctr" indent="0" marL="0">
              <a:buNone/>
            </a:pPr>
            <a:r>
              <a:rPr lang="en-US" sz="800" i="1" dirty="0">
                <a:solidFill>
                  <a:srgbClr val="0D9488"/>
                </a:solidFill>
                <a:latin typeface="Calibri" pitchFamily="34" charset="0"/>
                <a:ea typeface="Calibri" pitchFamily="34" charset="-122"/>
                <a:cs typeface="Calibri" pitchFamily="34" charset="-120"/>
              </a:rPr>
              <a:t>Red Bull, Complan, Paper Boat</a:t>
            </a:r>
            <a:endParaRPr lang="en-US" sz="800" dirty="0"/>
          </a:p>
        </p:txBody>
      </p:sp>
      <p:sp>
        <p:nvSpPr>
          <p:cNvPr id="38" name="Shape 36"/>
          <p:cNvSpPr/>
          <p:nvPr/>
        </p:nvSpPr>
        <p:spPr>
          <a:xfrm>
            <a:off x="6903720" y="3429000"/>
            <a:ext cx="1828800" cy="13716"/>
          </a:xfrm>
          <a:prstGeom prst="rect">
            <a:avLst/>
          </a:prstGeom>
          <a:solidFill>
            <a:srgbClr val="CCEDE9"/>
          </a:solidFill>
          <a:ln w="12700">
            <a:solidFill>
              <a:srgbClr val="CCEDE9"/>
            </a:solidFill>
            <a:prstDash val="solid"/>
          </a:ln>
        </p:spPr>
      </p:sp>
      <p:sp>
        <p:nvSpPr>
          <p:cNvPr id="39" name="Text 37"/>
          <p:cNvSpPr/>
          <p:nvPr/>
        </p:nvSpPr>
        <p:spPr>
          <a:xfrm>
            <a:off x="6903720" y="3474720"/>
            <a:ext cx="1828800" cy="12984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No functional mushroom content. 25–35g added sugar per serving. No LAB fermentation, no postbiotics, no GABA. Lifestyle branding without science backing. Carbonated soft drink category — 101 million Indian diabetics (IDF 2023) have no healthier carbonated alternative at accessible price.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855878"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855878"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SOLUTION</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One Fermentation Platform. Three Functional SKUs.</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Text 4"/>
          <p:cNvSpPr/>
          <p:nvPr/>
        </p:nvSpPr>
        <p:spPr>
          <a:xfrm>
            <a:off x="365760" y="941832"/>
            <a:ext cx="8412480" cy="228600"/>
          </a:xfrm>
          <a:prstGeom prst="rect">
            <a:avLst/>
          </a:prstGeom>
          <a:noFill/>
          <a:ln/>
        </p:spPr>
        <p:txBody>
          <a:bodyPr wrap="square"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Sprouted ragi + Karuppu Kavuni black rice + urad dal  ·  L. brevis fermentation  ·  Species-specific mushroom extraction  ·  200ml  ·  Affordable sub-₹100 price point  ·  No synthetic preservatives</a:t>
            </a:r>
            <a:endParaRPr lang="en-US" sz="950" dirty="0"/>
          </a:p>
        </p:txBody>
      </p:sp>
      <p:sp>
        <p:nvSpPr>
          <p:cNvPr id="7" name="Shape 5"/>
          <p:cNvSpPr/>
          <p:nvPr/>
        </p:nvSpPr>
        <p:spPr>
          <a:xfrm>
            <a:off x="365760" y="1188720"/>
            <a:ext cx="2651760" cy="2286000"/>
          </a:xfrm>
          <a:prstGeom prst="roundRect">
            <a:avLst>
              <a:gd name="adj" fmla="val 3200"/>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8" name="Shape 6"/>
          <p:cNvSpPr/>
          <p:nvPr/>
        </p:nvSpPr>
        <p:spPr>
          <a:xfrm>
            <a:off x="475488" y="1261872"/>
            <a:ext cx="594360" cy="256032"/>
          </a:xfrm>
          <a:prstGeom prst="roundRect">
            <a:avLst>
              <a:gd name="adj" fmla="val 17857"/>
            </a:avLst>
          </a:prstGeom>
          <a:solidFill>
            <a:srgbClr val="0D9488"/>
          </a:solidFill>
          <a:ln w="12700">
            <a:solidFill>
              <a:srgbClr val="0D9488"/>
            </a:solidFill>
            <a:prstDash val="solid"/>
          </a:ln>
        </p:spPr>
      </p:sp>
      <p:sp>
        <p:nvSpPr>
          <p:cNvPr id="9" name="Text 7"/>
          <p:cNvSpPr/>
          <p:nvPr/>
        </p:nvSpPr>
        <p:spPr>
          <a:xfrm>
            <a:off x="475488" y="1261872"/>
            <a:ext cx="59436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PHASE 1</a:t>
            </a:r>
            <a:endParaRPr lang="en-US" sz="700" dirty="0"/>
          </a:p>
        </p:txBody>
      </p:sp>
      <p:sp>
        <p:nvSpPr>
          <p:cNvPr id="10" name="Text 8"/>
          <p:cNvSpPr/>
          <p:nvPr/>
        </p:nvSpPr>
        <p:spPr>
          <a:xfrm>
            <a:off x="475488" y="1572768"/>
            <a:ext cx="2423160" cy="457200"/>
          </a:xfrm>
          <a:prstGeom prst="rect">
            <a:avLst/>
          </a:prstGeom>
          <a:noFill/>
          <a:ln/>
        </p:spPr>
        <p:txBody>
          <a:bodyPr wrap="square" rtlCol="0" anchor="ctr"/>
          <a:lstStyle/>
          <a:p>
            <a:pPr indent="0" marL="0">
              <a:buNone/>
            </a:pPr>
            <a:r>
              <a:rPr lang="en-US" sz="1200" b="1" dirty="0">
                <a:solidFill>
                  <a:srgbClr val="0A6059"/>
                </a:solidFill>
                <a:latin typeface="Calibri" pitchFamily="34" charset="0"/>
                <a:ea typeface="Calibri" pitchFamily="34" charset="-122"/>
                <a:cs typeface="Calibri" pitchFamily="34" charset="-120"/>
              </a:rPr>
              <a:t>Substrate</a:t>
            </a:r>
            <a:endParaRPr lang="en-US" sz="1200" dirty="0"/>
          </a:p>
          <a:p>
            <a:pPr indent="0" marL="0">
              <a:buNone/>
            </a:pPr>
            <a:r>
              <a:rPr lang="en-US" sz="1200" b="1" dirty="0">
                <a:solidFill>
                  <a:srgbClr val="0A6059"/>
                </a:solidFill>
                <a:latin typeface="Calibri" pitchFamily="34" charset="0"/>
                <a:ea typeface="Calibri" pitchFamily="34" charset="-122"/>
                <a:cs typeface="Calibri" pitchFamily="34" charset="-120"/>
              </a:rPr>
              <a:t>Preparation</a:t>
            </a:r>
            <a:endParaRPr lang="en-US" sz="1200" dirty="0"/>
          </a:p>
        </p:txBody>
      </p:sp>
      <p:sp>
        <p:nvSpPr>
          <p:cNvPr id="11" name="Text 9"/>
          <p:cNvSpPr/>
          <p:nvPr/>
        </p:nvSpPr>
        <p:spPr>
          <a:xfrm>
            <a:off x="475488" y="2048256"/>
            <a:ext cx="2423160" cy="1353312"/>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Sprouted ragi + Karuppu Kavuni (GI-tagged Tamil Nadu heirloom black rice) + urad dal. Ground and mixed. Karuppu Kavuni delivers anthocyanins and natural purple colour. Sprouting reduces antinutritional factors and improves mineral bioavailability. Substrate ratios and fermentation parameters optimised through systematic bioprocess design across multiple batch conditions.</a:t>
            </a:r>
            <a:endParaRPr lang="en-US" sz="850" dirty="0"/>
          </a:p>
        </p:txBody>
      </p:sp>
      <p:sp>
        <p:nvSpPr>
          <p:cNvPr id="12" name="Shape 10"/>
          <p:cNvSpPr/>
          <p:nvPr/>
        </p:nvSpPr>
        <p:spPr>
          <a:xfrm>
            <a:off x="3200400" y="1188720"/>
            <a:ext cx="2651760" cy="2286000"/>
          </a:xfrm>
          <a:prstGeom prst="roundRect">
            <a:avLst>
              <a:gd name="adj" fmla="val 3200"/>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3" name="Shape 11"/>
          <p:cNvSpPr/>
          <p:nvPr/>
        </p:nvSpPr>
        <p:spPr>
          <a:xfrm>
            <a:off x="3310128" y="1261872"/>
            <a:ext cx="594360" cy="256032"/>
          </a:xfrm>
          <a:prstGeom prst="roundRect">
            <a:avLst>
              <a:gd name="adj" fmla="val 17857"/>
            </a:avLst>
          </a:prstGeom>
          <a:solidFill>
            <a:srgbClr val="0D9488"/>
          </a:solidFill>
          <a:ln w="12700">
            <a:solidFill>
              <a:srgbClr val="0D9488"/>
            </a:solidFill>
            <a:prstDash val="solid"/>
          </a:ln>
        </p:spPr>
      </p:sp>
      <p:sp>
        <p:nvSpPr>
          <p:cNvPr id="14" name="Text 12"/>
          <p:cNvSpPr/>
          <p:nvPr/>
        </p:nvSpPr>
        <p:spPr>
          <a:xfrm>
            <a:off x="3310128" y="1261872"/>
            <a:ext cx="59436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PHASE 2</a:t>
            </a:r>
            <a:endParaRPr lang="en-US" sz="700" dirty="0"/>
          </a:p>
        </p:txBody>
      </p:sp>
      <p:sp>
        <p:nvSpPr>
          <p:cNvPr id="15" name="Text 13"/>
          <p:cNvSpPr/>
          <p:nvPr/>
        </p:nvSpPr>
        <p:spPr>
          <a:xfrm>
            <a:off x="3310128" y="1572768"/>
            <a:ext cx="2423160" cy="457200"/>
          </a:xfrm>
          <a:prstGeom prst="rect">
            <a:avLst/>
          </a:prstGeom>
          <a:noFill/>
          <a:ln/>
        </p:spPr>
        <p:txBody>
          <a:bodyPr wrap="square" rtlCol="0" anchor="ctr"/>
          <a:lstStyle/>
          <a:p>
            <a:pPr indent="0" marL="0">
              <a:buNone/>
            </a:pPr>
            <a:r>
              <a:rPr lang="en-US" sz="1200" b="1" dirty="0">
                <a:solidFill>
                  <a:srgbClr val="0A6059"/>
                </a:solidFill>
                <a:latin typeface="Calibri" pitchFamily="34" charset="0"/>
                <a:ea typeface="Calibri" pitchFamily="34" charset="-122"/>
                <a:cs typeface="Calibri" pitchFamily="34" charset="-120"/>
              </a:rPr>
              <a:t>Fermentation</a:t>
            </a:r>
            <a:endParaRPr lang="en-US" sz="1200" dirty="0"/>
          </a:p>
          <a:p>
            <a:pPr indent="0" marL="0">
              <a:buNone/>
            </a:pPr>
            <a:r>
              <a:rPr lang="en-US" sz="1200" b="1" dirty="0">
                <a:solidFill>
                  <a:srgbClr val="0A6059"/>
                </a:solidFill>
                <a:latin typeface="Calibri" pitchFamily="34" charset="0"/>
                <a:ea typeface="Calibri" pitchFamily="34" charset="-122"/>
                <a:cs typeface="Calibri" pitchFamily="34" charset="-120"/>
              </a:rPr>
              <a:t>(L. brevis)</a:t>
            </a:r>
            <a:endParaRPr lang="en-US" sz="1200" dirty="0"/>
          </a:p>
        </p:txBody>
      </p:sp>
      <p:sp>
        <p:nvSpPr>
          <p:cNvPr id="16" name="Text 14"/>
          <p:cNvSpPr/>
          <p:nvPr/>
        </p:nvSpPr>
        <p:spPr>
          <a:xfrm>
            <a:off x="3310128" y="2048256"/>
            <a:ext cx="2423160" cy="1353312"/>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L. brevis inoculated into substrate. Anaerobic fermentation. Target pH endpoint: 3.8–4.2 (confirmed, Trial Batch 1). Urad dal provides natural glutamic acid — the substrate for L. brevis enzymatic GABA conversion. No MSG. No additives. Natural slurry fermentation.</a:t>
            </a:r>
            <a:endParaRPr lang="en-US" sz="850" dirty="0"/>
          </a:p>
        </p:txBody>
      </p:sp>
      <p:sp>
        <p:nvSpPr>
          <p:cNvPr id="17" name="Shape 15"/>
          <p:cNvSpPr/>
          <p:nvPr/>
        </p:nvSpPr>
        <p:spPr>
          <a:xfrm>
            <a:off x="6035040" y="1188720"/>
            <a:ext cx="2651760" cy="2286000"/>
          </a:xfrm>
          <a:prstGeom prst="roundRect">
            <a:avLst>
              <a:gd name="adj" fmla="val 3200"/>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8" name="Shape 16"/>
          <p:cNvSpPr/>
          <p:nvPr/>
        </p:nvSpPr>
        <p:spPr>
          <a:xfrm>
            <a:off x="6144768" y="1261872"/>
            <a:ext cx="594360" cy="256032"/>
          </a:xfrm>
          <a:prstGeom prst="roundRect">
            <a:avLst>
              <a:gd name="adj" fmla="val 17857"/>
            </a:avLst>
          </a:prstGeom>
          <a:solidFill>
            <a:srgbClr val="0D9488"/>
          </a:solidFill>
          <a:ln w="12700">
            <a:solidFill>
              <a:srgbClr val="0D9488"/>
            </a:solidFill>
            <a:prstDash val="solid"/>
          </a:ln>
        </p:spPr>
      </p:sp>
      <p:sp>
        <p:nvSpPr>
          <p:cNvPr id="19" name="Text 17"/>
          <p:cNvSpPr/>
          <p:nvPr/>
        </p:nvSpPr>
        <p:spPr>
          <a:xfrm>
            <a:off x="6144768" y="1261872"/>
            <a:ext cx="59436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PHASE 3</a:t>
            </a:r>
            <a:endParaRPr lang="en-US" sz="700" dirty="0"/>
          </a:p>
        </p:txBody>
      </p:sp>
      <p:sp>
        <p:nvSpPr>
          <p:cNvPr id="20" name="Text 18"/>
          <p:cNvSpPr/>
          <p:nvPr/>
        </p:nvSpPr>
        <p:spPr>
          <a:xfrm>
            <a:off x="6144768" y="1572768"/>
            <a:ext cx="2423160" cy="457200"/>
          </a:xfrm>
          <a:prstGeom prst="rect">
            <a:avLst/>
          </a:prstGeom>
          <a:noFill/>
          <a:ln/>
        </p:spPr>
        <p:txBody>
          <a:bodyPr wrap="square" rtlCol="0" anchor="ctr"/>
          <a:lstStyle/>
          <a:p>
            <a:pPr indent="0" marL="0">
              <a:buNone/>
            </a:pPr>
            <a:r>
              <a:rPr lang="en-US" sz="1200" b="1" dirty="0">
                <a:solidFill>
                  <a:srgbClr val="0A6059"/>
                </a:solidFill>
                <a:latin typeface="Calibri" pitchFamily="34" charset="0"/>
                <a:ea typeface="Calibri" pitchFamily="34" charset="-122"/>
                <a:cs typeface="Calibri" pitchFamily="34" charset="-120"/>
              </a:rPr>
              <a:t>Postbiotic</a:t>
            </a:r>
            <a:endParaRPr lang="en-US" sz="1200" dirty="0"/>
          </a:p>
          <a:p>
            <a:pPr indent="0" marL="0">
              <a:buNone/>
            </a:pPr>
            <a:r>
              <a:rPr lang="en-US" sz="1200" b="1" dirty="0">
                <a:solidFill>
                  <a:srgbClr val="0A6059"/>
                </a:solidFill>
                <a:latin typeface="Calibri" pitchFamily="34" charset="0"/>
                <a:ea typeface="Calibri" pitchFamily="34" charset="-122"/>
                <a:cs typeface="Calibri" pitchFamily="34" charset="-120"/>
              </a:rPr>
              <a:t>Stabilisation</a:t>
            </a:r>
            <a:endParaRPr lang="en-US" sz="1200" dirty="0"/>
          </a:p>
        </p:txBody>
      </p:sp>
      <p:sp>
        <p:nvSpPr>
          <p:cNvPr id="21" name="Text 19"/>
          <p:cNvSpPr/>
          <p:nvPr/>
        </p:nvSpPr>
        <p:spPr>
          <a:xfrm>
            <a:off x="6144768" y="2048256"/>
            <a:ext cx="2423160" cy="1353312"/>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Post-fermentation heat treatment inactivates live cells while preserving GABA and metabolites. Shelf-stable postbiotic base. No cold chain. No synthetic preservatives.</a:t>
            </a:r>
            <a:endParaRPr lang="en-US" sz="850" dirty="0"/>
          </a:p>
        </p:txBody>
      </p:sp>
      <p:sp>
        <p:nvSpPr>
          <p:cNvPr id="22" name="Shape 20"/>
          <p:cNvSpPr/>
          <p:nvPr/>
        </p:nvSpPr>
        <p:spPr>
          <a:xfrm>
            <a:off x="365760" y="3639312"/>
            <a:ext cx="4679899" cy="228600"/>
          </a:xfrm>
          <a:prstGeom prst="roundRect">
            <a:avLst>
              <a:gd name="adj" fmla="val 20000"/>
            </a:avLst>
          </a:prstGeom>
          <a:solidFill>
            <a:srgbClr val="0A6059"/>
          </a:solidFill>
          <a:ln w="12700">
            <a:solidFill>
              <a:srgbClr val="0A6059"/>
            </a:solidFill>
            <a:prstDash val="solid"/>
          </a:ln>
        </p:spPr>
      </p:sp>
      <p:sp>
        <p:nvSpPr>
          <p:cNvPr id="23" name="Text 21"/>
          <p:cNvSpPr/>
          <p:nvPr/>
        </p:nvSpPr>
        <p:spPr>
          <a:xfrm>
            <a:off x="365760" y="3639312"/>
            <a:ext cx="4679899"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THREE SKUs — ONE BASE, SPECIES-SPECIFIC MUSHROOM EXTRACTION</a:t>
            </a:r>
            <a:endParaRPr lang="en-US" sz="700" dirty="0"/>
          </a:p>
        </p:txBody>
      </p:sp>
      <p:sp>
        <p:nvSpPr>
          <p:cNvPr id="24" name="Shape 22"/>
          <p:cNvSpPr/>
          <p:nvPr/>
        </p:nvSpPr>
        <p:spPr>
          <a:xfrm>
            <a:off x="365760" y="3886200"/>
            <a:ext cx="2651760" cy="1024128"/>
          </a:xfrm>
          <a:prstGeom prst="roundRect">
            <a:avLst>
              <a:gd name="adj" fmla="val 6250"/>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5" name="Shape 23"/>
          <p:cNvSpPr/>
          <p:nvPr/>
        </p:nvSpPr>
        <p:spPr>
          <a:xfrm>
            <a:off x="457200" y="3950208"/>
            <a:ext cx="685800" cy="219456"/>
          </a:xfrm>
          <a:prstGeom prst="roundRect">
            <a:avLst>
              <a:gd name="adj" fmla="val 16667"/>
            </a:avLst>
          </a:prstGeom>
          <a:solidFill>
            <a:srgbClr val="0D9488"/>
          </a:solidFill>
          <a:ln w="12700">
            <a:solidFill>
              <a:srgbClr val="0D9488"/>
            </a:solidFill>
            <a:prstDash val="solid"/>
          </a:ln>
        </p:spPr>
      </p:sp>
      <p:sp>
        <p:nvSpPr>
          <p:cNvPr id="26" name="Text 24"/>
          <p:cNvSpPr/>
          <p:nvPr/>
        </p:nvSpPr>
        <p:spPr>
          <a:xfrm>
            <a:off x="457200" y="3950208"/>
            <a:ext cx="68580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CLARITY</a:t>
            </a:r>
            <a:endParaRPr lang="en-US" sz="750" dirty="0"/>
          </a:p>
        </p:txBody>
      </p:sp>
      <p:sp>
        <p:nvSpPr>
          <p:cNvPr id="27" name="Text 25"/>
          <p:cNvSpPr/>
          <p:nvPr/>
        </p:nvSpPr>
        <p:spPr>
          <a:xfrm>
            <a:off x="1207008" y="3950208"/>
            <a:ext cx="1691640" cy="219456"/>
          </a:xfrm>
          <a:prstGeom prst="rect">
            <a:avLst/>
          </a:prstGeom>
          <a:noFill/>
          <a:ln/>
        </p:spPr>
        <p:txBody>
          <a:bodyPr wrap="square" rtlCol="0" anchor="ctr"/>
          <a:lstStyle/>
          <a:p>
            <a:pPr indent="0" marL="0">
              <a:buNone/>
            </a:pPr>
            <a:r>
              <a:rPr lang="en-US" sz="800" b="1" dirty="0">
                <a:solidFill>
                  <a:srgbClr val="1E293B"/>
                </a:solidFill>
                <a:latin typeface="Calibri" pitchFamily="34" charset="0"/>
                <a:ea typeface="Calibri" pitchFamily="34" charset="-122"/>
                <a:cs typeface="Calibri" pitchFamily="34" charset="-120"/>
              </a:rPr>
              <a:t>Lion's Mane (Hericium erinaceus)</a:t>
            </a:r>
            <a:endParaRPr lang="en-US" sz="800" dirty="0"/>
          </a:p>
        </p:txBody>
      </p:sp>
      <p:sp>
        <p:nvSpPr>
          <p:cNvPr id="28" name="Text 26"/>
          <p:cNvSpPr/>
          <p:nvPr/>
        </p:nvSpPr>
        <p:spPr>
          <a:xfrm>
            <a:off x="457200" y="4206240"/>
            <a:ext cx="2450592" cy="201168"/>
          </a:xfrm>
          <a:prstGeom prst="rect">
            <a:avLst/>
          </a:prstGeom>
          <a:noFill/>
          <a:ln/>
        </p:spPr>
        <p:txBody>
          <a:bodyPr wrap="square" rtlCol="0" anchor="ctr"/>
          <a:lstStyle/>
          <a:p>
            <a:pPr indent="0" marL="0">
              <a:buNone/>
            </a:pPr>
            <a:r>
              <a:rPr lang="en-US" sz="800" b="1" dirty="0">
                <a:solidFill>
                  <a:srgbClr val="0D9488"/>
                </a:solidFill>
                <a:latin typeface="Calibri" pitchFamily="34" charset="0"/>
                <a:ea typeface="Calibri" pitchFamily="34" charset="-122"/>
                <a:cs typeface="Calibri" pitchFamily="34" charset="-120"/>
              </a:rPr>
              <a:t>Bioactives: Hericenones + Beta-glucans</a:t>
            </a:r>
            <a:endParaRPr lang="en-US" sz="800" dirty="0"/>
          </a:p>
        </p:txBody>
      </p:sp>
      <p:sp>
        <p:nvSpPr>
          <p:cNvPr id="29" name="Text 27"/>
          <p:cNvSpPr/>
          <p:nvPr/>
        </p:nvSpPr>
        <p:spPr>
          <a:xfrm>
            <a:off x="457200" y="4389120"/>
            <a:ext cx="2450592" cy="18288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Cognitive support &amp; focus</a:t>
            </a:r>
            <a:endParaRPr lang="en-US" sz="800" dirty="0"/>
          </a:p>
        </p:txBody>
      </p:sp>
      <p:sp>
        <p:nvSpPr>
          <p:cNvPr id="30" name="Text 28"/>
          <p:cNvSpPr/>
          <p:nvPr/>
        </p:nvSpPr>
        <p:spPr>
          <a:xfrm>
            <a:off x="457200" y="4562856"/>
            <a:ext cx="2450592" cy="274320"/>
          </a:xfrm>
          <a:prstGeom prst="rect">
            <a:avLst/>
          </a:prstGeom>
          <a:noFill/>
          <a:ln/>
        </p:spPr>
        <p:txBody>
          <a:bodyPr wrap="square" rtlCol="0" anchor="t"/>
          <a:lstStyle/>
          <a:p>
            <a:pPr indent="0" marL="0">
              <a:buNone/>
            </a:pPr>
            <a:r>
              <a:rPr lang="en-US" sz="750" dirty="0">
                <a:solidFill>
                  <a:srgbClr val="374151"/>
                </a:solidFill>
                <a:latin typeface="Calibri" pitchFamily="34" charset="0"/>
                <a:ea typeface="Calibri" pitchFamily="34" charset="-122"/>
                <a:cs typeface="Calibri" pitchFamily="34" charset="-120"/>
              </a:rPr>
              <a:t>Hot-water extraction ≤70°C ceiling (hericenones denature above 70°C)</a:t>
            </a:r>
            <a:endParaRPr lang="en-US" sz="750" dirty="0"/>
          </a:p>
        </p:txBody>
      </p:sp>
      <p:sp>
        <p:nvSpPr>
          <p:cNvPr id="31" name="Shape 29"/>
          <p:cNvSpPr/>
          <p:nvPr/>
        </p:nvSpPr>
        <p:spPr>
          <a:xfrm>
            <a:off x="3200400" y="3886200"/>
            <a:ext cx="2651760" cy="1024128"/>
          </a:xfrm>
          <a:prstGeom prst="roundRect">
            <a:avLst>
              <a:gd name="adj" fmla="val 6250"/>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32" name="Shape 30"/>
          <p:cNvSpPr/>
          <p:nvPr/>
        </p:nvSpPr>
        <p:spPr>
          <a:xfrm>
            <a:off x="3291840" y="3950208"/>
            <a:ext cx="685800" cy="219456"/>
          </a:xfrm>
          <a:prstGeom prst="roundRect">
            <a:avLst>
              <a:gd name="adj" fmla="val 16667"/>
            </a:avLst>
          </a:prstGeom>
          <a:solidFill>
            <a:srgbClr val="D97706"/>
          </a:solidFill>
          <a:ln w="12700">
            <a:solidFill>
              <a:srgbClr val="D97706"/>
            </a:solidFill>
            <a:prstDash val="solid"/>
          </a:ln>
        </p:spPr>
      </p:sp>
      <p:sp>
        <p:nvSpPr>
          <p:cNvPr id="33" name="Text 31"/>
          <p:cNvSpPr/>
          <p:nvPr/>
        </p:nvSpPr>
        <p:spPr>
          <a:xfrm>
            <a:off x="3291840" y="3950208"/>
            <a:ext cx="68580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MOMENTUM</a:t>
            </a:r>
            <a:endParaRPr lang="en-US" sz="750" dirty="0"/>
          </a:p>
        </p:txBody>
      </p:sp>
      <p:sp>
        <p:nvSpPr>
          <p:cNvPr id="34" name="Text 32"/>
          <p:cNvSpPr/>
          <p:nvPr/>
        </p:nvSpPr>
        <p:spPr>
          <a:xfrm>
            <a:off x="4041648" y="3950208"/>
            <a:ext cx="1691640" cy="219456"/>
          </a:xfrm>
          <a:prstGeom prst="rect">
            <a:avLst/>
          </a:prstGeom>
          <a:noFill/>
          <a:ln/>
        </p:spPr>
        <p:txBody>
          <a:bodyPr wrap="square" rtlCol="0" anchor="ctr"/>
          <a:lstStyle/>
          <a:p>
            <a:pPr indent="0" marL="0">
              <a:buNone/>
            </a:pPr>
            <a:r>
              <a:rPr lang="en-US" sz="800" b="1" dirty="0">
                <a:solidFill>
                  <a:srgbClr val="1E293B"/>
                </a:solidFill>
                <a:latin typeface="Calibri" pitchFamily="34" charset="0"/>
                <a:ea typeface="Calibri" pitchFamily="34" charset="-122"/>
                <a:cs typeface="Calibri" pitchFamily="34" charset="-120"/>
              </a:rPr>
              <a:t>Cordyceps (Cordyceps militaris)</a:t>
            </a:r>
            <a:endParaRPr lang="en-US" sz="800" dirty="0"/>
          </a:p>
        </p:txBody>
      </p:sp>
      <p:sp>
        <p:nvSpPr>
          <p:cNvPr id="35" name="Text 33"/>
          <p:cNvSpPr/>
          <p:nvPr/>
        </p:nvSpPr>
        <p:spPr>
          <a:xfrm>
            <a:off x="3291840" y="4206240"/>
            <a:ext cx="2450592" cy="201168"/>
          </a:xfrm>
          <a:prstGeom prst="rect">
            <a:avLst/>
          </a:prstGeom>
          <a:noFill/>
          <a:ln/>
        </p:spPr>
        <p:txBody>
          <a:bodyPr wrap="square" rtlCol="0" anchor="ctr"/>
          <a:lstStyle/>
          <a:p>
            <a:pPr indent="0" marL="0">
              <a:buNone/>
            </a:pPr>
            <a:r>
              <a:rPr lang="en-US" sz="800" b="1" dirty="0">
                <a:solidFill>
                  <a:srgbClr val="0D9488"/>
                </a:solidFill>
                <a:latin typeface="Calibri" pitchFamily="34" charset="0"/>
                <a:ea typeface="Calibri" pitchFamily="34" charset="-122"/>
                <a:cs typeface="Calibri" pitchFamily="34" charset="-120"/>
              </a:rPr>
              <a:t>Bioactives: Cordycepin + Adenosine</a:t>
            </a:r>
            <a:endParaRPr lang="en-US" sz="800" dirty="0"/>
          </a:p>
        </p:txBody>
      </p:sp>
      <p:sp>
        <p:nvSpPr>
          <p:cNvPr id="36" name="Text 34"/>
          <p:cNvSpPr/>
          <p:nvPr/>
        </p:nvSpPr>
        <p:spPr>
          <a:xfrm>
            <a:off x="3291840" y="4389120"/>
            <a:ext cx="2450592" cy="18288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Energy &amp; performance</a:t>
            </a:r>
            <a:endParaRPr lang="en-US" sz="800" dirty="0"/>
          </a:p>
        </p:txBody>
      </p:sp>
      <p:sp>
        <p:nvSpPr>
          <p:cNvPr id="37" name="Text 35"/>
          <p:cNvSpPr/>
          <p:nvPr/>
        </p:nvSpPr>
        <p:spPr>
          <a:xfrm>
            <a:off x="3291840" y="4562856"/>
            <a:ext cx="2450592" cy="274320"/>
          </a:xfrm>
          <a:prstGeom prst="rect">
            <a:avLst/>
          </a:prstGeom>
          <a:noFill/>
          <a:ln/>
        </p:spPr>
        <p:txBody>
          <a:bodyPr wrap="square" rtlCol="0" anchor="t"/>
          <a:lstStyle/>
          <a:p>
            <a:pPr indent="0" marL="0">
              <a:buNone/>
            </a:pPr>
            <a:r>
              <a:rPr lang="en-US" sz="750" dirty="0">
                <a:solidFill>
                  <a:srgbClr val="374151"/>
                </a:solidFill>
                <a:latin typeface="Calibri" pitchFamily="34" charset="0"/>
                <a:ea typeface="Calibri" pitchFamily="34" charset="-122"/>
                <a:cs typeface="Calibri" pitchFamily="34" charset="-120"/>
              </a:rPr>
              <a:t>Ethanol-first inverted solvent sequence (preserves cordycepin)</a:t>
            </a:r>
            <a:endParaRPr lang="en-US" sz="750" dirty="0"/>
          </a:p>
        </p:txBody>
      </p:sp>
      <p:sp>
        <p:nvSpPr>
          <p:cNvPr id="38" name="Shape 36"/>
          <p:cNvSpPr/>
          <p:nvPr/>
        </p:nvSpPr>
        <p:spPr>
          <a:xfrm>
            <a:off x="6035040" y="3886200"/>
            <a:ext cx="2651760" cy="1024128"/>
          </a:xfrm>
          <a:prstGeom prst="roundRect">
            <a:avLst>
              <a:gd name="adj" fmla="val 6250"/>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39" name="Shape 37"/>
          <p:cNvSpPr/>
          <p:nvPr/>
        </p:nvSpPr>
        <p:spPr>
          <a:xfrm>
            <a:off x="6126480" y="3950208"/>
            <a:ext cx="685800" cy="219456"/>
          </a:xfrm>
          <a:prstGeom prst="roundRect">
            <a:avLst>
              <a:gd name="adj" fmla="val 16667"/>
            </a:avLst>
          </a:prstGeom>
          <a:solidFill>
            <a:srgbClr val="7C3AED"/>
          </a:solidFill>
          <a:ln w="12700">
            <a:solidFill>
              <a:srgbClr val="7C3AED"/>
            </a:solidFill>
            <a:prstDash val="solid"/>
          </a:ln>
        </p:spPr>
      </p:sp>
      <p:sp>
        <p:nvSpPr>
          <p:cNvPr id="40" name="Text 38"/>
          <p:cNvSpPr/>
          <p:nvPr/>
        </p:nvSpPr>
        <p:spPr>
          <a:xfrm>
            <a:off x="6126480" y="3950208"/>
            <a:ext cx="68580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VITALITY</a:t>
            </a:r>
            <a:endParaRPr lang="en-US" sz="750" dirty="0"/>
          </a:p>
        </p:txBody>
      </p:sp>
      <p:sp>
        <p:nvSpPr>
          <p:cNvPr id="41" name="Text 39"/>
          <p:cNvSpPr/>
          <p:nvPr/>
        </p:nvSpPr>
        <p:spPr>
          <a:xfrm>
            <a:off x="6876288" y="3950208"/>
            <a:ext cx="1691640" cy="219456"/>
          </a:xfrm>
          <a:prstGeom prst="rect">
            <a:avLst/>
          </a:prstGeom>
          <a:noFill/>
          <a:ln/>
        </p:spPr>
        <p:txBody>
          <a:bodyPr wrap="square" rtlCol="0" anchor="ctr"/>
          <a:lstStyle/>
          <a:p>
            <a:pPr indent="0" marL="0">
              <a:buNone/>
            </a:pPr>
            <a:r>
              <a:rPr lang="en-US" sz="800" b="1" dirty="0">
                <a:solidFill>
                  <a:srgbClr val="1E293B"/>
                </a:solidFill>
                <a:latin typeface="Calibri" pitchFamily="34" charset="0"/>
                <a:ea typeface="Calibri" pitchFamily="34" charset="-122"/>
                <a:cs typeface="Calibri" pitchFamily="34" charset="-120"/>
              </a:rPr>
              <a:t>Reishi (Ganoderma lucidum)</a:t>
            </a:r>
            <a:endParaRPr lang="en-US" sz="800" dirty="0"/>
          </a:p>
        </p:txBody>
      </p:sp>
      <p:sp>
        <p:nvSpPr>
          <p:cNvPr id="42" name="Text 40"/>
          <p:cNvSpPr/>
          <p:nvPr/>
        </p:nvSpPr>
        <p:spPr>
          <a:xfrm>
            <a:off x="6126480" y="4206240"/>
            <a:ext cx="2450592" cy="201168"/>
          </a:xfrm>
          <a:prstGeom prst="rect">
            <a:avLst/>
          </a:prstGeom>
          <a:noFill/>
          <a:ln/>
        </p:spPr>
        <p:txBody>
          <a:bodyPr wrap="square" rtlCol="0" anchor="ctr"/>
          <a:lstStyle/>
          <a:p>
            <a:pPr indent="0" marL="0">
              <a:buNone/>
            </a:pPr>
            <a:r>
              <a:rPr lang="en-US" sz="800" b="1" dirty="0">
                <a:solidFill>
                  <a:srgbClr val="0D9488"/>
                </a:solidFill>
                <a:latin typeface="Calibri" pitchFamily="34" charset="0"/>
                <a:ea typeface="Calibri" pitchFamily="34" charset="-122"/>
                <a:cs typeface="Calibri" pitchFamily="34" charset="-120"/>
              </a:rPr>
              <a:t>Bioactives: Beta-glucans + Ganoderic acids</a:t>
            </a:r>
            <a:endParaRPr lang="en-US" sz="800" dirty="0"/>
          </a:p>
        </p:txBody>
      </p:sp>
      <p:sp>
        <p:nvSpPr>
          <p:cNvPr id="43" name="Text 41"/>
          <p:cNvSpPr/>
          <p:nvPr/>
        </p:nvSpPr>
        <p:spPr>
          <a:xfrm>
            <a:off x="6126480" y="4389120"/>
            <a:ext cx="2450592" cy="18288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Immunity &amp; recovery</a:t>
            </a:r>
            <a:endParaRPr lang="en-US" sz="800" dirty="0"/>
          </a:p>
        </p:txBody>
      </p:sp>
      <p:sp>
        <p:nvSpPr>
          <p:cNvPr id="44" name="Text 42"/>
          <p:cNvSpPr/>
          <p:nvPr/>
        </p:nvSpPr>
        <p:spPr>
          <a:xfrm>
            <a:off x="6126480" y="4562856"/>
            <a:ext cx="2450592" cy="274320"/>
          </a:xfrm>
          <a:prstGeom prst="rect">
            <a:avLst/>
          </a:prstGeom>
          <a:noFill/>
          <a:ln/>
        </p:spPr>
        <p:txBody>
          <a:bodyPr wrap="square" rtlCol="0" anchor="t"/>
          <a:lstStyle/>
          <a:p>
            <a:pPr indent="0" marL="0">
              <a:buNone/>
            </a:pPr>
            <a:r>
              <a:rPr lang="en-US" sz="750" dirty="0">
                <a:solidFill>
                  <a:srgbClr val="374151"/>
                </a:solidFill>
                <a:latin typeface="Calibri" pitchFamily="34" charset="0"/>
                <a:ea typeface="Calibri" pitchFamily="34" charset="-122"/>
                <a:cs typeface="Calibri" pitchFamily="34" charset="-120"/>
              </a:rPr>
              <a:t>Dual extraction mandatory — ganoderic acids are ethanol-soluble only</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855878"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855878"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SOLUTION</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Why Will the Customer Buy OBI Instead of Available Solutions?</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Shape 4"/>
          <p:cNvSpPr/>
          <p:nvPr/>
        </p:nvSpPr>
        <p:spPr>
          <a:xfrm>
            <a:off x="365760" y="1143000"/>
            <a:ext cx="4114800" cy="1143000"/>
          </a:xfrm>
          <a:prstGeom prst="roundRect">
            <a:avLst>
              <a:gd name="adj" fmla="val 6400"/>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7" name="Shape 5"/>
          <p:cNvSpPr/>
          <p:nvPr/>
        </p:nvSpPr>
        <p:spPr>
          <a:xfrm>
            <a:off x="475488" y="1252728"/>
            <a:ext cx="822960" cy="256032"/>
          </a:xfrm>
          <a:prstGeom prst="roundRect">
            <a:avLst>
              <a:gd name="adj" fmla="val 17857"/>
            </a:avLst>
          </a:prstGeom>
          <a:solidFill>
            <a:srgbClr val="E6F7F5"/>
          </a:solidFill>
          <a:ln w="6350">
            <a:solidFill>
              <a:srgbClr val="CCEDE9"/>
            </a:solidFill>
            <a:prstDash val="solid"/>
          </a:ln>
        </p:spPr>
      </p:sp>
      <p:sp>
        <p:nvSpPr>
          <p:cNvPr id="8" name="Text 6"/>
          <p:cNvSpPr/>
          <p:nvPr/>
        </p:nvSpPr>
        <p:spPr>
          <a:xfrm>
            <a:off x="475488" y="1252728"/>
            <a:ext cx="822960" cy="256032"/>
          </a:xfrm>
          <a:prstGeom prst="rect">
            <a:avLst/>
          </a:prstGeom>
          <a:noFill/>
          <a:ln/>
        </p:spPr>
        <p:txBody>
          <a:bodyPr wrap="square" lIns="0" tIns="0" rIns="0" bIns="0" rtlCol="0" anchor="ctr"/>
          <a:lstStyle/>
          <a:p>
            <a:pPr algn="ctr" indent="0" marL="0">
              <a:buNone/>
            </a:pPr>
            <a:r>
              <a:rPr lang="en-US" sz="900" b="1" dirty="0">
                <a:solidFill>
                  <a:srgbClr val="0A6059"/>
                </a:solidFill>
                <a:latin typeface="Calibri" pitchFamily="34" charset="0"/>
                <a:ea typeface="Calibri" pitchFamily="34" charset="-122"/>
                <a:cs typeface="Calibri" pitchFamily="34" charset="-120"/>
              </a:rPr>
              <a:t>Affordable Price</a:t>
            </a:r>
            <a:endParaRPr lang="en-US" sz="900" dirty="0"/>
          </a:p>
        </p:txBody>
      </p:sp>
      <p:sp>
        <p:nvSpPr>
          <p:cNvPr id="9" name="Text 7"/>
          <p:cNvSpPr/>
          <p:nvPr/>
        </p:nvSpPr>
        <p:spPr>
          <a:xfrm>
            <a:off x="1371600" y="1234440"/>
            <a:ext cx="2971800" cy="292608"/>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Affordable Daily Habit</a:t>
            </a:r>
            <a:endParaRPr lang="en-US" sz="1100" dirty="0"/>
          </a:p>
        </p:txBody>
      </p:sp>
      <p:sp>
        <p:nvSpPr>
          <p:cNvPr id="10" name="Text 8"/>
          <p:cNvSpPr/>
          <p:nvPr/>
        </p:nvSpPr>
        <p:spPr>
          <a:xfrm>
            <a:off x="475488" y="1572768"/>
            <a:ext cx="3886200" cy="640080"/>
          </a:xfrm>
          <a:prstGeom prst="rect">
            <a:avLst/>
          </a:prstGeom>
          <a:noFill/>
          <a:ln/>
        </p:spPr>
        <p:txBody>
          <a:bodyPr wrap="square" rtlCol="0" anchor="t"/>
          <a:lstStyle/>
          <a:p>
            <a:pPr indent="0" marL="0">
              <a:buNone/>
            </a:pPr>
            <a:r>
              <a:rPr lang="en-US" sz="880" dirty="0">
                <a:solidFill>
                  <a:srgbClr val="374151"/>
                </a:solidFill>
                <a:latin typeface="Calibri" pitchFamily="34" charset="0"/>
                <a:ea typeface="Calibri" pitchFamily="34" charset="-122"/>
                <a:cs typeface="Calibri" pitchFamily="34" charset="-120"/>
              </a:rPr>
              <a:t>Sub-₹100 per serving — designed as a daily habit, not a luxury supplement. Competitive against a daily chai or energy drink, not against imported functional products.</a:t>
            </a:r>
            <a:endParaRPr lang="en-US" sz="880" dirty="0"/>
          </a:p>
        </p:txBody>
      </p:sp>
      <p:sp>
        <p:nvSpPr>
          <p:cNvPr id="11" name="Shape 9"/>
          <p:cNvSpPr/>
          <p:nvPr/>
        </p:nvSpPr>
        <p:spPr>
          <a:xfrm>
            <a:off x="365760" y="2404872"/>
            <a:ext cx="4114800" cy="1143000"/>
          </a:xfrm>
          <a:prstGeom prst="roundRect">
            <a:avLst>
              <a:gd name="adj" fmla="val 6400"/>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2" name="Shape 10"/>
          <p:cNvSpPr/>
          <p:nvPr/>
        </p:nvSpPr>
        <p:spPr>
          <a:xfrm>
            <a:off x="475488" y="2514600"/>
            <a:ext cx="822960" cy="256032"/>
          </a:xfrm>
          <a:prstGeom prst="roundRect">
            <a:avLst>
              <a:gd name="adj" fmla="val 17857"/>
            </a:avLst>
          </a:prstGeom>
          <a:solidFill>
            <a:srgbClr val="E6F7F5"/>
          </a:solidFill>
          <a:ln w="6350">
            <a:solidFill>
              <a:srgbClr val="CCEDE9"/>
            </a:solidFill>
            <a:prstDash val="solid"/>
          </a:ln>
        </p:spPr>
      </p:sp>
      <p:sp>
        <p:nvSpPr>
          <p:cNvPr id="13" name="Text 11"/>
          <p:cNvSpPr/>
          <p:nvPr/>
        </p:nvSpPr>
        <p:spPr>
          <a:xfrm>
            <a:off x="475488" y="2514600"/>
            <a:ext cx="822960" cy="256032"/>
          </a:xfrm>
          <a:prstGeom prst="rect">
            <a:avLst/>
          </a:prstGeom>
          <a:noFill/>
          <a:ln/>
        </p:spPr>
        <p:txBody>
          <a:bodyPr wrap="square" lIns="0" tIns="0" rIns="0" bIns="0" rtlCol="0" anchor="ctr"/>
          <a:lstStyle/>
          <a:p>
            <a:pPr algn="ctr" indent="0" marL="0">
              <a:buNone/>
            </a:pPr>
            <a:r>
              <a:rPr lang="en-US" sz="900" b="1" dirty="0">
                <a:solidFill>
                  <a:srgbClr val="0A6059"/>
                </a:solidFill>
                <a:latin typeface="Calibri" pitchFamily="34" charset="0"/>
                <a:ea typeface="Calibri" pitchFamily="34" charset="-122"/>
                <a:cs typeface="Calibri" pitchFamily="34" charset="-120"/>
              </a:rPr>
              <a:t>No Cold Chain</a:t>
            </a:r>
            <a:endParaRPr lang="en-US" sz="900" dirty="0"/>
          </a:p>
        </p:txBody>
      </p:sp>
      <p:sp>
        <p:nvSpPr>
          <p:cNvPr id="14" name="Text 12"/>
          <p:cNvSpPr/>
          <p:nvPr/>
        </p:nvSpPr>
        <p:spPr>
          <a:xfrm>
            <a:off x="1371600" y="2496312"/>
            <a:ext cx="2971800" cy="292608"/>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Shelf-Stable, Logistics-Friendly</a:t>
            </a:r>
            <a:endParaRPr lang="en-US" sz="1100" dirty="0"/>
          </a:p>
        </p:txBody>
      </p:sp>
      <p:sp>
        <p:nvSpPr>
          <p:cNvPr id="15" name="Text 13"/>
          <p:cNvSpPr/>
          <p:nvPr/>
        </p:nvSpPr>
        <p:spPr>
          <a:xfrm>
            <a:off x="475488" y="2834640"/>
            <a:ext cx="3886200" cy="640080"/>
          </a:xfrm>
          <a:prstGeom prst="rect">
            <a:avLst/>
          </a:prstGeom>
          <a:noFill/>
          <a:ln/>
        </p:spPr>
        <p:txBody>
          <a:bodyPr wrap="square" rtlCol="0" anchor="t"/>
          <a:lstStyle/>
          <a:p>
            <a:pPr indent="0" marL="0">
              <a:buNone/>
            </a:pPr>
            <a:r>
              <a:rPr lang="en-US" sz="880" dirty="0">
                <a:solidFill>
                  <a:srgbClr val="374151"/>
                </a:solidFill>
                <a:latin typeface="Calibri" pitchFamily="34" charset="0"/>
                <a:ea typeface="Calibri" pitchFamily="34" charset="-122"/>
                <a:cs typeface="Calibri" pitchFamily="34" charset="-120"/>
              </a:rPr>
              <a:t>Post-fermentation heat stabilisation makes our beverage ambient shelf-stable. No refrigeration. Distribution to Tier 2 cities and institutional buyers is viable from day one.</a:t>
            </a:r>
            <a:endParaRPr lang="en-US" sz="880" dirty="0"/>
          </a:p>
        </p:txBody>
      </p:sp>
      <p:sp>
        <p:nvSpPr>
          <p:cNvPr id="16" name="Shape 14"/>
          <p:cNvSpPr/>
          <p:nvPr/>
        </p:nvSpPr>
        <p:spPr>
          <a:xfrm>
            <a:off x="365760" y="3666744"/>
            <a:ext cx="4114800" cy="1143000"/>
          </a:xfrm>
          <a:prstGeom prst="roundRect">
            <a:avLst>
              <a:gd name="adj" fmla="val 6400"/>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7" name="Shape 15"/>
          <p:cNvSpPr/>
          <p:nvPr/>
        </p:nvSpPr>
        <p:spPr>
          <a:xfrm>
            <a:off x="475488" y="3776472"/>
            <a:ext cx="822960" cy="256032"/>
          </a:xfrm>
          <a:prstGeom prst="roundRect">
            <a:avLst>
              <a:gd name="adj" fmla="val 17857"/>
            </a:avLst>
          </a:prstGeom>
          <a:solidFill>
            <a:srgbClr val="E6F7F5"/>
          </a:solidFill>
          <a:ln w="6350">
            <a:solidFill>
              <a:srgbClr val="CCEDE9"/>
            </a:solidFill>
            <a:prstDash val="solid"/>
          </a:ln>
        </p:spPr>
      </p:sp>
      <p:sp>
        <p:nvSpPr>
          <p:cNvPr id="18" name="Text 16"/>
          <p:cNvSpPr/>
          <p:nvPr/>
        </p:nvSpPr>
        <p:spPr>
          <a:xfrm>
            <a:off x="475488" y="3776472"/>
            <a:ext cx="822960" cy="256032"/>
          </a:xfrm>
          <a:prstGeom prst="rect">
            <a:avLst/>
          </a:prstGeom>
          <a:noFill/>
          <a:ln/>
        </p:spPr>
        <p:txBody>
          <a:bodyPr wrap="square" lIns="0" tIns="0" rIns="0" bIns="0" rtlCol="0" anchor="ctr"/>
          <a:lstStyle/>
          <a:p>
            <a:pPr algn="ctr" indent="0" marL="0">
              <a:buNone/>
            </a:pPr>
            <a:r>
              <a:rPr lang="en-US" sz="900" b="1" dirty="0">
                <a:solidFill>
                  <a:srgbClr val="0A6059"/>
                </a:solidFill>
                <a:latin typeface="Calibri" pitchFamily="34" charset="0"/>
                <a:ea typeface="Calibri" pitchFamily="34" charset="-122"/>
                <a:cs typeface="Calibri" pitchFamily="34" charset="-120"/>
              </a:rPr>
              <a:t>Indian Grain Base</a:t>
            </a:r>
            <a:endParaRPr lang="en-US" sz="900" dirty="0"/>
          </a:p>
        </p:txBody>
      </p:sp>
      <p:sp>
        <p:nvSpPr>
          <p:cNvPr id="19" name="Text 17"/>
          <p:cNvSpPr/>
          <p:nvPr/>
        </p:nvSpPr>
        <p:spPr>
          <a:xfrm>
            <a:off x="1371600" y="3758184"/>
            <a:ext cx="2971800" cy="292608"/>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Cultural &amp; Nutritional Fit</a:t>
            </a:r>
            <a:endParaRPr lang="en-US" sz="1100" dirty="0"/>
          </a:p>
        </p:txBody>
      </p:sp>
      <p:sp>
        <p:nvSpPr>
          <p:cNvPr id="20" name="Text 18"/>
          <p:cNvSpPr/>
          <p:nvPr/>
        </p:nvSpPr>
        <p:spPr>
          <a:xfrm>
            <a:off x="475488" y="4096512"/>
            <a:ext cx="3886200" cy="640080"/>
          </a:xfrm>
          <a:prstGeom prst="rect">
            <a:avLst/>
          </a:prstGeom>
          <a:noFill/>
          <a:ln/>
        </p:spPr>
        <p:txBody>
          <a:bodyPr wrap="square" rtlCol="0" anchor="t"/>
          <a:lstStyle/>
          <a:p>
            <a:pPr indent="0" marL="0">
              <a:buNone/>
            </a:pPr>
            <a:r>
              <a:rPr lang="en-US" sz="880" dirty="0">
                <a:solidFill>
                  <a:srgbClr val="374151"/>
                </a:solidFill>
                <a:latin typeface="Calibri" pitchFamily="34" charset="0"/>
                <a:ea typeface="Calibri" pitchFamily="34" charset="-122"/>
                <a:cs typeface="Calibri" pitchFamily="34" charset="-120"/>
              </a:rPr>
              <a:t>Ragi (Nutri-cereal, National Millet Mission), Karuppu Kavuni (GI-tagged Tamil Nadu heirloom black rice, near-extinct variety), and urad dal — 100% indigenous ingredients. OBI creating commercial demand for Karuppu Kavuni directly supports heirloom variety conservation and farmer income. Vocal for Local. Make in India.</a:t>
            </a:r>
            <a:endParaRPr lang="en-US" sz="880" dirty="0"/>
          </a:p>
        </p:txBody>
      </p:sp>
      <p:sp>
        <p:nvSpPr>
          <p:cNvPr id="21" name="Shape 19"/>
          <p:cNvSpPr/>
          <p:nvPr/>
        </p:nvSpPr>
        <p:spPr>
          <a:xfrm>
            <a:off x="4663440" y="1143000"/>
            <a:ext cx="4114800" cy="1143000"/>
          </a:xfrm>
          <a:prstGeom prst="roundRect">
            <a:avLst>
              <a:gd name="adj" fmla="val 6400"/>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2" name="Shape 20"/>
          <p:cNvSpPr/>
          <p:nvPr/>
        </p:nvSpPr>
        <p:spPr>
          <a:xfrm>
            <a:off x="4773168" y="1252728"/>
            <a:ext cx="822960" cy="256032"/>
          </a:xfrm>
          <a:prstGeom prst="roundRect">
            <a:avLst>
              <a:gd name="adj" fmla="val 17857"/>
            </a:avLst>
          </a:prstGeom>
          <a:solidFill>
            <a:srgbClr val="E6F7F5"/>
          </a:solidFill>
          <a:ln w="6350">
            <a:solidFill>
              <a:srgbClr val="CCEDE9"/>
            </a:solidFill>
            <a:prstDash val="solid"/>
          </a:ln>
        </p:spPr>
      </p:sp>
      <p:sp>
        <p:nvSpPr>
          <p:cNvPr id="23" name="Text 21"/>
          <p:cNvSpPr/>
          <p:nvPr/>
        </p:nvSpPr>
        <p:spPr>
          <a:xfrm>
            <a:off x="4773168" y="1252728"/>
            <a:ext cx="822960" cy="256032"/>
          </a:xfrm>
          <a:prstGeom prst="rect">
            <a:avLst/>
          </a:prstGeom>
          <a:noFill/>
          <a:ln/>
        </p:spPr>
        <p:txBody>
          <a:bodyPr wrap="square" lIns="0" tIns="0" rIns="0" bIns="0" rtlCol="0" anchor="ctr"/>
          <a:lstStyle/>
          <a:p>
            <a:pPr algn="ctr" indent="0" marL="0">
              <a:buNone/>
            </a:pPr>
            <a:r>
              <a:rPr lang="en-US" sz="900" b="1" dirty="0">
                <a:solidFill>
                  <a:srgbClr val="0A6059"/>
                </a:solidFill>
                <a:latin typeface="Calibri" pitchFamily="34" charset="0"/>
                <a:ea typeface="Calibri" pitchFamily="34" charset="-122"/>
                <a:cs typeface="Calibri" pitchFamily="34" charset="-120"/>
              </a:rPr>
              <a:t>Science-Backed Claims</a:t>
            </a:r>
            <a:endParaRPr lang="en-US" sz="900" dirty="0"/>
          </a:p>
        </p:txBody>
      </p:sp>
      <p:sp>
        <p:nvSpPr>
          <p:cNvPr id="24" name="Text 22"/>
          <p:cNvSpPr/>
          <p:nvPr/>
        </p:nvSpPr>
        <p:spPr>
          <a:xfrm>
            <a:off x="5669280" y="1234440"/>
            <a:ext cx="2971800" cy="292608"/>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Not Lifestyle Marketing</a:t>
            </a:r>
            <a:endParaRPr lang="en-US" sz="1100" dirty="0"/>
          </a:p>
        </p:txBody>
      </p:sp>
      <p:sp>
        <p:nvSpPr>
          <p:cNvPr id="25" name="Text 23"/>
          <p:cNvSpPr/>
          <p:nvPr/>
        </p:nvSpPr>
        <p:spPr>
          <a:xfrm>
            <a:off x="4773168" y="1572768"/>
            <a:ext cx="3886200" cy="640080"/>
          </a:xfrm>
          <a:prstGeom prst="rect">
            <a:avLst/>
          </a:prstGeom>
          <a:noFill/>
          <a:ln/>
        </p:spPr>
        <p:txBody>
          <a:bodyPr wrap="square" rtlCol="0" anchor="t"/>
          <a:lstStyle/>
          <a:p>
            <a:pPr indent="0" marL="0">
              <a:buNone/>
            </a:pPr>
            <a:r>
              <a:rPr lang="en-US" sz="880" dirty="0">
                <a:solidFill>
                  <a:srgbClr val="374151"/>
                </a:solidFill>
                <a:latin typeface="Calibri" pitchFamily="34" charset="0"/>
                <a:ea typeface="Calibri" pitchFamily="34" charset="-122"/>
                <a:cs typeface="Calibri" pitchFamily="34" charset="-120"/>
              </a:rPr>
              <a:t>Every SKU is designed around specific target bioactives and specific extraction protocols. We do not make generic 'immune boost' claims — we target hericenones, cordycepin, ganoderic acids, and GABA specifically.</a:t>
            </a:r>
            <a:endParaRPr lang="en-US" sz="880" dirty="0"/>
          </a:p>
        </p:txBody>
      </p:sp>
      <p:sp>
        <p:nvSpPr>
          <p:cNvPr id="26" name="Shape 24"/>
          <p:cNvSpPr/>
          <p:nvPr/>
        </p:nvSpPr>
        <p:spPr>
          <a:xfrm>
            <a:off x="4663440" y="2404872"/>
            <a:ext cx="4114800" cy="1143000"/>
          </a:xfrm>
          <a:prstGeom prst="roundRect">
            <a:avLst>
              <a:gd name="adj" fmla="val 6400"/>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7" name="Shape 25"/>
          <p:cNvSpPr/>
          <p:nvPr/>
        </p:nvSpPr>
        <p:spPr>
          <a:xfrm>
            <a:off x="4773168" y="2514600"/>
            <a:ext cx="822960" cy="256032"/>
          </a:xfrm>
          <a:prstGeom prst="roundRect">
            <a:avLst>
              <a:gd name="adj" fmla="val 17857"/>
            </a:avLst>
          </a:prstGeom>
          <a:solidFill>
            <a:srgbClr val="E6F7F5"/>
          </a:solidFill>
          <a:ln w="6350">
            <a:solidFill>
              <a:srgbClr val="CCEDE9"/>
            </a:solidFill>
            <a:prstDash val="solid"/>
          </a:ln>
        </p:spPr>
      </p:sp>
      <p:sp>
        <p:nvSpPr>
          <p:cNvPr id="28" name="Text 26"/>
          <p:cNvSpPr/>
          <p:nvPr/>
        </p:nvSpPr>
        <p:spPr>
          <a:xfrm>
            <a:off x="4773168" y="2514600"/>
            <a:ext cx="822960" cy="256032"/>
          </a:xfrm>
          <a:prstGeom prst="rect">
            <a:avLst/>
          </a:prstGeom>
          <a:noFill/>
          <a:ln/>
        </p:spPr>
        <p:txBody>
          <a:bodyPr wrap="square" lIns="0" tIns="0" rIns="0" bIns="0" rtlCol="0" anchor="ctr"/>
          <a:lstStyle/>
          <a:p>
            <a:pPr algn="ctr" indent="0" marL="0">
              <a:buNone/>
            </a:pPr>
            <a:r>
              <a:rPr lang="en-US" sz="900" b="1" dirty="0">
                <a:solidFill>
                  <a:srgbClr val="0A6059"/>
                </a:solidFill>
                <a:latin typeface="Calibri" pitchFamily="34" charset="0"/>
                <a:ea typeface="Calibri" pitchFamily="34" charset="-122"/>
                <a:cs typeface="Calibri" pitchFamily="34" charset="-120"/>
              </a:rPr>
              <a:t>No Synthetic Additives</a:t>
            </a:r>
            <a:endParaRPr lang="en-US" sz="900" dirty="0"/>
          </a:p>
        </p:txBody>
      </p:sp>
      <p:sp>
        <p:nvSpPr>
          <p:cNvPr id="29" name="Text 27"/>
          <p:cNvSpPr/>
          <p:nvPr/>
        </p:nvSpPr>
        <p:spPr>
          <a:xfrm>
            <a:off x="5669280" y="2496312"/>
            <a:ext cx="2971800" cy="292608"/>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Clean Label</a:t>
            </a:r>
            <a:endParaRPr lang="en-US" sz="1100" dirty="0"/>
          </a:p>
        </p:txBody>
      </p:sp>
      <p:sp>
        <p:nvSpPr>
          <p:cNvPr id="30" name="Text 28"/>
          <p:cNvSpPr/>
          <p:nvPr/>
        </p:nvSpPr>
        <p:spPr>
          <a:xfrm>
            <a:off x="4773168" y="2834640"/>
            <a:ext cx="3886200" cy="640080"/>
          </a:xfrm>
          <a:prstGeom prst="rect">
            <a:avLst/>
          </a:prstGeom>
          <a:noFill/>
          <a:ln/>
        </p:spPr>
        <p:txBody>
          <a:bodyPr wrap="square" rtlCol="0" anchor="t"/>
          <a:lstStyle/>
          <a:p>
            <a:pPr indent="0" marL="0">
              <a:buNone/>
            </a:pPr>
            <a:r>
              <a:rPr lang="en-US" sz="880" dirty="0">
                <a:solidFill>
                  <a:srgbClr val="374151"/>
                </a:solidFill>
                <a:latin typeface="Calibri" pitchFamily="34" charset="0"/>
                <a:ea typeface="Calibri" pitchFamily="34" charset="-122"/>
                <a:cs typeface="Calibri" pitchFamily="34" charset="-120"/>
              </a:rPr>
              <a:t>No MSG, no synthetic preservatives, no artificial colours. GABA is produced naturally in-situ. Fermentation provides natural preservation and flavour.</a:t>
            </a:r>
            <a:endParaRPr lang="en-US" sz="880" dirty="0"/>
          </a:p>
        </p:txBody>
      </p:sp>
      <p:sp>
        <p:nvSpPr>
          <p:cNvPr id="31" name="Shape 29"/>
          <p:cNvSpPr/>
          <p:nvPr/>
        </p:nvSpPr>
        <p:spPr>
          <a:xfrm>
            <a:off x="365760" y="4480560"/>
            <a:ext cx="8412480" cy="457200"/>
          </a:xfrm>
          <a:prstGeom prst="roundRect">
            <a:avLst>
              <a:gd name="adj" fmla="val 14000"/>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32" name="Text 30"/>
          <p:cNvSpPr/>
          <p:nvPr/>
        </p:nvSpPr>
        <p:spPr>
          <a:xfrm>
            <a:off x="548640" y="4526280"/>
            <a:ext cx="8046720" cy="347472"/>
          </a:xfrm>
          <a:prstGeom prst="rect">
            <a:avLst/>
          </a:prstGeom>
          <a:noFill/>
          <a:ln/>
        </p:spPr>
        <p:txBody>
          <a:bodyPr wrap="square" rtlCol="0" anchor="ctr"/>
          <a:lstStyle/>
          <a:p>
            <a:pPr algn="ctr" indent="0" marL="0">
              <a:buNone/>
            </a:pPr>
            <a:r>
              <a:rPr lang="en-US" sz="950" b="1" dirty="0">
                <a:solidFill>
                  <a:srgbClr val="0A6059"/>
                </a:solidFill>
                <a:latin typeface="Calibri" pitchFamily="34" charset="0"/>
                <a:ea typeface="Calibri" pitchFamily="34" charset="-122"/>
                <a:cs typeface="Calibri" pitchFamily="34" charset="-120"/>
              </a:rPr>
              <a:t>OBI is building a full-scale Indian functional food brand — not just 3 beverages. Current SKUs are the validation-stage starting point. More products and product varieties will be developed.  ·  Working SKU names (CLARITY / MOMENTUM / VITALITY) are internal references only — not finalised brand identities.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1755648"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1755648"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SOLUTION (CONTINUED)</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Third-Party Validation  ·  Regulatory Status  ·  Intellectual Property</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Shape 4"/>
          <p:cNvSpPr/>
          <p:nvPr/>
        </p:nvSpPr>
        <p:spPr>
          <a:xfrm>
            <a:off x="365760" y="1097280"/>
            <a:ext cx="8412480" cy="1207008"/>
          </a:xfrm>
          <a:prstGeom prst="roundRect">
            <a:avLst>
              <a:gd name="adj" fmla="val 6061"/>
            </a:avLst>
          </a:prstGeom>
          <a:solidFill>
            <a:srgbClr val="FFFBEB"/>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7" name="Shape 5"/>
          <p:cNvSpPr/>
          <p:nvPr/>
        </p:nvSpPr>
        <p:spPr>
          <a:xfrm>
            <a:off x="548640" y="1170432"/>
            <a:ext cx="1905610" cy="228600"/>
          </a:xfrm>
          <a:prstGeom prst="roundRect">
            <a:avLst>
              <a:gd name="adj" fmla="val 20000"/>
            </a:avLst>
          </a:prstGeom>
          <a:solidFill>
            <a:srgbClr val="D97706"/>
          </a:solidFill>
          <a:ln w="12700">
            <a:solidFill>
              <a:srgbClr val="D97706"/>
            </a:solidFill>
            <a:prstDash val="solid"/>
          </a:ln>
        </p:spPr>
      </p:sp>
      <p:sp>
        <p:nvSpPr>
          <p:cNvPr id="8" name="Text 6"/>
          <p:cNvSpPr/>
          <p:nvPr/>
        </p:nvSpPr>
        <p:spPr>
          <a:xfrm>
            <a:off x="548640" y="1170432"/>
            <a:ext cx="1905610"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THIRD-PARTY VALIDATED?</a:t>
            </a:r>
            <a:endParaRPr lang="en-US" sz="700" dirty="0"/>
          </a:p>
        </p:txBody>
      </p:sp>
      <p:sp>
        <p:nvSpPr>
          <p:cNvPr id="9" name="Text 7"/>
          <p:cNvSpPr/>
          <p:nvPr/>
        </p:nvSpPr>
        <p:spPr>
          <a:xfrm>
            <a:off x="548640" y="1444752"/>
            <a:ext cx="8046720" cy="256032"/>
          </a:xfrm>
          <a:prstGeom prst="rect">
            <a:avLst/>
          </a:prstGeom>
          <a:noFill/>
          <a:ln/>
        </p:spPr>
        <p:txBody>
          <a:bodyPr wrap="square" rtlCol="0" anchor="ctr"/>
          <a:lstStyle/>
          <a:p>
            <a:pPr indent="0" marL="0">
              <a:buNone/>
            </a:pPr>
            <a:r>
              <a:rPr lang="en-US" sz="1100" b="1" dirty="0">
                <a:solidFill>
                  <a:srgbClr val="7C2D12"/>
                </a:solidFill>
                <a:latin typeface="Calibri" pitchFamily="34" charset="0"/>
                <a:ea typeface="Calibri" pitchFamily="34" charset="-122"/>
                <a:cs typeface="Calibri" pitchFamily="34" charset="-120"/>
              </a:rPr>
              <a:t>Not yet — validation is the funded objective of this SISFS application.</a:t>
            </a:r>
            <a:endParaRPr lang="en-US" sz="1100" dirty="0"/>
          </a:p>
        </p:txBody>
      </p:sp>
      <p:sp>
        <p:nvSpPr>
          <p:cNvPr id="10" name="Text 8"/>
          <p:cNvSpPr/>
          <p:nvPr/>
        </p:nvSpPr>
        <p:spPr>
          <a:xfrm>
            <a:off x="548640" y="1700784"/>
            <a:ext cx="8046720" cy="530352"/>
          </a:xfrm>
          <a:prstGeom prst="rect">
            <a:avLst/>
          </a:prstGeom>
          <a:noFill/>
          <a:ln/>
        </p:spPr>
        <p:txBody>
          <a:bodyPr wrap="square" rtlCol="0" anchor="ctr"/>
          <a:lstStyle/>
          <a:p>
            <a:pPr indent="0" marL="0">
              <a:buNone/>
            </a:pPr>
            <a:r>
              <a:rPr lang="en-US" sz="950" b="1" dirty="0">
                <a:solidFill>
                  <a:srgbClr val="374151"/>
                </a:solidFill>
                <a:latin typeface="Calibri" pitchFamily="34" charset="0"/>
                <a:ea typeface="Calibri" pitchFamily="34" charset="-122"/>
                <a:cs typeface="Calibri" pitchFamily="34" charset="-120"/>
              </a:rPr>
              <a:t xml:space="preserve">Planned: </a:t>
            </a:r>
            <a:pPr indent="0" marL="0">
              <a:buNone/>
            </a:pPr>
            <a:r>
              <a:rPr lang="en-US" sz="950" dirty="0">
                <a:solidFill>
                  <a:srgbClr val="374151"/>
                </a:solidFill>
                <a:latin typeface="Calibri" pitchFamily="34" charset="0"/>
                <a:ea typeface="Calibri" pitchFamily="34" charset="-122"/>
                <a:cs typeface="Calibri" pitchFamily="34" charset="-120"/>
              </a:rPr>
              <a:t xml:space="preserve">NABL-accredited microbial testing (total plate count, coliforms, pathogens, heavy metals) on 3 production batches  ·  </a:t>
            </a:r>
            <a:pPr indent="0" marL="0">
              <a:buNone/>
            </a:pPr>
            <a:r>
              <a:rPr lang="en-US" sz="950" b="1" dirty="0">
                <a:solidFill>
                  <a:srgbClr val="374151"/>
                </a:solidFill>
                <a:latin typeface="Calibri" pitchFamily="34" charset="0"/>
                <a:ea typeface="Calibri" pitchFamily="34" charset="-122"/>
                <a:cs typeface="Calibri" pitchFamily="34" charset="-120"/>
              </a:rPr>
              <a:t xml:space="preserve">HPLC bioactive quantification: </a:t>
            </a:r>
            <a:pPr indent="0" marL="0">
              <a:buNone/>
            </a:pPr>
            <a:r>
              <a:rPr lang="en-US" sz="950" dirty="0">
                <a:solidFill>
                  <a:srgbClr val="374151"/>
                </a:solidFill>
                <a:latin typeface="Calibri" pitchFamily="34" charset="0"/>
                <a:ea typeface="Calibri" pitchFamily="34" charset="-122"/>
                <a:cs typeface="Calibri" pitchFamily="34" charset="-120"/>
              </a:rPr>
              <a:t xml:space="preserve">GABA yield, hericenones, cordycepin, beta-glucans  ·  </a:t>
            </a:r>
            <a:pPr indent="0" marL="0">
              <a:buNone/>
            </a:pPr>
            <a:r>
              <a:rPr lang="en-US" sz="950" dirty="0">
                <a:solidFill>
                  <a:srgbClr val="374151"/>
                </a:solidFill>
                <a:latin typeface="Calibri" pitchFamily="34" charset="0"/>
                <a:ea typeface="Calibri" pitchFamily="34" charset="-122"/>
                <a:cs typeface="Calibri" pitchFamily="34" charset="-120"/>
              </a:rPr>
              <a:t>Shelf-life accelerated study (6 months)</a:t>
            </a:r>
            <a:endParaRPr lang="en-US" sz="950" dirty="0"/>
          </a:p>
        </p:txBody>
      </p:sp>
      <p:sp>
        <p:nvSpPr>
          <p:cNvPr id="11" name="Shape 9"/>
          <p:cNvSpPr/>
          <p:nvPr/>
        </p:nvSpPr>
        <p:spPr>
          <a:xfrm>
            <a:off x="365760" y="2450592"/>
            <a:ext cx="4160520" cy="1371600"/>
          </a:xfrm>
          <a:prstGeom prst="roundRect">
            <a:avLst>
              <a:gd name="adj" fmla="val 5333"/>
            </a:avLst>
          </a:prstGeom>
          <a:solidFill>
            <a:srgbClr val="F0F9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2" name="Shape 10"/>
          <p:cNvSpPr/>
          <p:nvPr/>
        </p:nvSpPr>
        <p:spPr>
          <a:xfrm>
            <a:off x="548640" y="2523744"/>
            <a:ext cx="1755648" cy="228600"/>
          </a:xfrm>
          <a:prstGeom prst="roundRect">
            <a:avLst>
              <a:gd name="adj" fmla="val 20000"/>
            </a:avLst>
          </a:prstGeom>
          <a:solidFill>
            <a:srgbClr val="0369A1"/>
          </a:solidFill>
          <a:ln w="12700">
            <a:solidFill>
              <a:srgbClr val="0369A1"/>
            </a:solidFill>
            <a:prstDash val="solid"/>
          </a:ln>
        </p:spPr>
      </p:sp>
      <p:sp>
        <p:nvSpPr>
          <p:cNvPr id="13" name="Text 11"/>
          <p:cNvSpPr/>
          <p:nvPr/>
        </p:nvSpPr>
        <p:spPr>
          <a:xfrm>
            <a:off x="548640" y="2523744"/>
            <a:ext cx="1755648"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REGULATORY APPROVAL?</a:t>
            </a:r>
            <a:endParaRPr lang="en-US" sz="700" dirty="0"/>
          </a:p>
        </p:txBody>
      </p:sp>
      <p:sp>
        <p:nvSpPr>
          <p:cNvPr id="14" name="Text 12"/>
          <p:cNvSpPr/>
          <p:nvPr/>
        </p:nvSpPr>
        <p:spPr>
          <a:xfrm>
            <a:off x="548640" y="2798064"/>
            <a:ext cx="3749040" cy="274320"/>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FSSAI State Manufacturing Licence — To Be Applied</a:t>
            </a:r>
            <a:endParaRPr lang="en-US" sz="1050" dirty="0"/>
          </a:p>
        </p:txBody>
      </p:sp>
      <p:sp>
        <p:nvSpPr>
          <p:cNvPr id="15" name="Text 13"/>
          <p:cNvSpPr/>
          <p:nvPr/>
        </p:nvSpPr>
        <p:spPr>
          <a:xfrm>
            <a:off x="548640" y="3072384"/>
            <a:ext cx="3749040" cy="658368"/>
          </a:xfrm>
          <a:prstGeom prst="rect">
            <a:avLst/>
          </a:prstGeom>
          <a:noFill/>
          <a:ln/>
        </p:spPr>
        <p:txBody>
          <a:bodyPr wrap="square" rtlCol="0" anchor="t"/>
          <a:lstStyle/>
          <a:p>
            <a:pPr indent="0" marL="0">
              <a:buNone/>
            </a:pPr>
            <a:r>
              <a:rPr lang="en-US" sz="900" b="1" dirty="0">
                <a:solidFill>
                  <a:srgbClr val="374151"/>
                </a:solidFill>
                <a:latin typeface="Calibri" pitchFamily="34" charset="0"/>
                <a:ea typeface="Calibri" pitchFamily="34" charset="-122"/>
                <a:cs typeface="Calibri" pitchFamily="34" charset="-120"/>
              </a:rPr>
              <a:t xml:space="preserve">Status: </a:t>
            </a:r>
            <a:pPr indent="0" marL="0">
              <a:buNone/>
            </a:pPr>
            <a:r>
              <a:rPr lang="en-US" sz="900" dirty="0">
                <a:solidFill>
                  <a:srgbClr val="374151"/>
                </a:solidFill>
                <a:latin typeface="Calibri" pitchFamily="34" charset="0"/>
                <a:ea typeface="Calibri" pitchFamily="34" charset="-122"/>
                <a:cs typeface="Calibri" pitchFamily="34" charset="-120"/>
              </a:rPr>
              <a:t>Not yet applied. Application in preparation.
</a:t>
            </a:r>
            <a:pPr indent="0" marL="0">
              <a:buNone/>
            </a:pPr>
            <a:r>
              <a:rPr lang="en-US" sz="900" b="1" dirty="0">
                <a:solidFill>
                  <a:srgbClr val="374151"/>
                </a:solidFill>
                <a:latin typeface="Calibri" pitchFamily="34" charset="0"/>
                <a:ea typeface="Calibri" pitchFamily="34" charset="-122"/>
                <a:cs typeface="Calibri" pitchFamily="34" charset="-120"/>
              </a:rPr>
              <a:t xml:space="preserve">Processing time: </a:t>
            </a:r>
            <a:pPr indent="0" marL="0">
              <a:buNone/>
            </a:pPr>
            <a:r>
              <a:rPr lang="en-US" sz="900" dirty="0">
                <a:solidFill>
                  <a:srgbClr val="374151"/>
                </a:solidFill>
                <a:latin typeface="Calibri" pitchFamily="34" charset="0"/>
                <a:ea typeface="Calibri" pitchFamily="34" charset="-122"/>
                <a:cs typeface="Calibri" pitchFamily="34" charset="-120"/>
              </a:rPr>
              <a:t>30–60 days once submitted (State Licence standard processing time).
</a:t>
            </a:r>
            <a:pPr indent="0" marL="0">
              <a:buNone/>
            </a:pPr>
            <a:r>
              <a:rPr lang="en-US" sz="900" i="1" dirty="0">
                <a:solidFill>
                  <a:srgbClr val="374151"/>
                </a:solidFill>
                <a:latin typeface="Calibri" pitchFamily="34" charset="0"/>
                <a:ea typeface="Calibri" pitchFamily="34" charset="-122"/>
                <a:cs typeface="Calibri" pitchFamily="34" charset="-120"/>
              </a:rPr>
              <a:t>Commercial production gated on licence grant.</a:t>
            </a:r>
            <a:endParaRPr lang="en-US" sz="900" dirty="0"/>
          </a:p>
        </p:txBody>
      </p:sp>
      <p:sp>
        <p:nvSpPr>
          <p:cNvPr id="16" name="Shape 14"/>
          <p:cNvSpPr/>
          <p:nvPr/>
        </p:nvSpPr>
        <p:spPr>
          <a:xfrm>
            <a:off x="4709160" y="2450592"/>
            <a:ext cx="4069080" cy="1371600"/>
          </a:xfrm>
          <a:prstGeom prst="roundRect">
            <a:avLst>
              <a:gd name="adj" fmla="val 5333"/>
            </a:avLst>
          </a:prstGeom>
          <a:solidFill>
            <a:srgbClr val="F5F3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7" name="Shape 15"/>
          <p:cNvSpPr/>
          <p:nvPr/>
        </p:nvSpPr>
        <p:spPr>
          <a:xfrm>
            <a:off x="4892040" y="2523744"/>
            <a:ext cx="1830629" cy="228600"/>
          </a:xfrm>
          <a:prstGeom prst="roundRect">
            <a:avLst>
              <a:gd name="adj" fmla="val 20000"/>
            </a:avLst>
          </a:prstGeom>
          <a:solidFill>
            <a:srgbClr val="7C3AED"/>
          </a:solidFill>
          <a:ln w="12700">
            <a:solidFill>
              <a:srgbClr val="7C3AED"/>
            </a:solidFill>
            <a:prstDash val="solid"/>
          </a:ln>
        </p:spPr>
      </p:sp>
      <p:sp>
        <p:nvSpPr>
          <p:cNvPr id="18" name="Text 16"/>
          <p:cNvSpPr/>
          <p:nvPr/>
        </p:nvSpPr>
        <p:spPr>
          <a:xfrm>
            <a:off x="4892040" y="2523744"/>
            <a:ext cx="1830629"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INTELLECTUAL PROPERTY</a:t>
            </a:r>
            <a:endParaRPr lang="en-US" sz="700" dirty="0"/>
          </a:p>
        </p:txBody>
      </p:sp>
      <p:sp>
        <p:nvSpPr>
          <p:cNvPr id="19" name="Text 17"/>
          <p:cNvSpPr/>
          <p:nvPr/>
        </p:nvSpPr>
        <p:spPr>
          <a:xfrm>
            <a:off x="4892040" y="2798064"/>
            <a:ext cx="3749040" cy="932688"/>
          </a:xfrm>
          <a:prstGeom prst="rect">
            <a:avLst/>
          </a:prstGeom>
          <a:noFill/>
          <a:ln/>
        </p:spPr>
        <p:txBody>
          <a:bodyPr wrap="square" rtlCol="0" anchor="t"/>
          <a:lstStyle/>
          <a:p>
            <a:pPr indent="0" marL="0">
              <a:buNone/>
            </a:pPr>
            <a:r>
              <a:rPr lang="en-US" sz="850" b="1" dirty="0">
                <a:solidFill>
                  <a:srgbClr val="059669"/>
                </a:solidFill>
                <a:latin typeface="Calibri" pitchFamily="34" charset="0"/>
                <a:ea typeface="Calibri" pitchFamily="34" charset="-122"/>
                <a:cs typeface="Calibri" pitchFamily="34" charset="-120"/>
              </a:rPr>
              <a:t xml:space="preserve">✓ DPIIT Recognised: </a:t>
            </a:r>
            <a:pPr indent="0" marL="0">
              <a:buNone/>
            </a:pPr>
            <a:r>
              <a:rPr lang="en-US" sz="850" dirty="0">
                <a:solidFill>
                  <a:srgbClr val="374151"/>
                </a:solidFill>
                <a:latin typeface="Calibri" pitchFamily="34" charset="0"/>
                <a:ea typeface="Calibri" pitchFamily="34" charset="-122"/>
                <a:cs typeface="Calibri" pitchFamily="34" charset="-120"/>
              </a:rPr>
              <a:t>DIPP258270 — DeepTech, Biotechnology. Valid to 2036.
</a:t>
            </a:r>
            <a:endParaRPr lang="en-US" sz="850" dirty="0"/>
          </a:p>
          <a:p>
            <a:pPr indent="0" marL="0">
              <a:buNone/>
            </a:pPr>
            <a:r>
              <a:rPr lang="en-US" sz="850" b="1" dirty="0">
                <a:solidFill>
                  <a:srgbClr val="D97706"/>
                </a:solidFill>
                <a:latin typeface="Calibri" pitchFamily="34" charset="0"/>
                <a:ea typeface="Calibri" pitchFamily="34" charset="-122"/>
                <a:cs typeface="Calibri" pitchFamily="34" charset="-120"/>
              </a:rPr>
              <a:t xml:space="preserve">⧗ Patent: </a:t>
            </a:r>
            <a:pPr indent="0" marL="0">
              <a:buNone/>
            </a:pPr>
            <a:r>
              <a:rPr lang="en-US" sz="850" dirty="0">
                <a:solidFill>
                  <a:srgbClr val="374151"/>
                </a:solidFill>
                <a:latin typeface="Calibri" pitchFamily="34" charset="0"/>
                <a:ea typeface="Calibri" pitchFamily="34" charset="-122"/>
                <a:cs typeface="Calibri" pitchFamily="34" charset="-120"/>
              </a:rPr>
              <a:t>Discussions initiated with registered patent agent (IPO Chennai). Provisional application in preparation — filing planned after HPLC data confirmation and MTCC strain deposit. Not yet filed.
</a:t>
            </a:r>
            <a:endParaRPr lang="en-US" sz="850" dirty="0"/>
          </a:p>
          <a:p>
            <a:pPr indent="0" marL="0">
              <a:buNone/>
            </a:pPr>
            <a:r>
              <a:rPr lang="en-US" sz="850" b="1" dirty="0">
                <a:solidFill>
                  <a:srgbClr val="059669"/>
                </a:solidFill>
                <a:latin typeface="Calibri" pitchFamily="34" charset="0"/>
                <a:ea typeface="Calibri" pitchFamily="34" charset="-122"/>
                <a:cs typeface="Calibri" pitchFamily="34" charset="-120"/>
              </a:rPr>
              <a:t xml:space="preserve">✓ OxyOS Platform: </a:t>
            </a:r>
            <a:pPr indent="0" marL="0">
              <a:buNone/>
            </a:pPr>
            <a:r>
              <a:rPr lang="en-US" sz="850" dirty="0">
                <a:solidFill>
                  <a:srgbClr val="374151"/>
                </a:solidFill>
                <a:latin typeface="Calibri" pitchFamily="34" charset="0"/>
                <a:ea typeface="Calibri" pitchFamily="34" charset="-122"/>
                <a:cs typeface="Calibri" pitchFamily="34" charset="-120"/>
              </a:rPr>
              <a:t>Automatic copyright on creation.
</a:t>
            </a:r>
            <a:endParaRPr lang="en-US" sz="850" dirty="0"/>
          </a:p>
          <a:p>
            <a:pPr indent="0" marL="0">
              <a:buNone/>
            </a:pPr>
            <a:r>
              <a:rPr lang="en-US" sz="850" b="1" dirty="0">
                <a:solidFill>
                  <a:srgbClr val="D97706"/>
                </a:solidFill>
                <a:latin typeface="Calibri" pitchFamily="34" charset="0"/>
                <a:ea typeface="Calibri" pitchFamily="34" charset="-122"/>
                <a:cs typeface="Calibri" pitchFamily="34" charset="-120"/>
              </a:rPr>
              <a:t xml:space="preserve">⧗ Trademarks: </a:t>
            </a:r>
            <a:pPr indent="0" marL="0">
              <a:buNone/>
            </a:pPr>
            <a:r>
              <a:rPr lang="en-US" sz="850" dirty="0">
                <a:solidFill>
                  <a:srgbClr val="374151"/>
                </a:solidFill>
                <a:latin typeface="Calibri" pitchFamily="34" charset="0"/>
                <a:ea typeface="Calibri" pitchFamily="34" charset="-122"/>
                <a:cs typeface="Calibri" pitchFamily="34" charset="-120"/>
              </a:rPr>
              <a:t>CLARITY, MOMENTUM, VITALITY — filing planned, Class 32 + Class 5.</a:t>
            </a:r>
            <a:endParaRPr lang="en-US" sz="850" dirty="0"/>
          </a:p>
        </p:txBody>
      </p:sp>
      <p:sp>
        <p:nvSpPr>
          <p:cNvPr id="20" name="Text 18"/>
          <p:cNvSpPr/>
          <p:nvPr/>
        </p:nvSpPr>
        <p:spPr>
          <a:xfrm>
            <a:off x="365760" y="3931920"/>
            <a:ext cx="8412480" cy="347472"/>
          </a:xfrm>
          <a:prstGeom prst="rect">
            <a:avLst/>
          </a:prstGeom>
          <a:noFill/>
          <a:ln/>
        </p:spPr>
        <p:txBody>
          <a:bodyPr wrap="square"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OBI is at Phase 0 validation stage. All claims above are scientifically grounded — all confirmatory tests are deliverables of the SISFS-funded work plan.</a:t>
            </a:r>
            <a:endParaRPr lang="en-US" sz="900" dirty="0"/>
          </a:p>
        </p:txBody>
      </p:sp>
      <p:sp>
        <p:nvSpPr>
          <p:cNvPr id="21" name="Shape 19"/>
          <p:cNvSpPr/>
          <p:nvPr/>
        </p:nvSpPr>
        <p:spPr>
          <a:xfrm>
            <a:off x="365760" y="4315968"/>
            <a:ext cx="8412480" cy="566928"/>
          </a:xfrm>
          <a:prstGeom prst="roundRect">
            <a:avLst>
              <a:gd name="adj" fmla="val 12903"/>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2" name="Text 20"/>
          <p:cNvSpPr/>
          <p:nvPr/>
        </p:nvSpPr>
        <p:spPr>
          <a:xfrm>
            <a:off x="548640" y="4389120"/>
            <a:ext cx="2286000" cy="182880"/>
          </a:xfrm>
          <a:prstGeom prst="rect">
            <a:avLst/>
          </a:prstGeom>
          <a:noFill/>
          <a:ln/>
        </p:spPr>
        <p:txBody>
          <a:bodyPr wrap="square" rtlCol="0" anchor="ctr"/>
          <a:lstStyle/>
          <a:p>
            <a:pPr indent="0" marL="0">
              <a:buNone/>
            </a:pPr>
            <a:r>
              <a:rPr lang="en-US" sz="800" b="1" dirty="0">
                <a:solidFill>
                  <a:srgbClr val="0A6059"/>
                </a:solidFill>
                <a:latin typeface="Calibri" pitchFamily="34" charset="0"/>
                <a:ea typeface="Calibri" pitchFamily="34" charset="-122"/>
                <a:cs typeface="Calibri" pitchFamily="34" charset="-120"/>
              </a:rPr>
              <a:t>Phase 0 Milestones Completed:</a:t>
            </a:r>
            <a:endParaRPr lang="en-US" sz="800" dirty="0"/>
          </a:p>
        </p:txBody>
      </p:sp>
      <p:sp>
        <p:nvSpPr>
          <p:cNvPr id="23" name="Text 21"/>
          <p:cNvSpPr/>
          <p:nvPr/>
        </p:nvSpPr>
        <p:spPr>
          <a:xfrm>
            <a:off x="2743200" y="4389120"/>
            <a:ext cx="5852160" cy="420624"/>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 pH endpoint 3.8–4.2 confirmed — Trial Batch 1 (bench probe)</a:t>
            </a:r>
            <a:endParaRPr lang="en-US" sz="850" dirty="0"/>
          </a:p>
          <a:p>
            <a:pPr indent="0" marL="0">
              <a:buNone/>
            </a:pPr>
            <a:r>
              <a:rPr lang="en-US" sz="850" dirty="0">
                <a:solidFill>
                  <a:srgbClr val="374151"/>
                </a:solidFill>
                <a:latin typeface="Calibri" pitchFamily="34" charset="0"/>
                <a:ea typeface="Calibri" pitchFamily="34" charset="-122"/>
                <a:cs typeface="Calibri" pitchFamily="34" charset="-120"/>
              </a:rPr>
              <a:t>✓ MacConkey contamination baseline established</a:t>
            </a:r>
            <a:endParaRPr lang="en-US" sz="850" dirty="0"/>
          </a:p>
          <a:p>
            <a:pPr indent="0" marL="0">
              <a:buNone/>
            </a:pPr>
            <a:r>
              <a:rPr lang="en-US" sz="850" dirty="0">
                <a:solidFill>
                  <a:srgbClr val="374151"/>
                </a:solidFill>
                <a:latin typeface="Calibri" pitchFamily="34" charset="0"/>
                <a:ea typeface="Calibri" pitchFamily="34" charset="-122"/>
                <a:cs typeface="Calibri" pitchFamily="34" charset="-120"/>
              </a:rPr>
              <a:t>✓ 2 batch sets completed across multiple flask conditions — substrate parameter optimisation ongoing</a:t>
            </a:r>
            <a:endParaRPr lang="en-US" sz="850" dirty="0"/>
          </a:p>
          <a:p>
            <a:pPr indent="0" marL="0">
              <a:buNone/>
            </a:pPr>
            <a:r>
              <a:rPr lang="en-US" sz="850" dirty="0">
                <a:solidFill>
                  <a:srgbClr val="374151"/>
                </a:solidFill>
                <a:latin typeface="Calibri" pitchFamily="34" charset="0"/>
                <a:ea typeface="Calibri" pitchFamily="34" charset="-122"/>
                <a:cs typeface="Calibri" pitchFamily="34" charset="-120"/>
              </a:rPr>
              <a:t>✓ OxyOS digital batch management platform live — 37 SOPs, full team acknowledged, batch tracking active</a:t>
            </a:r>
            <a:endParaRPr lang="en-US" sz="850" dirty="0"/>
          </a:p>
          <a:p>
            <a:pPr indent="0" marL="0">
              <a:buNone/>
            </a:pPr>
            <a:r>
              <a:rPr lang="en-US" sz="850" dirty="0">
                <a:solidFill>
                  <a:srgbClr val="374151"/>
                </a:solidFill>
                <a:latin typeface="Calibri" pitchFamily="34" charset="0"/>
                <a:ea typeface="Calibri" pitchFamily="34" charset="-122"/>
                <a:cs typeface="Calibri" pitchFamily="34" charset="-120"/>
              </a:rPr>
              <a:t>✓ Market analysis and product basic design completed</a:t>
            </a:r>
            <a:endParaRPr lang="en-US" sz="850" dirty="0"/>
          </a:p>
          <a:p>
            <a:pPr indent="0" marL="0">
              <a:buNone/>
            </a:pPr>
            <a:r>
              <a:rPr lang="en-US" sz="850" dirty="0">
                <a:solidFill>
                  <a:srgbClr val="059669"/>
                </a:solidFill>
                <a:latin typeface="Calibri" pitchFamily="34" charset="0"/>
                <a:ea typeface="Calibri" pitchFamily="34" charset="-122"/>
                <a:cs typeface="Calibri" pitchFamily="34" charset="-120"/>
              </a:rPr>
              <a:t>✓ C-CAMP NBEC 2026 application submitted — result awaited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1755648"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1755648"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SOLUTION (CONTINUED)</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Market Size  ·  Customer Segment  ·  Stage of Development  ·  Orders</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Shape 4"/>
          <p:cNvSpPr/>
          <p:nvPr/>
        </p:nvSpPr>
        <p:spPr>
          <a:xfrm>
            <a:off x="365760" y="1097280"/>
            <a:ext cx="4114800" cy="2057400"/>
          </a:xfrm>
          <a:prstGeom prst="roundRect">
            <a:avLst>
              <a:gd name="adj" fmla="val 3556"/>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7" name="Shape 5"/>
          <p:cNvSpPr/>
          <p:nvPr/>
        </p:nvSpPr>
        <p:spPr>
          <a:xfrm>
            <a:off x="548640" y="1170432"/>
            <a:ext cx="2430475" cy="228600"/>
          </a:xfrm>
          <a:prstGeom prst="roundRect">
            <a:avLst>
              <a:gd name="adj" fmla="val 20000"/>
            </a:avLst>
          </a:prstGeom>
          <a:solidFill>
            <a:srgbClr val="0D9488"/>
          </a:solidFill>
          <a:ln w="12700">
            <a:solidFill>
              <a:srgbClr val="0D9488"/>
            </a:solidFill>
            <a:prstDash val="solid"/>
          </a:ln>
        </p:spPr>
      </p:sp>
      <p:sp>
        <p:nvSpPr>
          <p:cNvPr id="8" name="Text 6"/>
          <p:cNvSpPr/>
          <p:nvPr/>
        </p:nvSpPr>
        <p:spPr>
          <a:xfrm>
            <a:off x="548640" y="1170432"/>
            <a:ext cx="2430475"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MARKET SIZE — TAM / SAM / SOM</a:t>
            </a:r>
            <a:endParaRPr lang="en-US" sz="700" dirty="0"/>
          </a:p>
        </p:txBody>
      </p:sp>
      <p:sp>
        <p:nvSpPr>
          <p:cNvPr id="9" name="Shape 7"/>
          <p:cNvSpPr/>
          <p:nvPr/>
        </p:nvSpPr>
        <p:spPr>
          <a:xfrm>
            <a:off x="502920" y="1463040"/>
            <a:ext cx="457200" cy="475488"/>
          </a:xfrm>
          <a:prstGeom prst="roundRect">
            <a:avLst>
              <a:gd name="adj" fmla="val 10000"/>
            </a:avLst>
          </a:prstGeom>
          <a:solidFill>
            <a:srgbClr val="0D9488"/>
          </a:solidFill>
          <a:ln w="12700">
            <a:solidFill>
              <a:srgbClr val="0D9488"/>
            </a:solidFill>
            <a:prstDash val="solid"/>
          </a:ln>
        </p:spPr>
      </p:sp>
      <p:sp>
        <p:nvSpPr>
          <p:cNvPr id="10" name="Text 8"/>
          <p:cNvSpPr/>
          <p:nvPr/>
        </p:nvSpPr>
        <p:spPr>
          <a:xfrm>
            <a:off x="502920" y="1463040"/>
            <a:ext cx="457200"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TAM</a:t>
            </a:r>
            <a:endParaRPr lang="en-US" sz="900" dirty="0"/>
          </a:p>
        </p:txBody>
      </p:sp>
      <p:sp>
        <p:nvSpPr>
          <p:cNvPr id="11" name="Text 9"/>
          <p:cNvSpPr/>
          <p:nvPr/>
        </p:nvSpPr>
        <p:spPr>
          <a:xfrm>
            <a:off x="1051560" y="1481328"/>
            <a:ext cx="3246120" cy="201168"/>
          </a:xfrm>
          <a:prstGeom prst="rect">
            <a:avLst/>
          </a:prstGeom>
          <a:noFill/>
          <a:ln/>
        </p:spPr>
        <p:txBody>
          <a:bodyPr wrap="square"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India Functional Beverages</a:t>
            </a:r>
            <a:endParaRPr lang="en-US" sz="900" dirty="0"/>
          </a:p>
        </p:txBody>
      </p:sp>
      <p:sp>
        <p:nvSpPr>
          <p:cNvPr id="12" name="Text 10"/>
          <p:cNvSpPr/>
          <p:nvPr/>
        </p:nvSpPr>
        <p:spPr>
          <a:xfrm>
            <a:off x="1051560" y="1682496"/>
            <a:ext cx="3246120" cy="201168"/>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$6.9B (₹57,000 Cr) India Functional Beverages 2025 · ₹4,200 Cr South India 18–45 Urban (bottom-up, Census + Nielsen)</a:t>
            </a:r>
            <a:endParaRPr lang="en-US" sz="850" dirty="0"/>
          </a:p>
        </p:txBody>
      </p:sp>
      <p:sp>
        <p:nvSpPr>
          <p:cNvPr id="13" name="Shape 11"/>
          <p:cNvSpPr/>
          <p:nvPr/>
        </p:nvSpPr>
        <p:spPr>
          <a:xfrm>
            <a:off x="502920" y="2039112"/>
            <a:ext cx="457200" cy="475488"/>
          </a:xfrm>
          <a:prstGeom prst="roundRect">
            <a:avLst>
              <a:gd name="adj" fmla="val 10000"/>
            </a:avLst>
          </a:prstGeom>
          <a:solidFill>
            <a:srgbClr val="0D9488"/>
          </a:solidFill>
          <a:ln w="12700">
            <a:solidFill>
              <a:srgbClr val="0D9488"/>
            </a:solidFill>
            <a:prstDash val="solid"/>
          </a:ln>
        </p:spPr>
      </p:sp>
      <p:sp>
        <p:nvSpPr>
          <p:cNvPr id="14" name="Text 12"/>
          <p:cNvSpPr/>
          <p:nvPr/>
        </p:nvSpPr>
        <p:spPr>
          <a:xfrm>
            <a:off x="502920" y="2039112"/>
            <a:ext cx="457200"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SAM</a:t>
            </a:r>
            <a:endParaRPr lang="en-US" sz="900" dirty="0"/>
          </a:p>
        </p:txBody>
      </p:sp>
      <p:sp>
        <p:nvSpPr>
          <p:cNvPr id="15" name="Text 13"/>
          <p:cNvSpPr/>
          <p:nvPr/>
        </p:nvSpPr>
        <p:spPr>
          <a:xfrm>
            <a:off x="1051560" y="2057400"/>
            <a:ext cx="3246120" cy="201168"/>
          </a:xfrm>
          <a:prstGeom prst="rect">
            <a:avLst/>
          </a:prstGeom>
          <a:noFill/>
          <a:ln/>
        </p:spPr>
        <p:txBody>
          <a:bodyPr wrap="square"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Urban functional RTD, South India</a:t>
            </a:r>
            <a:endParaRPr lang="en-US" sz="900" dirty="0"/>
          </a:p>
        </p:txBody>
      </p:sp>
      <p:sp>
        <p:nvSpPr>
          <p:cNvPr id="16" name="Text 14"/>
          <p:cNvSpPr/>
          <p:nvPr/>
        </p:nvSpPr>
        <p:spPr>
          <a:xfrm>
            <a:off x="1051560" y="2258568"/>
            <a:ext cx="3246120" cy="201168"/>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₹264–336 Cr — Bengaluru + Chennai + Hosur, 18–35, D2C + quick commerce reachable (1.1–1.4M consumers)</a:t>
            </a:r>
            <a:endParaRPr lang="en-US" sz="850" dirty="0"/>
          </a:p>
        </p:txBody>
      </p:sp>
      <p:sp>
        <p:nvSpPr>
          <p:cNvPr id="17" name="Shape 15"/>
          <p:cNvSpPr/>
          <p:nvPr/>
        </p:nvSpPr>
        <p:spPr>
          <a:xfrm>
            <a:off x="502920" y="2615184"/>
            <a:ext cx="457200" cy="475488"/>
          </a:xfrm>
          <a:prstGeom prst="roundRect">
            <a:avLst>
              <a:gd name="adj" fmla="val 10000"/>
            </a:avLst>
          </a:prstGeom>
          <a:solidFill>
            <a:srgbClr val="0D9488"/>
          </a:solidFill>
          <a:ln w="12700">
            <a:solidFill>
              <a:srgbClr val="0D9488"/>
            </a:solidFill>
            <a:prstDash val="solid"/>
          </a:ln>
        </p:spPr>
      </p:sp>
      <p:sp>
        <p:nvSpPr>
          <p:cNvPr id="18" name="Text 16"/>
          <p:cNvSpPr/>
          <p:nvPr/>
        </p:nvSpPr>
        <p:spPr>
          <a:xfrm>
            <a:off x="502920" y="2615184"/>
            <a:ext cx="457200"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SOM</a:t>
            </a:r>
            <a:endParaRPr lang="en-US" sz="900" dirty="0"/>
          </a:p>
        </p:txBody>
      </p:sp>
      <p:sp>
        <p:nvSpPr>
          <p:cNvPr id="19" name="Text 17"/>
          <p:cNvSpPr/>
          <p:nvPr/>
        </p:nvSpPr>
        <p:spPr>
          <a:xfrm>
            <a:off x="1051560" y="2633472"/>
            <a:ext cx="3246120" cy="201168"/>
          </a:xfrm>
          <a:prstGeom prst="rect">
            <a:avLst/>
          </a:prstGeom>
          <a:noFill/>
          <a:ln/>
        </p:spPr>
        <p:txBody>
          <a:bodyPr wrap="square"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Year 1 SOM — Concrete beachhead</a:t>
            </a:r>
            <a:endParaRPr lang="en-US" sz="900" dirty="0"/>
          </a:p>
        </p:txBody>
      </p:sp>
      <p:sp>
        <p:nvSpPr>
          <p:cNvPr id="20" name="Text 18"/>
          <p:cNvSpPr/>
          <p:nvPr/>
        </p:nvSpPr>
        <p:spPr>
          <a:xfrm>
            <a:off x="1051560" y="2834640"/>
            <a:ext cx="3246120" cy="201168"/>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500 customers (10% of Adhiyamaan College, 5,000 students) + early Bengaluru accounts · ₹10–17L Yr1 · ₹80–150L Yr3 · ~2 purchases/week per active customer</a:t>
            </a:r>
            <a:endParaRPr lang="en-US" sz="850" dirty="0"/>
          </a:p>
        </p:txBody>
      </p:sp>
      <p:sp>
        <p:nvSpPr>
          <p:cNvPr id="21" name="Shape 19"/>
          <p:cNvSpPr/>
          <p:nvPr/>
        </p:nvSpPr>
        <p:spPr>
          <a:xfrm>
            <a:off x="4663440" y="1097280"/>
            <a:ext cx="4114800" cy="2057400"/>
          </a:xfrm>
          <a:prstGeom prst="roundRect">
            <a:avLst>
              <a:gd name="adj" fmla="val 3556"/>
            </a:avLst>
          </a:prstGeom>
          <a:solidFill>
            <a:srgbClr val="F0F9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2" name="Shape 20"/>
          <p:cNvSpPr/>
          <p:nvPr/>
        </p:nvSpPr>
        <p:spPr>
          <a:xfrm>
            <a:off x="4846320" y="1170432"/>
            <a:ext cx="1455725" cy="228600"/>
          </a:xfrm>
          <a:prstGeom prst="roundRect">
            <a:avLst>
              <a:gd name="adj" fmla="val 20000"/>
            </a:avLst>
          </a:prstGeom>
          <a:solidFill>
            <a:srgbClr val="0369A1"/>
          </a:solidFill>
          <a:ln w="12700">
            <a:solidFill>
              <a:srgbClr val="0369A1"/>
            </a:solidFill>
            <a:prstDash val="solid"/>
          </a:ln>
        </p:spPr>
      </p:sp>
      <p:sp>
        <p:nvSpPr>
          <p:cNvPr id="23" name="Text 21"/>
          <p:cNvSpPr/>
          <p:nvPr/>
        </p:nvSpPr>
        <p:spPr>
          <a:xfrm>
            <a:off x="4846320" y="1170432"/>
            <a:ext cx="1455725"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CUSTOMER SEGMENT</a:t>
            </a:r>
            <a:endParaRPr lang="en-US" sz="700" dirty="0"/>
          </a:p>
        </p:txBody>
      </p:sp>
      <p:sp>
        <p:nvSpPr>
          <p:cNvPr id="24" name="Text 22"/>
          <p:cNvSpPr/>
          <p:nvPr/>
        </p:nvSpPr>
        <p:spPr>
          <a:xfrm>
            <a:off x="4846320" y="1481328"/>
            <a:ext cx="3794760" cy="1600200"/>
          </a:xfrm>
          <a:prstGeom prst="rect">
            <a:avLst/>
          </a:prstGeom>
          <a:noFill/>
          <a:ln/>
        </p:spPr>
        <p:txBody>
          <a:bodyPr wrap="square" rtlCol="0" anchor="t"/>
          <a:lstStyle/>
          <a:p>
            <a:pPr indent="0" marL="0">
              <a:buNone/>
            </a:pPr>
            <a:r>
              <a:rPr lang="en-US" sz="900" b="1" dirty="0">
                <a:solidFill>
                  <a:srgbClr val="374151"/>
                </a:solidFill>
                <a:latin typeface="Calibri" pitchFamily="34" charset="0"/>
                <a:ea typeface="Calibri" pitchFamily="34" charset="-122"/>
                <a:cs typeface="Calibri" pitchFamily="34" charset="-120"/>
              </a:rPr>
              <a:t xml:space="preserve">Primary: </a:t>
            </a:r>
            <a:pPr indent="0" marL="0">
              <a:buNone/>
            </a:pPr>
            <a:r>
              <a:rPr lang="en-US" sz="900" dirty="0">
                <a:solidFill>
                  <a:srgbClr val="374151"/>
                </a:solidFill>
                <a:latin typeface="Calibri" pitchFamily="34" charset="0"/>
                <a:ea typeface="Calibri" pitchFamily="34" charset="-122"/>
                <a:cs typeface="Calibri" pitchFamily="34" charset="-120"/>
              </a:rPr>
              <a:t>Health-aware educated urban consumers — students and professionals, 18–45, South India. Pre-launch consumer survey planned across Hosur and Bengaluru campuses and professional networks to validate willingness-to-pay and awareness baseline.
</a:t>
            </a:r>
            <a:endParaRPr lang="en-US" sz="900" dirty="0"/>
          </a:p>
          <a:p>
            <a:pPr indent="0" marL="0">
              <a:buNone/>
            </a:pPr>
            <a:r>
              <a:rPr lang="en-US" sz="900" b="1" dirty="0">
                <a:solidFill>
                  <a:srgbClr val="374151"/>
                </a:solidFill>
                <a:latin typeface="Calibri" pitchFamily="34" charset="0"/>
                <a:ea typeface="Calibri" pitchFamily="34" charset="-122"/>
                <a:cs typeface="Calibri" pitchFamily="34" charset="-120"/>
              </a:rPr>
              <a:t xml:space="preserve">Health interest: </a:t>
            </a:r>
            <a:pPr indent="0" marL="0">
              <a:buNone/>
            </a:pPr>
            <a:r>
              <a:rPr lang="en-US" sz="900" dirty="0">
                <a:solidFill>
                  <a:srgbClr val="374151"/>
                </a:solidFill>
                <a:latin typeface="Calibri" pitchFamily="34" charset="0"/>
                <a:ea typeface="Calibri" pitchFamily="34" charset="-122"/>
                <a:cs typeface="Calibri" pitchFamily="34" charset="-120"/>
              </a:rPr>
              <a:t>Cognitive performance, stress relief, energy — not gym bodybuilding
</a:t>
            </a:r>
            <a:endParaRPr lang="en-US" sz="900" dirty="0"/>
          </a:p>
          <a:p>
            <a:pPr indent="0" marL="0">
              <a:buNone/>
            </a:pPr>
            <a:r>
              <a:rPr lang="en-US" sz="900" b="1" dirty="0">
                <a:solidFill>
                  <a:srgbClr val="374151"/>
                </a:solidFill>
                <a:latin typeface="Calibri" pitchFamily="34" charset="0"/>
                <a:ea typeface="Calibri" pitchFamily="34" charset="-122"/>
                <a:cs typeface="Calibri" pitchFamily="34" charset="-120"/>
              </a:rPr>
              <a:t xml:space="preserve">Purchase behaviour: </a:t>
            </a:r>
            <a:pPr indent="0" marL="0">
              <a:buNone/>
            </a:pPr>
            <a:r>
              <a:rPr lang="en-US" sz="900" dirty="0">
                <a:solidFill>
                  <a:srgbClr val="374151"/>
                </a:solidFill>
                <a:latin typeface="Calibri" pitchFamily="34" charset="0"/>
                <a:ea typeface="Calibri" pitchFamily="34" charset="-122"/>
                <a:cs typeface="Calibri" pitchFamily="34" charset="-120"/>
              </a:rPr>
              <a:t>Daily-habit beverages, willing to pay ₹65–100 for perceived health benefit
</a:t>
            </a:r>
            <a:endParaRPr lang="en-US" sz="900" dirty="0"/>
          </a:p>
          <a:p>
            <a:pPr indent="0" marL="0">
              <a:buNone/>
            </a:pPr>
            <a:r>
              <a:rPr lang="en-US" sz="900" b="1" dirty="0">
                <a:solidFill>
                  <a:srgbClr val="374151"/>
                </a:solidFill>
                <a:latin typeface="Calibri" pitchFamily="34" charset="0"/>
                <a:ea typeface="Calibri" pitchFamily="34" charset="-122"/>
                <a:cs typeface="Calibri" pitchFamily="34" charset="-120"/>
              </a:rPr>
              <a:t xml:space="preserve">Channel: </a:t>
            </a:r>
            <a:pPr indent="0" marL="0">
              <a:buNone/>
            </a:pPr>
            <a:r>
              <a:rPr lang="en-US" sz="900" dirty="0">
                <a:solidFill>
                  <a:srgbClr val="374151"/>
                </a:solidFill>
                <a:latin typeface="Calibri" pitchFamily="34" charset="0"/>
                <a:ea typeface="Calibri" pitchFamily="34" charset="-122"/>
                <a:cs typeface="Calibri" pitchFamily="34" charset="-120"/>
              </a:rPr>
              <a:t>WhatsApp + owned website (D2C) · Blinkit, Zepto, Swiggy Instamart (quick commerce) · College canteens, gym front-desks, co-working spaces (institutional B2B) · Amazon, Flipkart (online marketplace Phase 2)</a:t>
            </a:r>
            <a:endParaRPr lang="en-US" sz="900" dirty="0"/>
          </a:p>
        </p:txBody>
      </p:sp>
      <p:sp>
        <p:nvSpPr>
          <p:cNvPr id="25" name="Shape 23"/>
          <p:cNvSpPr/>
          <p:nvPr/>
        </p:nvSpPr>
        <p:spPr>
          <a:xfrm>
            <a:off x="365760" y="3310128"/>
            <a:ext cx="4114800" cy="1508760"/>
          </a:xfrm>
          <a:prstGeom prst="roundRect">
            <a:avLst>
              <a:gd name="adj" fmla="val 4848"/>
            </a:avLst>
          </a:prstGeom>
          <a:solidFill>
            <a:srgbClr val="FFFBEB"/>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6" name="Shape 24"/>
          <p:cNvSpPr/>
          <p:nvPr/>
        </p:nvSpPr>
        <p:spPr>
          <a:xfrm>
            <a:off x="548640" y="3383280"/>
            <a:ext cx="1755648" cy="228600"/>
          </a:xfrm>
          <a:prstGeom prst="roundRect">
            <a:avLst>
              <a:gd name="adj" fmla="val 20000"/>
            </a:avLst>
          </a:prstGeom>
          <a:solidFill>
            <a:srgbClr val="D97706"/>
          </a:solidFill>
          <a:ln w="12700">
            <a:solidFill>
              <a:srgbClr val="D97706"/>
            </a:solidFill>
            <a:prstDash val="solid"/>
          </a:ln>
        </p:spPr>
      </p:sp>
      <p:sp>
        <p:nvSpPr>
          <p:cNvPr id="27" name="Text 25"/>
          <p:cNvSpPr/>
          <p:nvPr/>
        </p:nvSpPr>
        <p:spPr>
          <a:xfrm>
            <a:off x="548640" y="3383280"/>
            <a:ext cx="1755648"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STAGE OF DEVELOPMENT</a:t>
            </a:r>
            <a:endParaRPr lang="en-US" sz="700" dirty="0"/>
          </a:p>
        </p:txBody>
      </p:sp>
      <p:sp>
        <p:nvSpPr>
          <p:cNvPr id="28" name="Text 26"/>
          <p:cNvSpPr/>
          <p:nvPr/>
        </p:nvSpPr>
        <p:spPr>
          <a:xfrm>
            <a:off x="548640" y="3639312"/>
            <a:ext cx="3749040" cy="292608"/>
          </a:xfrm>
          <a:prstGeom prst="rect">
            <a:avLst/>
          </a:prstGeom>
          <a:noFill/>
          <a:ln/>
        </p:spPr>
        <p:txBody>
          <a:bodyPr wrap="square" rtlCol="0" anchor="ctr"/>
          <a:lstStyle/>
          <a:p>
            <a:pPr indent="0" marL="0">
              <a:buNone/>
            </a:pPr>
            <a:r>
              <a:rPr lang="en-US" sz="1300" b="1" dirty="0">
                <a:solidFill>
                  <a:srgbClr val="7C2D12"/>
                </a:solidFill>
                <a:latin typeface="Calibri" pitchFamily="34" charset="0"/>
                <a:ea typeface="Calibri" pitchFamily="34" charset="-122"/>
                <a:cs typeface="Calibri" pitchFamily="34" charset="-120"/>
              </a:rPr>
              <a:t>Pre-Revenue — MVP Development</a:t>
            </a:r>
            <a:endParaRPr lang="en-US" sz="1300" dirty="0"/>
          </a:p>
        </p:txBody>
      </p:sp>
      <p:sp>
        <p:nvSpPr>
          <p:cNvPr id="29" name="Text 27"/>
          <p:cNvSpPr/>
          <p:nvPr/>
        </p:nvSpPr>
        <p:spPr>
          <a:xfrm>
            <a:off x="548640" y="3950208"/>
            <a:ext cx="3749040" cy="795528"/>
          </a:xfrm>
          <a:prstGeom prst="rect">
            <a:avLst/>
          </a:prstGeom>
          <a:noFill/>
          <a:ln/>
        </p:spPr>
        <p:txBody>
          <a:bodyPr wrap="square" rtlCol="0" anchor="t"/>
          <a:lstStyle/>
          <a:p>
            <a:pPr indent="0" marL="0">
              <a:buNone/>
            </a:pPr>
            <a:r>
              <a:rPr lang="en-US" sz="900" dirty="0">
                <a:solidFill>
                  <a:srgbClr val="374151"/>
                </a:solidFill>
                <a:latin typeface="Calibri" pitchFamily="34" charset="0"/>
                <a:ea typeface="Calibri" pitchFamily="34" charset="-122"/>
                <a:cs typeface="Calibri" pitchFamily="34" charset="-120"/>
              </a:rPr>
              <a:t>Phase 0 lab validation in progress at TBI-DETI@ACE, Hosur (250ml working volume).
</a:t>
            </a:r>
            <a:pPr indent="0" marL="0">
              <a:buNone/>
            </a:pPr>
            <a:r>
              <a:rPr lang="en-US" sz="900" dirty="0">
                <a:solidFill>
                  <a:srgbClr val="374151"/>
                </a:solidFill>
                <a:latin typeface="Calibri" pitchFamily="34" charset="0"/>
                <a:ea typeface="Calibri" pitchFamily="34" charset="-122"/>
                <a:cs typeface="Calibri" pitchFamily="34" charset="-120"/>
              </a:rPr>
              <a:t>Product launch target: Q1 2027, post-FSSAI licence.
</a:t>
            </a:r>
            <a:pPr indent="0" marL="0">
              <a:buNone/>
            </a:pPr>
            <a:r>
              <a:rPr lang="en-US" sz="900" i="1" dirty="0">
                <a:solidFill>
                  <a:srgbClr val="374151"/>
                </a:solidFill>
                <a:latin typeface="Calibri" pitchFamily="34" charset="0"/>
                <a:ea typeface="Calibri" pitchFamily="34" charset="-122"/>
                <a:cs typeface="Calibri" pitchFamily="34" charset="-120"/>
              </a:rPr>
              <a:t>No commercial production until regulatory clearance obtained.</a:t>
            </a:r>
            <a:endParaRPr lang="en-US" sz="900" dirty="0"/>
          </a:p>
        </p:txBody>
      </p:sp>
      <p:sp>
        <p:nvSpPr>
          <p:cNvPr id="30" name="Shape 28"/>
          <p:cNvSpPr/>
          <p:nvPr/>
        </p:nvSpPr>
        <p:spPr>
          <a:xfrm>
            <a:off x="4663440" y="3310128"/>
            <a:ext cx="4114800" cy="1508760"/>
          </a:xfrm>
          <a:prstGeom prst="roundRect">
            <a:avLst>
              <a:gd name="adj" fmla="val 4848"/>
            </a:avLst>
          </a:prstGeom>
          <a:solidFill>
            <a:srgbClr val="FFF1F2"/>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31" name="Shape 29"/>
          <p:cNvSpPr/>
          <p:nvPr/>
        </p:nvSpPr>
        <p:spPr>
          <a:xfrm>
            <a:off x="4846320" y="3383280"/>
            <a:ext cx="2130552" cy="228600"/>
          </a:xfrm>
          <a:prstGeom prst="roundRect">
            <a:avLst>
              <a:gd name="adj" fmla="val 20000"/>
            </a:avLst>
          </a:prstGeom>
          <a:solidFill>
            <a:srgbClr val="DC2626"/>
          </a:solidFill>
          <a:ln w="12700">
            <a:solidFill>
              <a:srgbClr val="DC2626"/>
            </a:solidFill>
            <a:prstDash val="solid"/>
          </a:ln>
        </p:spPr>
      </p:sp>
      <p:sp>
        <p:nvSpPr>
          <p:cNvPr id="32" name="Text 30"/>
          <p:cNvSpPr/>
          <p:nvPr/>
        </p:nvSpPr>
        <p:spPr>
          <a:xfrm>
            <a:off x="4846320" y="3383280"/>
            <a:ext cx="2130552"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ORDERS RECEIVED / ON HAND</a:t>
            </a:r>
            <a:endParaRPr lang="en-US" sz="700" dirty="0"/>
          </a:p>
        </p:txBody>
      </p:sp>
      <p:sp>
        <p:nvSpPr>
          <p:cNvPr id="33" name="Text 31"/>
          <p:cNvSpPr/>
          <p:nvPr/>
        </p:nvSpPr>
        <p:spPr>
          <a:xfrm>
            <a:off x="4846320" y="3639312"/>
            <a:ext cx="3749040" cy="292608"/>
          </a:xfrm>
          <a:prstGeom prst="rect">
            <a:avLst/>
          </a:prstGeom>
          <a:noFill/>
          <a:ln/>
        </p:spPr>
        <p:txBody>
          <a:bodyPr wrap="square" rtlCol="0" anchor="ctr"/>
          <a:lstStyle/>
          <a:p>
            <a:pPr indent="0" marL="0">
              <a:buNone/>
            </a:pPr>
            <a:r>
              <a:rPr lang="en-US" sz="1300" b="1" dirty="0">
                <a:solidFill>
                  <a:srgbClr val="DC2626"/>
                </a:solidFill>
                <a:latin typeface="Calibri" pitchFamily="34" charset="0"/>
                <a:ea typeface="Calibri" pitchFamily="34" charset="-122"/>
                <a:cs typeface="Calibri" pitchFamily="34" charset="-120"/>
              </a:rPr>
              <a:t>Zero — Pre-Revenue by Design</a:t>
            </a:r>
            <a:endParaRPr lang="en-US" sz="1300" dirty="0"/>
          </a:p>
        </p:txBody>
      </p:sp>
      <p:sp>
        <p:nvSpPr>
          <p:cNvPr id="34" name="Text 32"/>
          <p:cNvSpPr/>
          <p:nvPr/>
        </p:nvSpPr>
        <p:spPr>
          <a:xfrm>
            <a:off x="4846320" y="3950208"/>
            <a:ext cx="3749040" cy="795528"/>
          </a:xfrm>
          <a:prstGeom prst="rect">
            <a:avLst/>
          </a:prstGeom>
          <a:noFill/>
          <a:ln/>
        </p:spPr>
        <p:txBody>
          <a:bodyPr wrap="square" rtlCol="0" anchor="t"/>
          <a:lstStyle/>
          <a:p>
            <a:pPr indent="0" marL="0">
              <a:buNone/>
            </a:pPr>
            <a:r>
              <a:rPr lang="en-US" sz="900" dirty="0">
                <a:solidFill>
                  <a:srgbClr val="374151"/>
                </a:solidFill>
                <a:latin typeface="Calibri" pitchFamily="34" charset="0"/>
                <a:ea typeface="Calibri" pitchFamily="34" charset="-122"/>
                <a:cs typeface="Calibri" pitchFamily="34" charset="-120"/>
              </a:rPr>
              <a:t>FSSAI state manufacturing licence is required before any commercial sale or distribution can legally commence under Indian food safety law.
</a:t>
            </a:r>
            <a:pPr indent="0" marL="0">
              <a:buNone/>
            </a:pPr>
            <a:r>
              <a:rPr lang="en-US" sz="900" dirty="0">
                <a:solidFill>
                  <a:srgbClr val="374151"/>
                </a:solidFill>
                <a:latin typeface="Calibri" pitchFamily="34" charset="0"/>
                <a:ea typeface="Calibri" pitchFamily="34" charset="-122"/>
                <a:cs typeface="Calibri" pitchFamily="34" charset="-120"/>
              </a:rPr>
              <a:t>We are completing the validation work that makes us sale-ready. This SISFS grant accelerates that path.
</a:t>
            </a:r>
            <a:pPr indent="0" marL="0">
              <a:buNone/>
            </a:pPr>
            <a:r>
              <a:rPr lang="en-US" sz="900" i="1" dirty="0">
                <a:solidFill>
                  <a:srgbClr val="374151"/>
                </a:solidFill>
                <a:latin typeface="Calibri" pitchFamily="34" charset="0"/>
                <a:ea typeface="Calibri" pitchFamily="34" charset="-122"/>
                <a:cs typeface="Calibri" pitchFamily="34" charset="-120"/>
              </a:rPr>
              <a:t>Revenue commencement: Month 7–9 post-FSSAI licence grant.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1455725"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1455725"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UNFAIR ADVANTAGE</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What Makes OBI Difficult to Replicate — and Built to Survive Long-Term</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Shape 4"/>
          <p:cNvSpPr/>
          <p:nvPr/>
        </p:nvSpPr>
        <p:spPr>
          <a:xfrm>
            <a:off x="365760" y="1143000"/>
            <a:ext cx="4114800" cy="1325880"/>
          </a:xfrm>
          <a:prstGeom prst="roundRect">
            <a:avLst>
              <a:gd name="adj" fmla="val 5517"/>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7" name="Shape 5"/>
          <p:cNvSpPr/>
          <p:nvPr/>
        </p:nvSpPr>
        <p:spPr>
          <a:xfrm>
            <a:off x="475488" y="1252728"/>
            <a:ext cx="365760" cy="365760"/>
          </a:xfrm>
          <a:prstGeom prst="roundRect">
            <a:avLst>
              <a:gd name="adj" fmla="val 12500"/>
            </a:avLst>
          </a:prstGeom>
          <a:solidFill>
            <a:srgbClr val="E6F7F5"/>
          </a:solidFill>
          <a:ln w="6350">
            <a:solidFill>
              <a:srgbClr val="CCEDE9"/>
            </a:solidFill>
            <a:prstDash val="solid"/>
          </a:ln>
        </p:spPr>
      </p:sp>
      <p:sp>
        <p:nvSpPr>
          <p:cNvPr id="8" name="Text 6"/>
          <p:cNvSpPr/>
          <p:nvPr/>
        </p:nvSpPr>
        <p:spPr>
          <a:xfrm>
            <a:off x="475488" y="1252728"/>
            <a:ext cx="365760" cy="365760"/>
          </a:xfrm>
          <a:prstGeom prst="rect">
            <a:avLst/>
          </a:prstGeom>
          <a:noFill/>
          <a:ln/>
        </p:spPr>
        <p:txBody>
          <a:bodyPr wrap="square" lIns="0" tIns="0" rIns="0" bIns="0" rtlCol="0" anchor="ctr"/>
          <a:lstStyle/>
          <a:p>
            <a:pPr algn="ctr" indent="0" marL="0">
              <a:buNone/>
            </a:pPr>
            <a:r>
              <a:rPr lang="en-US" sz="1100" b="1" dirty="0">
                <a:solidFill>
                  <a:srgbClr val="0A6059"/>
                </a:solidFill>
                <a:latin typeface="Calibri" pitchFamily="34" charset="0"/>
                <a:ea typeface="Calibri" pitchFamily="34" charset="-122"/>
                <a:cs typeface="Calibri" pitchFamily="34" charset="-120"/>
              </a:rPr>
              <a:t>01</a:t>
            </a:r>
            <a:endParaRPr lang="en-US" sz="1100" dirty="0"/>
          </a:p>
        </p:txBody>
      </p:sp>
      <p:sp>
        <p:nvSpPr>
          <p:cNvPr id="9" name="Text 7"/>
          <p:cNvSpPr/>
          <p:nvPr/>
        </p:nvSpPr>
        <p:spPr>
          <a:xfrm>
            <a:off x="932688" y="1234440"/>
            <a:ext cx="3429000" cy="438912"/>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Pharma-Grade</a:t>
            </a:r>
            <a:endParaRPr lang="en-US" sz="1100" dirty="0"/>
          </a:p>
          <a:p>
            <a:pPr indent="0" marL="0">
              <a:buNone/>
            </a:pPr>
            <a:r>
              <a:rPr lang="en-US" sz="1100" b="1" dirty="0">
                <a:solidFill>
                  <a:srgbClr val="1E293B"/>
                </a:solidFill>
                <a:latin typeface="Calibri" pitchFamily="34" charset="0"/>
                <a:ea typeface="Calibri" pitchFamily="34" charset="-122"/>
                <a:cs typeface="Calibri" pitchFamily="34" charset="-120"/>
              </a:rPr>
              <a:t>Fermentation Pedigree</a:t>
            </a:r>
            <a:endParaRPr lang="en-US" sz="1100" dirty="0"/>
          </a:p>
        </p:txBody>
      </p:sp>
      <p:sp>
        <p:nvSpPr>
          <p:cNvPr id="10" name="Text 8"/>
          <p:cNvSpPr/>
          <p:nvPr/>
        </p:nvSpPr>
        <p:spPr>
          <a:xfrm>
            <a:off x="475488" y="1709928"/>
            <a:ext cx="3886200" cy="685800"/>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Our CEO's prior role at Anthem Biosciences (pharma-grade microbial upstream R&amp;D, Bengaluru) gives us process rigour that consumer-food competitors typically lack. We apply pharmaceutical process discipline to food fermentation.</a:t>
            </a:r>
            <a:endParaRPr lang="en-US" sz="850" dirty="0"/>
          </a:p>
        </p:txBody>
      </p:sp>
      <p:sp>
        <p:nvSpPr>
          <p:cNvPr id="11" name="Shape 9"/>
          <p:cNvSpPr/>
          <p:nvPr/>
        </p:nvSpPr>
        <p:spPr>
          <a:xfrm>
            <a:off x="4709160" y="1143000"/>
            <a:ext cx="4114800" cy="1325880"/>
          </a:xfrm>
          <a:prstGeom prst="roundRect">
            <a:avLst>
              <a:gd name="adj" fmla="val 5517"/>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2" name="Shape 10"/>
          <p:cNvSpPr/>
          <p:nvPr/>
        </p:nvSpPr>
        <p:spPr>
          <a:xfrm>
            <a:off x="4818888" y="1252728"/>
            <a:ext cx="365760" cy="365760"/>
          </a:xfrm>
          <a:prstGeom prst="roundRect">
            <a:avLst>
              <a:gd name="adj" fmla="val 12500"/>
            </a:avLst>
          </a:prstGeom>
          <a:solidFill>
            <a:srgbClr val="E6F7F5"/>
          </a:solidFill>
          <a:ln w="6350">
            <a:solidFill>
              <a:srgbClr val="CCEDE9"/>
            </a:solidFill>
            <a:prstDash val="solid"/>
          </a:ln>
        </p:spPr>
      </p:sp>
      <p:sp>
        <p:nvSpPr>
          <p:cNvPr id="13" name="Text 11"/>
          <p:cNvSpPr/>
          <p:nvPr/>
        </p:nvSpPr>
        <p:spPr>
          <a:xfrm>
            <a:off x="4818888" y="1252728"/>
            <a:ext cx="365760" cy="365760"/>
          </a:xfrm>
          <a:prstGeom prst="rect">
            <a:avLst/>
          </a:prstGeom>
          <a:noFill/>
          <a:ln/>
        </p:spPr>
        <p:txBody>
          <a:bodyPr wrap="square" lIns="0" tIns="0" rIns="0" bIns="0" rtlCol="0" anchor="ctr"/>
          <a:lstStyle/>
          <a:p>
            <a:pPr algn="ctr" indent="0" marL="0">
              <a:buNone/>
            </a:pPr>
            <a:r>
              <a:rPr lang="en-US" sz="1100" b="1" dirty="0">
                <a:solidFill>
                  <a:srgbClr val="0A6059"/>
                </a:solidFill>
                <a:latin typeface="Calibri" pitchFamily="34" charset="0"/>
                <a:ea typeface="Calibri" pitchFamily="34" charset="-122"/>
                <a:cs typeface="Calibri" pitchFamily="34" charset="-120"/>
              </a:rPr>
              <a:t>02</a:t>
            </a:r>
            <a:endParaRPr lang="en-US" sz="1100" dirty="0"/>
          </a:p>
        </p:txBody>
      </p:sp>
      <p:sp>
        <p:nvSpPr>
          <p:cNvPr id="14" name="Text 12"/>
          <p:cNvSpPr/>
          <p:nvPr/>
        </p:nvSpPr>
        <p:spPr>
          <a:xfrm>
            <a:off x="5276088" y="1234440"/>
            <a:ext cx="3429000" cy="438912"/>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Species-Specific</a:t>
            </a:r>
            <a:endParaRPr lang="en-US" sz="1100" dirty="0"/>
          </a:p>
          <a:p>
            <a:pPr indent="0" marL="0">
              <a:buNone/>
            </a:pPr>
            <a:r>
              <a:rPr lang="en-US" sz="1100" b="1" dirty="0">
                <a:solidFill>
                  <a:srgbClr val="1E293B"/>
                </a:solidFill>
                <a:latin typeface="Calibri" pitchFamily="34" charset="0"/>
                <a:ea typeface="Calibri" pitchFamily="34" charset="-122"/>
                <a:cs typeface="Calibri" pitchFamily="34" charset="-120"/>
              </a:rPr>
              <a:t>Extraction Protocols</a:t>
            </a:r>
            <a:endParaRPr lang="en-US" sz="1100" dirty="0"/>
          </a:p>
        </p:txBody>
      </p:sp>
      <p:sp>
        <p:nvSpPr>
          <p:cNvPr id="15" name="Text 13"/>
          <p:cNvSpPr/>
          <p:nvPr/>
        </p:nvSpPr>
        <p:spPr>
          <a:xfrm>
            <a:off x="4818888" y="1709928"/>
            <a:ext cx="3886200" cy="685800"/>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The Indian industry applies a generic hot-water extraction protocol to all mushrooms. We have developed separate protocols for each species — ≤70°C ceiling for Lion's Mane (hericenone protection), ethanol-first for Cordyceps (cordycepin preservation), dual extraction for Reishi. This is a technical moat.</a:t>
            </a:r>
            <a:endParaRPr lang="en-US" sz="850" dirty="0"/>
          </a:p>
        </p:txBody>
      </p:sp>
      <p:sp>
        <p:nvSpPr>
          <p:cNvPr id="16" name="Shape 14"/>
          <p:cNvSpPr/>
          <p:nvPr/>
        </p:nvSpPr>
        <p:spPr>
          <a:xfrm>
            <a:off x="365760" y="2633472"/>
            <a:ext cx="4114800" cy="1325880"/>
          </a:xfrm>
          <a:prstGeom prst="roundRect">
            <a:avLst>
              <a:gd name="adj" fmla="val 5517"/>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7" name="Shape 15"/>
          <p:cNvSpPr/>
          <p:nvPr/>
        </p:nvSpPr>
        <p:spPr>
          <a:xfrm>
            <a:off x="475488" y="2743200"/>
            <a:ext cx="365760" cy="365760"/>
          </a:xfrm>
          <a:prstGeom prst="roundRect">
            <a:avLst>
              <a:gd name="adj" fmla="val 12500"/>
            </a:avLst>
          </a:prstGeom>
          <a:solidFill>
            <a:srgbClr val="E6F7F5"/>
          </a:solidFill>
          <a:ln w="6350">
            <a:solidFill>
              <a:srgbClr val="CCEDE9"/>
            </a:solidFill>
            <a:prstDash val="solid"/>
          </a:ln>
        </p:spPr>
      </p:sp>
      <p:sp>
        <p:nvSpPr>
          <p:cNvPr id="18" name="Text 16"/>
          <p:cNvSpPr/>
          <p:nvPr/>
        </p:nvSpPr>
        <p:spPr>
          <a:xfrm>
            <a:off x="475488" y="2743200"/>
            <a:ext cx="365760" cy="365760"/>
          </a:xfrm>
          <a:prstGeom prst="rect">
            <a:avLst/>
          </a:prstGeom>
          <a:noFill/>
          <a:ln/>
        </p:spPr>
        <p:txBody>
          <a:bodyPr wrap="square" lIns="0" tIns="0" rIns="0" bIns="0" rtlCol="0" anchor="ctr"/>
          <a:lstStyle/>
          <a:p>
            <a:pPr algn="ctr" indent="0" marL="0">
              <a:buNone/>
            </a:pPr>
            <a:r>
              <a:rPr lang="en-US" sz="1100" b="1" dirty="0">
                <a:solidFill>
                  <a:srgbClr val="0A6059"/>
                </a:solidFill>
                <a:latin typeface="Calibri" pitchFamily="34" charset="0"/>
                <a:ea typeface="Calibri" pitchFamily="34" charset="-122"/>
                <a:cs typeface="Calibri" pitchFamily="34" charset="-120"/>
              </a:rPr>
              <a:t>03</a:t>
            </a:r>
            <a:endParaRPr lang="en-US" sz="1100" dirty="0"/>
          </a:p>
        </p:txBody>
      </p:sp>
      <p:sp>
        <p:nvSpPr>
          <p:cNvPr id="19" name="Text 17"/>
          <p:cNvSpPr/>
          <p:nvPr/>
        </p:nvSpPr>
        <p:spPr>
          <a:xfrm>
            <a:off x="932688" y="2724912"/>
            <a:ext cx="3429000" cy="438912"/>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Substrate-Engineered</a:t>
            </a:r>
            <a:endParaRPr lang="en-US" sz="1100" dirty="0"/>
          </a:p>
          <a:p>
            <a:pPr indent="0" marL="0">
              <a:buNone/>
            </a:pPr>
            <a:r>
              <a:rPr lang="en-US" sz="1100" b="1" dirty="0">
                <a:solidFill>
                  <a:srgbClr val="1E293B"/>
                </a:solidFill>
                <a:latin typeface="Calibri" pitchFamily="34" charset="0"/>
                <a:ea typeface="Calibri" pitchFamily="34" charset="-122"/>
                <a:cs typeface="Calibri" pitchFamily="34" charset="-120"/>
              </a:rPr>
              <a:t>Natural GABA</a:t>
            </a:r>
            <a:endParaRPr lang="en-US" sz="1100" dirty="0"/>
          </a:p>
        </p:txBody>
      </p:sp>
      <p:sp>
        <p:nvSpPr>
          <p:cNvPr id="20" name="Text 18"/>
          <p:cNvSpPr/>
          <p:nvPr/>
        </p:nvSpPr>
        <p:spPr>
          <a:xfrm>
            <a:off x="475488" y="3200400"/>
            <a:ext cx="3886200" cy="685800"/>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Urad dal provides natural glutamic acid as substrate for in-situ GABA biosynthesis via L. brevis enzymatic activity — no MSG, no additives. Mushroom extraction layer adds species-specific bioactives (hericenones, cordycepin, ganoderic acids, beta-glucans). Multi-bioactive validated platform — not a single-compound product.</a:t>
            </a:r>
            <a:endParaRPr lang="en-US" sz="850" dirty="0"/>
          </a:p>
        </p:txBody>
      </p:sp>
      <p:sp>
        <p:nvSpPr>
          <p:cNvPr id="21" name="Shape 19"/>
          <p:cNvSpPr/>
          <p:nvPr/>
        </p:nvSpPr>
        <p:spPr>
          <a:xfrm>
            <a:off x="4709160" y="2633472"/>
            <a:ext cx="4114800" cy="1325880"/>
          </a:xfrm>
          <a:prstGeom prst="roundRect">
            <a:avLst>
              <a:gd name="adj" fmla="val 5517"/>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2" name="Shape 20"/>
          <p:cNvSpPr/>
          <p:nvPr/>
        </p:nvSpPr>
        <p:spPr>
          <a:xfrm>
            <a:off x="4818888" y="2743200"/>
            <a:ext cx="365760" cy="365760"/>
          </a:xfrm>
          <a:prstGeom prst="roundRect">
            <a:avLst>
              <a:gd name="adj" fmla="val 12500"/>
            </a:avLst>
          </a:prstGeom>
          <a:solidFill>
            <a:srgbClr val="E6F7F5"/>
          </a:solidFill>
          <a:ln w="6350">
            <a:solidFill>
              <a:srgbClr val="CCEDE9"/>
            </a:solidFill>
            <a:prstDash val="solid"/>
          </a:ln>
        </p:spPr>
      </p:sp>
      <p:sp>
        <p:nvSpPr>
          <p:cNvPr id="23" name="Text 21"/>
          <p:cNvSpPr/>
          <p:nvPr/>
        </p:nvSpPr>
        <p:spPr>
          <a:xfrm>
            <a:off x="4818888" y="2743200"/>
            <a:ext cx="365760" cy="365760"/>
          </a:xfrm>
          <a:prstGeom prst="rect">
            <a:avLst/>
          </a:prstGeom>
          <a:noFill/>
          <a:ln/>
        </p:spPr>
        <p:txBody>
          <a:bodyPr wrap="square" lIns="0" tIns="0" rIns="0" bIns="0" rtlCol="0" anchor="ctr"/>
          <a:lstStyle/>
          <a:p>
            <a:pPr algn="ctr" indent="0" marL="0">
              <a:buNone/>
            </a:pPr>
            <a:r>
              <a:rPr lang="en-US" sz="1100" b="1" dirty="0">
                <a:solidFill>
                  <a:srgbClr val="0A6059"/>
                </a:solidFill>
                <a:latin typeface="Calibri" pitchFamily="34" charset="0"/>
                <a:ea typeface="Calibri" pitchFamily="34" charset="-122"/>
                <a:cs typeface="Calibri" pitchFamily="34" charset="-120"/>
              </a:rPr>
              <a:t>04</a:t>
            </a:r>
            <a:endParaRPr lang="en-US" sz="1100" dirty="0"/>
          </a:p>
        </p:txBody>
      </p:sp>
      <p:sp>
        <p:nvSpPr>
          <p:cNvPr id="24" name="Text 22"/>
          <p:cNvSpPr/>
          <p:nvPr/>
        </p:nvSpPr>
        <p:spPr>
          <a:xfrm>
            <a:off x="5276088" y="2724912"/>
            <a:ext cx="3429000" cy="438912"/>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OxyOS — Digital GMP</a:t>
            </a:r>
            <a:endParaRPr lang="en-US" sz="1100" dirty="0"/>
          </a:p>
          <a:p>
            <a:pPr indent="0" marL="0">
              <a:buNone/>
            </a:pPr>
            <a:r>
              <a:rPr lang="en-US" sz="1100" b="1" dirty="0">
                <a:solidFill>
                  <a:srgbClr val="1E293B"/>
                </a:solidFill>
                <a:latin typeface="Calibri" pitchFamily="34" charset="0"/>
                <a:ea typeface="Calibri" pitchFamily="34" charset="-122"/>
                <a:cs typeface="Calibri" pitchFamily="34" charset="-120"/>
              </a:rPr>
              <a:t>Platform (Pre-Revenue)</a:t>
            </a:r>
            <a:endParaRPr lang="en-US" sz="1100" dirty="0"/>
          </a:p>
        </p:txBody>
      </p:sp>
      <p:sp>
        <p:nvSpPr>
          <p:cNvPr id="25" name="Text 23"/>
          <p:cNvSpPr/>
          <p:nvPr/>
        </p:nvSpPr>
        <p:spPr>
          <a:xfrm>
            <a:off x="4818888" y="3200400"/>
            <a:ext cx="3886200" cy="685800"/>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A fully functional digital batch management platform — built before revenue. Records, maintains, and digitises every lab activity. Compares each process and batch statistically. Tracks SOP compliance, inventory, and CAPA. Full batch traceability from raw material lot to final product. Infrastructure most food startups build after Series A.</a:t>
            </a:r>
            <a:endParaRPr lang="en-US" sz="850" dirty="0"/>
          </a:p>
        </p:txBody>
      </p:sp>
      <p:sp>
        <p:nvSpPr>
          <p:cNvPr id="26" name="Shape 24"/>
          <p:cNvSpPr/>
          <p:nvPr/>
        </p:nvSpPr>
        <p:spPr>
          <a:xfrm>
            <a:off x="365760" y="4123944"/>
            <a:ext cx="8412480" cy="1325880"/>
          </a:xfrm>
          <a:prstGeom prst="roundRect">
            <a:avLst>
              <a:gd name="adj" fmla="val 5517"/>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7" name="Shape 25"/>
          <p:cNvSpPr/>
          <p:nvPr/>
        </p:nvSpPr>
        <p:spPr>
          <a:xfrm>
            <a:off x="475488" y="4233672"/>
            <a:ext cx="365760" cy="365760"/>
          </a:xfrm>
          <a:prstGeom prst="roundRect">
            <a:avLst>
              <a:gd name="adj" fmla="val 12500"/>
            </a:avLst>
          </a:prstGeom>
          <a:solidFill>
            <a:srgbClr val="E6F7F5"/>
          </a:solidFill>
          <a:ln w="6350">
            <a:solidFill>
              <a:srgbClr val="CCEDE9"/>
            </a:solidFill>
            <a:prstDash val="solid"/>
          </a:ln>
        </p:spPr>
      </p:sp>
      <p:sp>
        <p:nvSpPr>
          <p:cNvPr id="28" name="Text 26"/>
          <p:cNvSpPr/>
          <p:nvPr/>
        </p:nvSpPr>
        <p:spPr>
          <a:xfrm>
            <a:off x="475488" y="4233672"/>
            <a:ext cx="365760" cy="365760"/>
          </a:xfrm>
          <a:prstGeom prst="rect">
            <a:avLst/>
          </a:prstGeom>
          <a:noFill/>
          <a:ln/>
        </p:spPr>
        <p:txBody>
          <a:bodyPr wrap="square" lIns="0" tIns="0" rIns="0" bIns="0" rtlCol="0" anchor="ctr"/>
          <a:lstStyle/>
          <a:p>
            <a:pPr algn="ctr" indent="0" marL="0">
              <a:buNone/>
            </a:pPr>
            <a:r>
              <a:rPr lang="en-US" sz="1100" b="1" dirty="0">
                <a:solidFill>
                  <a:srgbClr val="0A6059"/>
                </a:solidFill>
                <a:latin typeface="Calibri" pitchFamily="34" charset="0"/>
                <a:ea typeface="Calibri" pitchFamily="34" charset="-122"/>
                <a:cs typeface="Calibri" pitchFamily="34" charset="-120"/>
              </a:rPr>
              <a:t>05</a:t>
            </a:r>
            <a:endParaRPr lang="en-US" sz="1100" dirty="0"/>
          </a:p>
        </p:txBody>
      </p:sp>
      <p:sp>
        <p:nvSpPr>
          <p:cNvPr id="29" name="Text 27"/>
          <p:cNvSpPr/>
          <p:nvPr/>
        </p:nvSpPr>
        <p:spPr>
          <a:xfrm>
            <a:off x="932688" y="4215384"/>
            <a:ext cx="7680960" cy="438912"/>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Platform Economics &amp;</a:t>
            </a:r>
            <a:endParaRPr lang="en-US" sz="1100" dirty="0"/>
          </a:p>
          <a:p>
            <a:pPr indent="0" marL="0">
              <a:buNone/>
            </a:pPr>
            <a:r>
              <a:rPr lang="en-US" sz="1100" b="1" dirty="0">
                <a:solidFill>
                  <a:srgbClr val="1E293B"/>
                </a:solidFill>
                <a:latin typeface="Calibri" pitchFamily="34" charset="0"/>
                <a:ea typeface="Calibri" pitchFamily="34" charset="-122"/>
                <a:cs typeface="Calibri" pitchFamily="34" charset="-120"/>
              </a:rPr>
              <a:t>Extensibility</a:t>
            </a:r>
            <a:endParaRPr lang="en-US" sz="1100" dirty="0"/>
          </a:p>
        </p:txBody>
      </p:sp>
      <p:sp>
        <p:nvSpPr>
          <p:cNvPr id="30" name="Text 28"/>
          <p:cNvSpPr/>
          <p:nvPr/>
        </p:nvSpPr>
        <p:spPr>
          <a:xfrm>
            <a:off x="475488" y="4690872"/>
            <a:ext cx="8138160" cy="685800"/>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One fermentation architecture → unlimited grain + mushroom combinations. New SKUs without process re-engineering. OBI is building a full-scale Indian functional food brand — beverages are the starting point, not the ceiling. Karuppu Kavuni (GI-tagged Tamil Nadu heirloom rice) sourcing relationships and domestic mushroom cultivation partnerships are supply chain moats no competitor can replicate quickly. National policy alignment: Make in India · Vocal for Local · National Millet Mission · Atmanirbhar Bharat.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1080821"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1080821"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COMPETITORS</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How OBI Stacks Up Against the Competitive Landscape</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8412480" cy="3657600"/>
        </p:xfrm>
        <a:graphic>
          <a:graphicData uri="http://schemas.openxmlformats.org/drawingml/2006/table">
            <a:tbl>
              <a:tblPr/>
              <a:tblGrid>
                <a:gridCol w="2468880"/>
                <a:gridCol w="1097280"/>
                <a:gridCol w="1097280"/>
                <a:gridCol w="1097280"/>
                <a:gridCol w="1097280"/>
                <a:gridCol w="1097280"/>
                <a:gridCol w="1097280"/>
              </a:tblGrid>
              <a:tr h="5029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Company / Product</a:t>
                      </a:r>
                      <a:endParaRPr lang="en-US" sz="9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c>
                  <a:txBody>
                    <a:bodyPr/>
                    <a:lstStyle/>
                    <a:p>
                      <a:pPr algn="ctr" indent="0" marL="0">
                        <a:buNone/>
                      </a:pPr>
                      <a:r>
                        <a:rPr lang="en-US" sz="800" b="1" dirty="0">
                          <a:solidFill>
                            <a:srgbClr val="0D9488"/>
                          </a:solidFill>
                          <a:latin typeface="Calibri" pitchFamily="34" charset="0"/>
                          <a:ea typeface="Calibri" pitchFamily="34" charset="-122"/>
                          <a:cs typeface="Calibri" pitchFamily="34" charset="-120"/>
                        </a:rPr>
                        <a:t>Indian Grain</a:t>
                      </a:r>
                      <a:endParaRPr lang="en-US" sz="800" dirty="0">
                        <a:latin typeface="Calibri" charset="0"/>
                        <a:ea typeface="Calibri" charset="0"/>
                        <a:cs typeface="Calibri" charset="0"/>
                      </a:endParaRPr>
                    </a:p>
                    <a:p>
                      <a:pPr algn="ctr" indent="0" marL="0">
                        <a:buNone/>
                      </a:pPr>
                      <a:r>
                        <a:rPr lang="en-US" sz="800" b="1" dirty="0">
                          <a:solidFill>
                            <a:srgbClr val="0D9488"/>
                          </a:solidFill>
                          <a:latin typeface="Calibri" pitchFamily="34" charset="0"/>
                          <a:ea typeface="Calibri" pitchFamily="34" charset="-122"/>
                          <a:cs typeface="Calibri" pitchFamily="34" charset="-120"/>
                        </a:rPr>
                        <a:t>Fermentation</a:t>
                      </a:r>
                      <a:endParaRPr lang="en-US" sz="8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c>
                  <a:txBody>
                    <a:bodyPr/>
                    <a:lstStyle/>
                    <a:p>
                      <a:pPr algn="ctr" indent="0" marL="0">
                        <a:buNone/>
                      </a:pPr>
                      <a:r>
                        <a:rPr lang="en-US" sz="800" b="1" dirty="0">
                          <a:solidFill>
                            <a:srgbClr val="0D9488"/>
                          </a:solidFill>
                          <a:latin typeface="Calibri" pitchFamily="34" charset="0"/>
                          <a:ea typeface="Calibri" pitchFamily="34" charset="-122"/>
                          <a:cs typeface="Calibri" pitchFamily="34" charset="-120"/>
                        </a:rPr>
                        <a:t>Species-Specific</a:t>
                      </a:r>
                      <a:endParaRPr lang="en-US" sz="800" dirty="0">
                        <a:latin typeface="Calibri" charset="0"/>
                        <a:ea typeface="Calibri" charset="0"/>
                        <a:cs typeface="Calibri" charset="0"/>
                      </a:endParaRPr>
                    </a:p>
                    <a:p>
                      <a:pPr algn="ctr" indent="0" marL="0">
                        <a:buNone/>
                      </a:pPr>
                      <a:r>
                        <a:rPr lang="en-US" sz="800" b="1" dirty="0">
                          <a:solidFill>
                            <a:srgbClr val="0D9488"/>
                          </a:solidFill>
                          <a:latin typeface="Calibri" pitchFamily="34" charset="0"/>
                          <a:ea typeface="Calibri" pitchFamily="34" charset="-122"/>
                          <a:cs typeface="Calibri" pitchFamily="34" charset="-120"/>
                        </a:rPr>
                        <a:t>Mushroom Extraction</a:t>
                      </a:r>
                      <a:endParaRPr lang="en-US" sz="8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c>
                  <a:txBody>
                    <a:bodyPr/>
                    <a:lstStyle/>
                    <a:p>
                      <a:pPr algn="ctr" indent="0" marL="0">
                        <a:buNone/>
                      </a:pPr>
                      <a:r>
                        <a:rPr lang="en-US" sz="800" b="1" dirty="0">
                          <a:solidFill>
                            <a:srgbClr val="0D9488"/>
                          </a:solidFill>
                          <a:latin typeface="Calibri" pitchFamily="34" charset="0"/>
                          <a:ea typeface="Calibri" pitchFamily="34" charset="-122"/>
                          <a:cs typeface="Calibri" pitchFamily="34" charset="-120"/>
                        </a:rPr>
                        <a:t>Natural GABA</a:t>
                      </a:r>
                      <a:endParaRPr lang="en-US" sz="800" dirty="0">
                        <a:latin typeface="Calibri" charset="0"/>
                        <a:ea typeface="Calibri" charset="0"/>
                        <a:cs typeface="Calibri" charset="0"/>
                      </a:endParaRPr>
                    </a:p>
                    <a:p>
                      <a:pPr algn="ctr" indent="0" marL="0">
                        <a:buNone/>
                      </a:pPr>
                      <a:r>
                        <a:rPr lang="en-US" sz="800" b="1" dirty="0">
                          <a:solidFill>
                            <a:srgbClr val="0D9488"/>
                          </a:solidFill>
                          <a:latin typeface="Calibri" pitchFamily="34" charset="0"/>
                          <a:ea typeface="Calibri" pitchFamily="34" charset="-122"/>
                          <a:cs typeface="Calibri" pitchFamily="34" charset="-120"/>
                        </a:rPr>
                        <a:t>(No MSG)</a:t>
                      </a:r>
                      <a:endParaRPr lang="en-US" sz="8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c>
                  <a:txBody>
                    <a:bodyPr/>
                    <a:lstStyle/>
                    <a:p>
                      <a:pPr algn="ctr" indent="0" marL="0">
                        <a:buNone/>
                      </a:pPr>
                      <a:r>
                        <a:rPr lang="en-US" sz="800" b="1" dirty="0">
                          <a:solidFill>
                            <a:srgbClr val="0D9488"/>
                          </a:solidFill>
                          <a:latin typeface="Calibri" pitchFamily="34" charset="0"/>
                          <a:ea typeface="Calibri" pitchFamily="34" charset="-122"/>
                          <a:cs typeface="Calibri" pitchFamily="34" charset="-120"/>
                        </a:rPr>
                        <a:t>Ambient RTD</a:t>
                      </a:r>
                      <a:endParaRPr lang="en-US" sz="800" dirty="0">
                        <a:latin typeface="Calibri" charset="0"/>
                        <a:ea typeface="Calibri" charset="0"/>
                        <a:cs typeface="Calibri" charset="0"/>
                      </a:endParaRPr>
                    </a:p>
                    <a:p>
                      <a:pPr algn="ctr" indent="0" marL="0">
                        <a:buNone/>
                      </a:pPr>
                      <a:r>
                        <a:rPr lang="en-US" sz="800" b="1" dirty="0">
                          <a:solidFill>
                            <a:srgbClr val="0D9488"/>
                          </a:solidFill>
                          <a:latin typeface="Calibri" pitchFamily="34" charset="0"/>
                          <a:ea typeface="Calibri" pitchFamily="34" charset="-122"/>
                          <a:cs typeface="Calibri" pitchFamily="34" charset="-120"/>
                        </a:rPr>
                        <a:t>(No Cold Chain)</a:t>
                      </a:r>
                      <a:endParaRPr lang="en-US" sz="8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c>
                  <a:txBody>
                    <a:bodyPr/>
                    <a:lstStyle/>
                    <a:p>
                      <a:pPr algn="ctr" indent="0" marL="0">
                        <a:buNone/>
                      </a:pPr>
                      <a:r>
                        <a:rPr lang="en-US" sz="800" b="1" dirty="0">
                          <a:solidFill>
                            <a:srgbClr val="0D9488"/>
                          </a:solidFill>
                          <a:latin typeface="Calibri" pitchFamily="34" charset="0"/>
                          <a:ea typeface="Calibri" pitchFamily="34" charset="-122"/>
                          <a:cs typeface="Calibri" pitchFamily="34" charset="-120"/>
                        </a:rPr>
                        <a:t>Medicinal</a:t>
                      </a:r>
                      <a:endParaRPr lang="en-US" sz="800" dirty="0">
                        <a:latin typeface="Calibri" charset="0"/>
                        <a:ea typeface="Calibri" charset="0"/>
                        <a:cs typeface="Calibri" charset="0"/>
                      </a:endParaRPr>
                    </a:p>
                    <a:p>
                      <a:pPr algn="ctr" indent="0" marL="0">
                        <a:buNone/>
                      </a:pPr>
                      <a:r>
                        <a:rPr lang="en-US" sz="800" b="1" dirty="0">
                          <a:solidFill>
                            <a:srgbClr val="0D9488"/>
                          </a:solidFill>
                          <a:latin typeface="Calibri" pitchFamily="34" charset="0"/>
                          <a:ea typeface="Calibri" pitchFamily="34" charset="-122"/>
                          <a:cs typeface="Calibri" pitchFamily="34" charset="-120"/>
                        </a:rPr>
                        <a:t>Mushroom Bioactives</a:t>
                      </a:r>
                      <a:endParaRPr lang="en-US" sz="8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c>
                  <a:txBody>
                    <a:bodyPr/>
                    <a:lstStyle/>
                    <a:p>
                      <a:pPr algn="ctr" indent="0" marL="0">
                        <a:buNone/>
                      </a:pPr>
                      <a:r>
                        <a:rPr lang="en-US" sz="800" b="1" dirty="0">
                          <a:solidFill>
                            <a:srgbClr val="0D9488"/>
                          </a:solidFill>
                          <a:latin typeface="Calibri" pitchFamily="34" charset="0"/>
                          <a:ea typeface="Calibri" pitchFamily="34" charset="-122"/>
                          <a:cs typeface="Calibri" pitchFamily="34" charset="-120"/>
                        </a:rPr>
                        <a:t>Sub-₹100</a:t>
                      </a:r>
                      <a:endParaRPr lang="en-US" sz="800" dirty="0">
                        <a:latin typeface="Calibri" charset="0"/>
                        <a:ea typeface="Calibri" charset="0"/>
                        <a:cs typeface="Calibri" charset="0"/>
                      </a:endParaRPr>
                    </a:p>
                    <a:p>
                      <a:pPr algn="ctr" indent="0" marL="0">
                        <a:buNone/>
                      </a:pPr>
                      <a:r>
                        <a:rPr lang="en-US" sz="800" b="1" dirty="0">
                          <a:solidFill>
                            <a:srgbClr val="0D9488"/>
                          </a:solidFill>
                          <a:latin typeface="Calibri" pitchFamily="34" charset="0"/>
                          <a:ea typeface="Calibri" pitchFamily="34" charset="-122"/>
                          <a:cs typeface="Calibri" pitchFamily="34" charset="-120"/>
                        </a:rPr>
                        <a:t>Per Serving</a:t>
                      </a:r>
                      <a:endParaRPr lang="en-US" sz="8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r>
              <a:tr h="502920">
                <a:tc>
                  <a:txBody>
                    <a:bodyPr/>
                    <a:lstStyle/>
                    <a:p>
                      <a:pPr algn="l" indent="0" marL="0">
                        <a:buNone/>
                      </a:pPr>
                      <a:r>
                        <a:rPr lang="en-US" sz="900" b="1" dirty="0">
                          <a:solidFill>
                            <a:srgbClr val="374151"/>
                          </a:solidFill>
                          <a:latin typeface="Calibri" pitchFamily="34" charset="0"/>
                          <a:ea typeface="Calibri" pitchFamily="34" charset="-122"/>
                          <a:cs typeface="Calibri" pitchFamily="34" charset="-120"/>
                        </a:rPr>
                        <a:t>OBI — CLARITY / MOMENTUM / VITALITY (Us)</a:t>
                      </a:r>
                      <a:endParaRPr lang="en-US" sz="9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r>
              <a:tr h="502920">
                <a:tc>
                  <a:txBody>
                    <a:bodyPr/>
                    <a:lstStyle/>
                    <a:p>
                      <a:pPr algn="l" indent="0" marL="0">
                        <a:buNone/>
                      </a:pPr>
                      <a:r>
                        <a:rPr lang="en-US" sz="900" dirty="0">
                          <a:solidFill>
                            <a:srgbClr val="374151"/>
                          </a:solidFill>
                          <a:latin typeface="Calibri" pitchFamily="34" charset="0"/>
                          <a:ea typeface="Calibri" pitchFamily="34" charset="-122"/>
                          <a:cs typeface="Calibri" pitchFamily="34" charset="-120"/>
                        </a:rPr>
                        <a:t>Four Sigmatic (USA import)</a:t>
                      </a:r>
                      <a:endParaRPr lang="en-US" sz="9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4530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r>
              <a:tr h="502920">
                <a:tc>
                  <a:txBody>
                    <a:bodyPr/>
                    <a:lstStyle/>
                    <a:p>
                      <a:pPr algn="l" indent="0" marL="0">
                        <a:buNone/>
                      </a:pPr>
                      <a:r>
                        <a:rPr lang="en-US" sz="900" dirty="0">
                          <a:solidFill>
                            <a:srgbClr val="374151"/>
                          </a:solidFill>
                          <a:latin typeface="Calibri" pitchFamily="34" charset="0"/>
                          <a:ea typeface="Calibri" pitchFamily="34" charset="-122"/>
                          <a:cs typeface="Calibri" pitchFamily="34" charset="-120"/>
                        </a:rPr>
                        <a:t>Himalayan Organics (capsule)</a:t>
                      </a:r>
                      <a:endParaRPr lang="en-US" sz="9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r>
              <a:tr h="502920">
                <a:tc>
                  <a:txBody>
                    <a:bodyPr/>
                    <a:lstStyle/>
                    <a:p>
                      <a:pPr algn="l" indent="0" marL="0">
                        <a:buNone/>
                      </a:pPr>
                      <a:r>
                        <a:rPr lang="en-US" sz="900" dirty="0">
                          <a:solidFill>
                            <a:srgbClr val="374151"/>
                          </a:solidFill>
                          <a:latin typeface="Calibri" pitchFamily="34" charset="0"/>
                          <a:ea typeface="Calibri" pitchFamily="34" charset="-122"/>
                          <a:cs typeface="Calibri" pitchFamily="34" charset="-120"/>
                        </a:rPr>
                        <a:t>WOW Life Science (capsule)</a:t>
                      </a:r>
                      <a:endParaRPr lang="en-US" sz="9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r>
              <a:tr h="502920">
                <a:tc>
                  <a:txBody>
                    <a:bodyPr/>
                    <a:lstStyle/>
                    <a:p>
                      <a:pPr algn="l" indent="0" marL="0">
                        <a:buNone/>
                      </a:pPr>
                      <a:r>
                        <a:rPr lang="en-US" sz="900" dirty="0">
                          <a:solidFill>
                            <a:srgbClr val="374151"/>
                          </a:solidFill>
                          <a:latin typeface="Calibri" pitchFamily="34" charset="0"/>
                          <a:ea typeface="Calibri" pitchFamily="34" charset="-122"/>
                          <a:cs typeface="Calibri" pitchFamily="34" charset="-120"/>
                        </a:rPr>
                        <a:t>Yakult India (probiotic drink)</a:t>
                      </a:r>
                      <a:endParaRPr lang="en-US" sz="9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r>
              <a:tr h="502920">
                <a:tc>
                  <a:txBody>
                    <a:bodyPr/>
                    <a:lstStyle/>
                    <a:p>
                      <a:pPr algn="l" indent="0" marL="0">
                        <a:buNone/>
                      </a:pPr>
                      <a:r>
                        <a:rPr lang="en-US" sz="900" dirty="0">
                          <a:solidFill>
                            <a:srgbClr val="374151"/>
                          </a:solidFill>
                          <a:latin typeface="Calibri" pitchFamily="34" charset="0"/>
                          <a:ea typeface="Calibri" pitchFamily="34" charset="-122"/>
                          <a:cs typeface="Calibri" pitchFamily="34" charset="-120"/>
                        </a:rPr>
                        <a:t>Paper Boat / Raw Pressery (RTD)</a:t>
                      </a:r>
                      <a:endParaRPr lang="en-US" sz="9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r>
              <a:tr h="502920">
                <a:tc>
                  <a:txBody>
                    <a:bodyPr/>
                    <a:lstStyle/>
                    <a:p>
                      <a:pPr algn="l" indent="0" marL="0">
                        <a:buNone/>
                      </a:pPr>
                      <a:r>
                        <a:rPr lang="en-US" sz="900" dirty="0">
                          <a:solidFill>
                            <a:srgbClr val="374151"/>
                          </a:solidFill>
                          <a:latin typeface="Calibri" pitchFamily="34" charset="0"/>
                          <a:ea typeface="Calibri" pitchFamily="34" charset="-122"/>
                          <a:cs typeface="Calibri" pitchFamily="34" charset="-120"/>
                        </a:rPr>
                        <a:t>BlissBody (FamNutra Millet Foods) — Fermented Millet RTD</a:t>
                      </a:r>
                      <a:endParaRPr lang="en-US" sz="9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r>
              <a:tr h="502920">
                <a:tc>
                  <a:txBody>
                    <a:bodyPr/>
                    <a:lstStyle/>
                    <a:p>
                      <a:pPr algn="l" indent="0" marL="0">
                        <a:buNone/>
                      </a:pPr>
                      <a:r>
                        <a:rPr lang="en-US" sz="900" dirty="0">
                          <a:solidFill>
                            <a:srgbClr val="374151"/>
                          </a:solidFill>
                          <a:latin typeface="Calibri" pitchFamily="34" charset="0"/>
                          <a:ea typeface="Calibri" pitchFamily="34" charset="-122"/>
                          <a:cs typeface="Calibri" pitchFamily="34" charset="-120"/>
                        </a:rPr>
                        <a:t>milSipp / Gutzy (ACUITiY / Munico) — Fermented Millet RTD</a:t>
                      </a:r>
                      <a:endParaRPr lang="en-US" sz="9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r>
            </a:tbl>
          </a:graphicData>
        </a:graphic>
      </p:graphicFrame>
      <p:sp>
        <p:nvSpPr>
          <p:cNvPr id="7" name="Text 4"/>
          <p:cNvSpPr/>
          <p:nvPr/>
        </p:nvSpPr>
        <p:spPr>
          <a:xfrm>
            <a:off x="365760" y="4754880"/>
            <a:ext cx="8412480" cy="201168"/>
          </a:xfrm>
          <a:prstGeom prst="rect">
            <a:avLst/>
          </a:prstGeom>
          <a:noFill/>
          <a:ln/>
        </p:spPr>
        <p:txBody>
          <a:bodyPr wrap="square" rtlCol="0" anchor="ctr"/>
          <a:lstStyle/>
          <a:p>
            <a:pPr indent="0" marL="0">
              <a:buNone/>
            </a:pPr>
            <a:r>
              <a:rPr lang="en-US" sz="750" i="1" dirty="0">
                <a:solidFill>
                  <a:srgbClr val="6B7280"/>
                </a:solidFill>
                <a:latin typeface="Calibri" pitchFamily="34" charset="0"/>
                <a:ea typeface="Calibri" pitchFamily="34" charset="-122"/>
                <a:cs typeface="Calibri" pitchFamily="34" charset="-120"/>
              </a:rPr>
              <a:t>~ = Partial/Claimed but not species-specific  ·  N/A = Capsule format, not applicable to this comparison</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1230782"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1230782"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REVENUE MODEL</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Three Streams — One Production Line  ·  How We Earn, Who Pays, and Our Market Strategy</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Shape 4"/>
          <p:cNvSpPr/>
          <p:nvPr/>
        </p:nvSpPr>
        <p:spPr>
          <a:xfrm>
            <a:off x="365760" y="1097280"/>
            <a:ext cx="2697480" cy="3794760"/>
          </a:xfrm>
          <a:prstGeom prst="roundRect">
            <a:avLst>
              <a:gd name="adj" fmla="val 2712"/>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7" name="Shape 5"/>
          <p:cNvSpPr/>
          <p:nvPr/>
        </p:nvSpPr>
        <p:spPr>
          <a:xfrm>
            <a:off x="475488" y="1188720"/>
            <a:ext cx="2468880" cy="256032"/>
          </a:xfrm>
          <a:prstGeom prst="roundRect">
            <a:avLst>
              <a:gd name="adj" fmla="val 17857"/>
            </a:avLst>
          </a:prstGeom>
          <a:solidFill>
            <a:srgbClr val="0D9488"/>
          </a:solidFill>
          <a:ln w="12700">
            <a:solidFill>
              <a:srgbClr val="0D9488"/>
            </a:solidFill>
            <a:prstDash val="solid"/>
          </a:ln>
        </p:spPr>
      </p:sp>
      <p:sp>
        <p:nvSpPr>
          <p:cNvPr id="8" name="Text 6"/>
          <p:cNvSpPr/>
          <p:nvPr/>
        </p:nvSpPr>
        <p:spPr>
          <a:xfrm>
            <a:off x="475488" y="1188720"/>
            <a:ext cx="24688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D2C Beverages</a:t>
            </a:r>
            <a:endParaRPr lang="en-US" sz="1000" dirty="0"/>
          </a:p>
        </p:txBody>
      </p:sp>
      <p:sp>
        <p:nvSpPr>
          <p:cNvPr id="9" name="Text 7"/>
          <p:cNvSpPr/>
          <p:nvPr/>
        </p:nvSpPr>
        <p:spPr>
          <a:xfrm>
            <a:off x="475488" y="1490472"/>
            <a:ext cx="2468880" cy="182880"/>
          </a:xfrm>
          <a:prstGeom prst="rect">
            <a:avLst/>
          </a:prstGeom>
          <a:noFill/>
          <a:ln/>
        </p:spPr>
        <p:txBody>
          <a:bodyPr wrap="square"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Phase 1 · 2026–27</a:t>
            </a:r>
            <a:endParaRPr lang="en-US" sz="800" dirty="0"/>
          </a:p>
        </p:txBody>
      </p:sp>
      <p:sp>
        <p:nvSpPr>
          <p:cNvPr id="10" name="Shape 8"/>
          <p:cNvSpPr/>
          <p:nvPr/>
        </p:nvSpPr>
        <p:spPr>
          <a:xfrm>
            <a:off x="777240" y="1719072"/>
            <a:ext cx="1865376" cy="411480"/>
          </a:xfrm>
          <a:prstGeom prst="roundRect">
            <a:avLst>
              <a:gd name="adj" fmla="val 13333"/>
            </a:avLst>
          </a:prstGeom>
          <a:solidFill>
            <a:srgbClr val="FFFFFF"/>
          </a:solidFill>
          <a:ln w="10160">
            <a:solidFill>
              <a:srgbClr val="0D9488"/>
            </a:solidFill>
            <a:prstDash val="solid"/>
          </a:ln>
        </p:spPr>
      </p:sp>
      <p:sp>
        <p:nvSpPr>
          <p:cNvPr id="11" name="Text 9"/>
          <p:cNvSpPr/>
          <p:nvPr/>
        </p:nvSpPr>
        <p:spPr>
          <a:xfrm>
            <a:off x="777240" y="1719072"/>
            <a:ext cx="1865376" cy="411480"/>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45–55% Gross Margin</a:t>
            </a:r>
            <a:endParaRPr lang="en-US" sz="1100" dirty="0"/>
          </a:p>
        </p:txBody>
      </p:sp>
      <p:sp>
        <p:nvSpPr>
          <p:cNvPr id="12" name="Shape 10"/>
          <p:cNvSpPr/>
          <p:nvPr/>
        </p:nvSpPr>
        <p:spPr>
          <a:xfrm>
            <a:off x="475488" y="2212848"/>
            <a:ext cx="2468880" cy="13716"/>
          </a:xfrm>
          <a:prstGeom prst="rect">
            <a:avLst/>
          </a:prstGeom>
          <a:solidFill>
            <a:srgbClr val="CCEDE9"/>
          </a:solidFill>
          <a:ln w="12700">
            <a:solidFill>
              <a:srgbClr val="CCEDE9"/>
            </a:solidFill>
            <a:prstDash val="solid"/>
          </a:ln>
        </p:spPr>
      </p:sp>
      <p:sp>
        <p:nvSpPr>
          <p:cNvPr id="13" name="Text 11"/>
          <p:cNvSpPr/>
          <p:nvPr/>
        </p:nvSpPr>
        <p:spPr>
          <a:xfrm>
            <a:off x="475488" y="2286000"/>
            <a:ext cx="2468880" cy="164592"/>
          </a:xfrm>
          <a:prstGeom prst="rect">
            <a:avLst/>
          </a:prstGeom>
          <a:noFill/>
          <a:ln/>
        </p:spPr>
        <p:txBody>
          <a:bodyPr wrap="square" rtlCol="0" anchor="ctr"/>
          <a:lstStyle/>
          <a:p>
            <a:pPr indent="0" marL="0">
              <a:buNone/>
            </a:pPr>
            <a:r>
              <a:rPr lang="en-US" sz="750" b="1" dirty="0">
                <a:solidFill>
                  <a:srgbClr val="6B7280"/>
                </a:solidFill>
                <a:latin typeface="Calibri" pitchFamily="34" charset="0"/>
                <a:ea typeface="Calibri" pitchFamily="34" charset="-122"/>
                <a:cs typeface="Calibri" pitchFamily="34" charset="-120"/>
              </a:rPr>
              <a:t>Price:</a:t>
            </a:r>
            <a:endParaRPr lang="en-US" sz="750" dirty="0"/>
          </a:p>
        </p:txBody>
      </p:sp>
      <p:sp>
        <p:nvSpPr>
          <p:cNvPr id="14" name="Text 12"/>
          <p:cNvSpPr/>
          <p:nvPr/>
        </p:nvSpPr>
        <p:spPr>
          <a:xfrm>
            <a:off x="475488" y="2441448"/>
            <a:ext cx="2468880" cy="3840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Affordable sub-₹100 / 200ml · Daily habit positioning</a:t>
            </a:r>
            <a:endParaRPr lang="en-US" sz="850" dirty="0"/>
          </a:p>
        </p:txBody>
      </p:sp>
      <p:sp>
        <p:nvSpPr>
          <p:cNvPr id="15" name="Text 13"/>
          <p:cNvSpPr/>
          <p:nvPr/>
        </p:nvSpPr>
        <p:spPr>
          <a:xfrm>
            <a:off x="475488" y="2852928"/>
            <a:ext cx="2468880" cy="164592"/>
          </a:xfrm>
          <a:prstGeom prst="rect">
            <a:avLst/>
          </a:prstGeom>
          <a:noFill/>
          <a:ln/>
        </p:spPr>
        <p:txBody>
          <a:bodyPr wrap="square" rtlCol="0" anchor="ctr"/>
          <a:lstStyle/>
          <a:p>
            <a:pPr indent="0" marL="0">
              <a:buNone/>
            </a:pPr>
            <a:r>
              <a:rPr lang="en-US" sz="750" b="1" dirty="0">
                <a:solidFill>
                  <a:srgbClr val="6B7280"/>
                </a:solidFill>
                <a:latin typeface="Calibri" pitchFamily="34" charset="0"/>
                <a:ea typeface="Calibri" pitchFamily="34" charset="-122"/>
                <a:cs typeface="Calibri" pitchFamily="34" charset="-120"/>
              </a:rPr>
              <a:t>Who pays:</a:t>
            </a:r>
            <a:endParaRPr lang="en-US" sz="750" dirty="0"/>
          </a:p>
        </p:txBody>
      </p:sp>
      <p:sp>
        <p:nvSpPr>
          <p:cNvPr id="16" name="Text 14"/>
          <p:cNvSpPr/>
          <p:nvPr/>
        </p:nvSpPr>
        <p:spPr>
          <a:xfrm>
            <a:off x="475488" y="3008376"/>
            <a:ext cx="2468880" cy="3840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Individual consumers — students, young professionals</a:t>
            </a:r>
            <a:endParaRPr lang="en-US" sz="850" dirty="0"/>
          </a:p>
        </p:txBody>
      </p:sp>
      <p:sp>
        <p:nvSpPr>
          <p:cNvPr id="17" name="Text 15"/>
          <p:cNvSpPr/>
          <p:nvPr/>
        </p:nvSpPr>
        <p:spPr>
          <a:xfrm>
            <a:off x="475488" y="3419856"/>
            <a:ext cx="2468880" cy="164592"/>
          </a:xfrm>
          <a:prstGeom prst="rect">
            <a:avLst/>
          </a:prstGeom>
          <a:noFill/>
          <a:ln/>
        </p:spPr>
        <p:txBody>
          <a:bodyPr wrap="square" rtlCol="0" anchor="ctr"/>
          <a:lstStyle/>
          <a:p>
            <a:pPr indent="0" marL="0">
              <a:buNone/>
            </a:pPr>
            <a:r>
              <a:rPr lang="en-US" sz="750" b="1" dirty="0">
                <a:solidFill>
                  <a:srgbClr val="6B7280"/>
                </a:solidFill>
                <a:latin typeface="Calibri" pitchFamily="34" charset="0"/>
                <a:ea typeface="Calibri" pitchFamily="34" charset="-122"/>
                <a:cs typeface="Calibri" pitchFamily="34" charset="-120"/>
              </a:rPr>
              <a:t>Sales channel:</a:t>
            </a:r>
            <a:endParaRPr lang="en-US" sz="750" dirty="0"/>
          </a:p>
        </p:txBody>
      </p:sp>
      <p:sp>
        <p:nvSpPr>
          <p:cNvPr id="18" name="Text 16"/>
          <p:cNvSpPr/>
          <p:nvPr/>
        </p:nvSpPr>
        <p:spPr>
          <a:xfrm>
            <a:off x="475488" y="3575304"/>
            <a:ext cx="2468880" cy="3840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WhatsApp + owned website (D2C) · Blinkit, Zepto, Swiggy Instamart (quick commerce) · Amazon, Flipkart (Phase 2). Hosur pilot → Bengaluru expansion.</a:t>
            </a:r>
            <a:endParaRPr lang="en-US" sz="850" dirty="0"/>
          </a:p>
        </p:txBody>
      </p:sp>
      <p:sp>
        <p:nvSpPr>
          <p:cNvPr id="19" name="Text 17"/>
          <p:cNvSpPr/>
          <p:nvPr/>
        </p:nvSpPr>
        <p:spPr>
          <a:xfrm>
            <a:off x="475488" y="3986784"/>
            <a:ext cx="2468880" cy="164592"/>
          </a:xfrm>
          <a:prstGeom prst="rect">
            <a:avLst/>
          </a:prstGeom>
          <a:noFill/>
          <a:ln/>
        </p:spPr>
        <p:txBody>
          <a:bodyPr wrap="square" rtlCol="0" anchor="ctr"/>
          <a:lstStyle/>
          <a:p>
            <a:pPr indent="0" marL="0">
              <a:buNone/>
            </a:pPr>
            <a:r>
              <a:rPr lang="en-US" sz="750" b="1" dirty="0">
                <a:solidFill>
                  <a:srgbClr val="6B7280"/>
                </a:solidFill>
                <a:latin typeface="Calibri" pitchFamily="34" charset="0"/>
                <a:ea typeface="Calibri" pitchFamily="34" charset="-122"/>
                <a:cs typeface="Calibri" pitchFamily="34" charset="-120"/>
              </a:rPr>
              <a:t>Market strategy:</a:t>
            </a:r>
            <a:endParaRPr lang="en-US" sz="750" dirty="0"/>
          </a:p>
        </p:txBody>
      </p:sp>
      <p:sp>
        <p:nvSpPr>
          <p:cNvPr id="20" name="Text 18"/>
          <p:cNvSpPr/>
          <p:nvPr/>
        </p:nvSpPr>
        <p:spPr>
          <a:xfrm>
            <a:off x="475488" y="4142232"/>
            <a:ext cx="2468880" cy="3840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Direct Instagram/campus outreach. Word-of-mouth. Influencer partnerships with college wellness clubs.</a:t>
            </a:r>
            <a:endParaRPr lang="en-US" sz="850" dirty="0"/>
          </a:p>
        </p:txBody>
      </p:sp>
      <p:sp>
        <p:nvSpPr>
          <p:cNvPr id="21" name="Shape 19"/>
          <p:cNvSpPr/>
          <p:nvPr/>
        </p:nvSpPr>
        <p:spPr>
          <a:xfrm>
            <a:off x="3246120" y="1097280"/>
            <a:ext cx="2697480" cy="3794760"/>
          </a:xfrm>
          <a:prstGeom prst="roundRect">
            <a:avLst>
              <a:gd name="adj" fmla="val 2712"/>
            </a:avLst>
          </a:prstGeom>
          <a:solidFill>
            <a:srgbClr val="FEF3C7"/>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2" name="Shape 20"/>
          <p:cNvSpPr/>
          <p:nvPr/>
        </p:nvSpPr>
        <p:spPr>
          <a:xfrm>
            <a:off x="3355848" y="1188720"/>
            <a:ext cx="2468880" cy="256032"/>
          </a:xfrm>
          <a:prstGeom prst="roundRect">
            <a:avLst>
              <a:gd name="adj" fmla="val 17857"/>
            </a:avLst>
          </a:prstGeom>
          <a:solidFill>
            <a:srgbClr val="D97706"/>
          </a:solidFill>
          <a:ln w="12700">
            <a:solidFill>
              <a:srgbClr val="D97706"/>
            </a:solidFill>
            <a:prstDash val="solid"/>
          </a:ln>
        </p:spPr>
      </p:sp>
      <p:sp>
        <p:nvSpPr>
          <p:cNvPr id="23" name="Text 21"/>
          <p:cNvSpPr/>
          <p:nvPr/>
        </p:nvSpPr>
        <p:spPr>
          <a:xfrm>
            <a:off x="3355848" y="1188720"/>
            <a:ext cx="24688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Institutional B2B</a:t>
            </a:r>
            <a:endParaRPr lang="en-US" sz="1000" dirty="0"/>
          </a:p>
        </p:txBody>
      </p:sp>
      <p:sp>
        <p:nvSpPr>
          <p:cNvPr id="24" name="Text 22"/>
          <p:cNvSpPr/>
          <p:nvPr/>
        </p:nvSpPr>
        <p:spPr>
          <a:xfrm>
            <a:off x="3355848" y="1490472"/>
            <a:ext cx="2468880" cy="182880"/>
          </a:xfrm>
          <a:prstGeom prst="rect">
            <a:avLst/>
          </a:prstGeom>
          <a:noFill/>
          <a:ln/>
        </p:spPr>
        <p:txBody>
          <a:bodyPr wrap="square" rtlCol="0" anchor="ctr"/>
          <a:lstStyle/>
          <a:p>
            <a:pPr algn="ctr" indent="0" marL="0">
              <a:buNone/>
            </a:pPr>
            <a:r>
              <a:rPr lang="en-US" sz="800" b="1" dirty="0">
                <a:solidFill>
                  <a:srgbClr val="D97706"/>
                </a:solidFill>
                <a:latin typeface="Calibri" pitchFamily="34" charset="0"/>
                <a:ea typeface="Calibri" pitchFamily="34" charset="-122"/>
                <a:cs typeface="Calibri" pitchFamily="34" charset="-120"/>
              </a:rPr>
              <a:t>Phase 1–2 · 2026–28</a:t>
            </a:r>
            <a:endParaRPr lang="en-US" sz="800" dirty="0"/>
          </a:p>
        </p:txBody>
      </p:sp>
      <p:sp>
        <p:nvSpPr>
          <p:cNvPr id="25" name="Shape 23"/>
          <p:cNvSpPr/>
          <p:nvPr/>
        </p:nvSpPr>
        <p:spPr>
          <a:xfrm>
            <a:off x="3657600" y="1719072"/>
            <a:ext cx="1865376" cy="411480"/>
          </a:xfrm>
          <a:prstGeom prst="roundRect">
            <a:avLst>
              <a:gd name="adj" fmla="val 13333"/>
            </a:avLst>
          </a:prstGeom>
          <a:solidFill>
            <a:srgbClr val="FFFFFF"/>
          </a:solidFill>
          <a:ln w="10160">
            <a:solidFill>
              <a:srgbClr val="D97706"/>
            </a:solidFill>
            <a:prstDash val="solid"/>
          </a:ln>
        </p:spPr>
      </p:sp>
      <p:sp>
        <p:nvSpPr>
          <p:cNvPr id="26" name="Text 24"/>
          <p:cNvSpPr/>
          <p:nvPr/>
        </p:nvSpPr>
        <p:spPr>
          <a:xfrm>
            <a:off x="3657600" y="1719072"/>
            <a:ext cx="1865376" cy="411480"/>
          </a:xfrm>
          <a:prstGeom prst="rect">
            <a:avLst/>
          </a:prstGeom>
          <a:noFill/>
          <a:ln/>
        </p:spPr>
        <p:txBody>
          <a:bodyPr wrap="square" lIns="0" tIns="0" rIns="0" bIns="0" rtlCol="0" anchor="ctr"/>
          <a:lstStyle/>
          <a:p>
            <a:pPr algn="ctr" indent="0" marL="0">
              <a:buNone/>
            </a:pPr>
            <a:r>
              <a:rPr lang="en-US" sz="1100" b="1" dirty="0">
                <a:solidFill>
                  <a:srgbClr val="D97706"/>
                </a:solidFill>
                <a:latin typeface="Calibri" pitchFamily="34" charset="0"/>
                <a:ea typeface="Calibri" pitchFamily="34" charset="-122"/>
                <a:cs typeface="Calibri" pitchFamily="34" charset="-120"/>
              </a:rPr>
              <a:t>35–45% Gross Margin</a:t>
            </a:r>
            <a:endParaRPr lang="en-US" sz="1100" dirty="0"/>
          </a:p>
        </p:txBody>
      </p:sp>
      <p:sp>
        <p:nvSpPr>
          <p:cNvPr id="27" name="Shape 25"/>
          <p:cNvSpPr/>
          <p:nvPr/>
        </p:nvSpPr>
        <p:spPr>
          <a:xfrm>
            <a:off x="3355848" y="2212848"/>
            <a:ext cx="2468880" cy="13716"/>
          </a:xfrm>
          <a:prstGeom prst="rect">
            <a:avLst/>
          </a:prstGeom>
          <a:solidFill>
            <a:srgbClr val="CCEDE9"/>
          </a:solidFill>
          <a:ln w="12700">
            <a:solidFill>
              <a:srgbClr val="CCEDE9"/>
            </a:solidFill>
            <a:prstDash val="solid"/>
          </a:ln>
        </p:spPr>
      </p:sp>
      <p:sp>
        <p:nvSpPr>
          <p:cNvPr id="28" name="Text 26"/>
          <p:cNvSpPr/>
          <p:nvPr/>
        </p:nvSpPr>
        <p:spPr>
          <a:xfrm>
            <a:off x="3355848" y="2286000"/>
            <a:ext cx="2468880" cy="164592"/>
          </a:xfrm>
          <a:prstGeom prst="rect">
            <a:avLst/>
          </a:prstGeom>
          <a:noFill/>
          <a:ln/>
        </p:spPr>
        <p:txBody>
          <a:bodyPr wrap="square" rtlCol="0" anchor="ctr"/>
          <a:lstStyle/>
          <a:p>
            <a:pPr indent="0" marL="0">
              <a:buNone/>
            </a:pPr>
            <a:r>
              <a:rPr lang="en-US" sz="750" b="1" dirty="0">
                <a:solidFill>
                  <a:srgbClr val="6B7280"/>
                </a:solidFill>
                <a:latin typeface="Calibri" pitchFamily="34" charset="0"/>
                <a:ea typeface="Calibri" pitchFamily="34" charset="-122"/>
                <a:cs typeface="Calibri" pitchFamily="34" charset="-120"/>
              </a:rPr>
              <a:t>Price:</a:t>
            </a:r>
            <a:endParaRPr lang="en-US" sz="750" dirty="0"/>
          </a:p>
        </p:txBody>
      </p:sp>
      <p:sp>
        <p:nvSpPr>
          <p:cNvPr id="29" name="Text 27"/>
          <p:cNvSpPr/>
          <p:nvPr/>
        </p:nvSpPr>
        <p:spPr>
          <a:xfrm>
            <a:off x="3355848" y="2441448"/>
            <a:ext cx="2468880" cy="3840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Institutional bulk pricing · colleges, gyms, co-working spaces</a:t>
            </a:r>
            <a:endParaRPr lang="en-US" sz="850" dirty="0"/>
          </a:p>
        </p:txBody>
      </p:sp>
      <p:sp>
        <p:nvSpPr>
          <p:cNvPr id="30" name="Text 28"/>
          <p:cNvSpPr/>
          <p:nvPr/>
        </p:nvSpPr>
        <p:spPr>
          <a:xfrm>
            <a:off x="3355848" y="2852928"/>
            <a:ext cx="2468880" cy="164592"/>
          </a:xfrm>
          <a:prstGeom prst="rect">
            <a:avLst/>
          </a:prstGeom>
          <a:noFill/>
          <a:ln/>
        </p:spPr>
        <p:txBody>
          <a:bodyPr wrap="square" rtlCol="0" anchor="ctr"/>
          <a:lstStyle/>
          <a:p>
            <a:pPr indent="0" marL="0">
              <a:buNone/>
            </a:pPr>
            <a:r>
              <a:rPr lang="en-US" sz="750" b="1" dirty="0">
                <a:solidFill>
                  <a:srgbClr val="6B7280"/>
                </a:solidFill>
                <a:latin typeface="Calibri" pitchFamily="34" charset="0"/>
                <a:ea typeface="Calibri" pitchFamily="34" charset="-122"/>
                <a:cs typeface="Calibri" pitchFamily="34" charset="-120"/>
              </a:rPr>
              <a:t>Who pays:</a:t>
            </a:r>
            <a:endParaRPr lang="en-US" sz="750" dirty="0"/>
          </a:p>
        </p:txBody>
      </p:sp>
      <p:sp>
        <p:nvSpPr>
          <p:cNvPr id="31" name="Text 29"/>
          <p:cNvSpPr/>
          <p:nvPr/>
        </p:nvSpPr>
        <p:spPr>
          <a:xfrm>
            <a:off x="3355848" y="3008376"/>
            <a:ext cx="2468880" cy="3840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Gyms, co-working spaces, college canteens, corporate cafeterias — Bengaluru (2,000+ gyms targeted)</a:t>
            </a:r>
            <a:endParaRPr lang="en-US" sz="850" dirty="0"/>
          </a:p>
        </p:txBody>
      </p:sp>
      <p:sp>
        <p:nvSpPr>
          <p:cNvPr id="32" name="Text 30"/>
          <p:cNvSpPr/>
          <p:nvPr/>
        </p:nvSpPr>
        <p:spPr>
          <a:xfrm>
            <a:off x="3355848" y="3419856"/>
            <a:ext cx="2468880" cy="164592"/>
          </a:xfrm>
          <a:prstGeom prst="rect">
            <a:avLst/>
          </a:prstGeom>
          <a:noFill/>
          <a:ln/>
        </p:spPr>
        <p:txBody>
          <a:bodyPr wrap="square" rtlCol="0" anchor="ctr"/>
          <a:lstStyle/>
          <a:p>
            <a:pPr indent="0" marL="0">
              <a:buNone/>
            </a:pPr>
            <a:r>
              <a:rPr lang="en-US" sz="750" b="1" dirty="0">
                <a:solidFill>
                  <a:srgbClr val="6B7280"/>
                </a:solidFill>
                <a:latin typeface="Calibri" pitchFamily="34" charset="0"/>
                <a:ea typeface="Calibri" pitchFamily="34" charset="-122"/>
                <a:cs typeface="Calibri" pitchFamily="34" charset="-120"/>
              </a:rPr>
              <a:t>Sales channel:</a:t>
            </a:r>
            <a:endParaRPr lang="en-US" sz="750" dirty="0"/>
          </a:p>
        </p:txBody>
      </p:sp>
      <p:sp>
        <p:nvSpPr>
          <p:cNvPr id="33" name="Text 31"/>
          <p:cNvSpPr/>
          <p:nvPr/>
        </p:nvSpPr>
        <p:spPr>
          <a:xfrm>
            <a:off x="3355848" y="3575304"/>
            <a:ext cx="2468880" cy="3840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Direct B2B sales team. MOQ-based contracts. Monthly replenishment.</a:t>
            </a:r>
            <a:endParaRPr lang="en-US" sz="850" dirty="0"/>
          </a:p>
        </p:txBody>
      </p:sp>
      <p:sp>
        <p:nvSpPr>
          <p:cNvPr id="34" name="Text 32"/>
          <p:cNvSpPr/>
          <p:nvPr/>
        </p:nvSpPr>
        <p:spPr>
          <a:xfrm>
            <a:off x="3355848" y="3986784"/>
            <a:ext cx="2468880" cy="164592"/>
          </a:xfrm>
          <a:prstGeom prst="rect">
            <a:avLst/>
          </a:prstGeom>
          <a:noFill/>
          <a:ln/>
        </p:spPr>
        <p:txBody>
          <a:bodyPr wrap="square" rtlCol="0" anchor="ctr"/>
          <a:lstStyle/>
          <a:p>
            <a:pPr indent="0" marL="0">
              <a:buNone/>
            </a:pPr>
            <a:r>
              <a:rPr lang="en-US" sz="750" b="1" dirty="0">
                <a:solidFill>
                  <a:srgbClr val="6B7280"/>
                </a:solidFill>
                <a:latin typeface="Calibri" pitchFamily="34" charset="0"/>
                <a:ea typeface="Calibri" pitchFamily="34" charset="-122"/>
                <a:cs typeface="Calibri" pitchFamily="34" charset="-120"/>
              </a:rPr>
              <a:t>Market strategy:</a:t>
            </a:r>
            <a:endParaRPr lang="en-US" sz="750" dirty="0"/>
          </a:p>
        </p:txBody>
      </p:sp>
      <p:sp>
        <p:nvSpPr>
          <p:cNvPr id="35" name="Text 33"/>
          <p:cNvSpPr/>
          <p:nvPr/>
        </p:nvSpPr>
        <p:spPr>
          <a:xfrm>
            <a:off x="3355848" y="4142232"/>
            <a:ext cx="2468880" cy="3840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Bengaluru gym managers are the key account target. Ambient storage = no refrigeration cost for account.</a:t>
            </a:r>
            <a:endParaRPr lang="en-US" sz="850" dirty="0"/>
          </a:p>
        </p:txBody>
      </p:sp>
      <p:sp>
        <p:nvSpPr>
          <p:cNvPr id="36" name="Shape 34"/>
          <p:cNvSpPr/>
          <p:nvPr/>
        </p:nvSpPr>
        <p:spPr>
          <a:xfrm>
            <a:off x="6126480" y="1097280"/>
            <a:ext cx="2697480" cy="3794760"/>
          </a:xfrm>
          <a:prstGeom prst="roundRect">
            <a:avLst>
              <a:gd name="adj" fmla="val 2712"/>
            </a:avLst>
          </a:prstGeom>
          <a:solidFill>
            <a:srgbClr val="F5F3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37" name="Shape 35"/>
          <p:cNvSpPr/>
          <p:nvPr/>
        </p:nvSpPr>
        <p:spPr>
          <a:xfrm>
            <a:off x="6236208" y="1188720"/>
            <a:ext cx="2468880" cy="256032"/>
          </a:xfrm>
          <a:prstGeom prst="roundRect">
            <a:avLst>
              <a:gd name="adj" fmla="val 17857"/>
            </a:avLst>
          </a:prstGeom>
          <a:solidFill>
            <a:srgbClr val="7C3AED"/>
          </a:solidFill>
          <a:ln w="12700">
            <a:solidFill>
              <a:srgbClr val="7C3AED"/>
            </a:solidFill>
            <a:prstDash val="solid"/>
          </a:ln>
        </p:spPr>
      </p:sp>
      <p:sp>
        <p:nvSpPr>
          <p:cNvPr id="38" name="Text 36"/>
          <p:cNvSpPr/>
          <p:nvPr/>
        </p:nvSpPr>
        <p:spPr>
          <a:xfrm>
            <a:off x="6236208" y="1188720"/>
            <a:ext cx="24688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Subscription Model</a:t>
            </a:r>
            <a:endParaRPr lang="en-US" sz="1000" dirty="0"/>
          </a:p>
        </p:txBody>
      </p:sp>
      <p:sp>
        <p:nvSpPr>
          <p:cNvPr id="39" name="Text 37"/>
          <p:cNvSpPr/>
          <p:nvPr/>
        </p:nvSpPr>
        <p:spPr>
          <a:xfrm>
            <a:off x="6236208" y="1490472"/>
            <a:ext cx="2468880" cy="182880"/>
          </a:xfrm>
          <a:prstGeom prst="rect">
            <a:avLst/>
          </a:prstGeom>
          <a:noFill/>
          <a:ln/>
        </p:spPr>
        <p:txBody>
          <a:bodyPr wrap="square" rtlCol="0" anchor="ctr"/>
          <a:lstStyle/>
          <a:p>
            <a:pPr algn="ctr" indent="0" marL="0">
              <a:buNone/>
            </a:pPr>
            <a:r>
              <a:rPr lang="en-US" sz="800" b="1" dirty="0">
                <a:solidFill>
                  <a:srgbClr val="7C3AED"/>
                </a:solidFill>
                <a:latin typeface="Calibri" pitchFamily="34" charset="0"/>
                <a:ea typeface="Calibri" pitchFamily="34" charset="-122"/>
                <a:cs typeface="Calibri" pitchFamily="34" charset="-120"/>
              </a:rPr>
              <a:t>Phase 2 · 2027–28 · Carbonated Variant + Subscription</a:t>
            </a:r>
            <a:endParaRPr lang="en-US" sz="800" dirty="0"/>
          </a:p>
        </p:txBody>
      </p:sp>
      <p:sp>
        <p:nvSpPr>
          <p:cNvPr id="40" name="Shape 38"/>
          <p:cNvSpPr/>
          <p:nvPr/>
        </p:nvSpPr>
        <p:spPr>
          <a:xfrm>
            <a:off x="6537960" y="1719072"/>
            <a:ext cx="1865376" cy="411480"/>
          </a:xfrm>
          <a:prstGeom prst="roundRect">
            <a:avLst>
              <a:gd name="adj" fmla="val 13333"/>
            </a:avLst>
          </a:prstGeom>
          <a:solidFill>
            <a:srgbClr val="FFFFFF"/>
          </a:solidFill>
          <a:ln w="10160">
            <a:solidFill>
              <a:srgbClr val="7C3AED"/>
            </a:solidFill>
            <a:prstDash val="solid"/>
          </a:ln>
        </p:spPr>
      </p:sp>
      <p:sp>
        <p:nvSpPr>
          <p:cNvPr id="41" name="Text 39"/>
          <p:cNvSpPr/>
          <p:nvPr/>
        </p:nvSpPr>
        <p:spPr>
          <a:xfrm>
            <a:off x="6537960" y="1719072"/>
            <a:ext cx="1865376" cy="411480"/>
          </a:xfrm>
          <a:prstGeom prst="rect">
            <a:avLst/>
          </a:prstGeom>
          <a:noFill/>
          <a:ln/>
        </p:spPr>
        <p:txBody>
          <a:bodyPr wrap="square" lIns="0" tIns="0" rIns="0" bIns="0" rtlCol="0" anchor="ctr"/>
          <a:lstStyle/>
          <a:p>
            <a:pPr algn="ctr" indent="0" marL="0">
              <a:buNone/>
            </a:pPr>
            <a:r>
              <a:rPr lang="en-US" sz="1100" b="1" dirty="0">
                <a:solidFill>
                  <a:srgbClr val="7C3AED"/>
                </a:solidFill>
                <a:latin typeface="Calibri" pitchFamily="34" charset="0"/>
                <a:ea typeface="Calibri" pitchFamily="34" charset="-122"/>
                <a:cs typeface="Calibri" pitchFamily="34" charset="-120"/>
              </a:rPr>
              <a:t>50–60% Gross Margin</a:t>
            </a:r>
            <a:endParaRPr lang="en-US" sz="1100" dirty="0"/>
          </a:p>
        </p:txBody>
      </p:sp>
      <p:sp>
        <p:nvSpPr>
          <p:cNvPr id="42" name="Shape 40"/>
          <p:cNvSpPr/>
          <p:nvPr/>
        </p:nvSpPr>
        <p:spPr>
          <a:xfrm>
            <a:off x="6236208" y="2212848"/>
            <a:ext cx="2468880" cy="13716"/>
          </a:xfrm>
          <a:prstGeom prst="rect">
            <a:avLst/>
          </a:prstGeom>
          <a:solidFill>
            <a:srgbClr val="CCEDE9"/>
          </a:solidFill>
          <a:ln w="12700">
            <a:solidFill>
              <a:srgbClr val="CCEDE9"/>
            </a:solidFill>
            <a:prstDash val="solid"/>
          </a:ln>
        </p:spPr>
      </p:sp>
      <p:sp>
        <p:nvSpPr>
          <p:cNvPr id="43" name="Text 41"/>
          <p:cNvSpPr/>
          <p:nvPr/>
        </p:nvSpPr>
        <p:spPr>
          <a:xfrm>
            <a:off x="6236208" y="2286000"/>
            <a:ext cx="2468880" cy="164592"/>
          </a:xfrm>
          <a:prstGeom prst="rect">
            <a:avLst/>
          </a:prstGeom>
          <a:noFill/>
          <a:ln/>
        </p:spPr>
        <p:txBody>
          <a:bodyPr wrap="square" rtlCol="0" anchor="ctr"/>
          <a:lstStyle/>
          <a:p>
            <a:pPr indent="0" marL="0">
              <a:buNone/>
            </a:pPr>
            <a:r>
              <a:rPr lang="en-US" sz="750" b="1" dirty="0">
                <a:solidFill>
                  <a:srgbClr val="6B7280"/>
                </a:solidFill>
                <a:latin typeface="Calibri" pitchFamily="34" charset="0"/>
                <a:ea typeface="Calibri" pitchFamily="34" charset="-122"/>
                <a:cs typeface="Calibri" pitchFamily="34" charset="-120"/>
              </a:rPr>
              <a:t>Price:</a:t>
            </a:r>
            <a:endParaRPr lang="en-US" sz="750" dirty="0"/>
          </a:p>
        </p:txBody>
      </p:sp>
      <p:sp>
        <p:nvSpPr>
          <p:cNvPr id="44" name="Text 42"/>
          <p:cNvSpPr/>
          <p:nvPr/>
        </p:nvSpPr>
        <p:spPr>
          <a:xfrm>
            <a:off x="6236208" y="2441448"/>
            <a:ext cx="2468880" cy="3840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30 units / month — doorstep delivery</a:t>
            </a:r>
            <a:endParaRPr lang="en-US" sz="850" dirty="0"/>
          </a:p>
        </p:txBody>
      </p:sp>
      <p:sp>
        <p:nvSpPr>
          <p:cNvPr id="45" name="Text 43"/>
          <p:cNvSpPr/>
          <p:nvPr/>
        </p:nvSpPr>
        <p:spPr>
          <a:xfrm>
            <a:off x="6236208" y="2852928"/>
            <a:ext cx="2468880" cy="164592"/>
          </a:xfrm>
          <a:prstGeom prst="rect">
            <a:avLst/>
          </a:prstGeom>
          <a:noFill/>
          <a:ln/>
        </p:spPr>
        <p:txBody>
          <a:bodyPr wrap="square" rtlCol="0" anchor="ctr"/>
          <a:lstStyle/>
          <a:p>
            <a:pPr indent="0" marL="0">
              <a:buNone/>
            </a:pPr>
            <a:r>
              <a:rPr lang="en-US" sz="750" b="1" dirty="0">
                <a:solidFill>
                  <a:srgbClr val="6B7280"/>
                </a:solidFill>
                <a:latin typeface="Calibri" pitchFamily="34" charset="0"/>
                <a:ea typeface="Calibri" pitchFamily="34" charset="-122"/>
                <a:cs typeface="Calibri" pitchFamily="34" charset="-120"/>
              </a:rPr>
              <a:t>Who pays:</a:t>
            </a:r>
            <a:endParaRPr lang="en-US" sz="750" dirty="0"/>
          </a:p>
        </p:txBody>
      </p:sp>
      <p:sp>
        <p:nvSpPr>
          <p:cNvPr id="46" name="Text 44"/>
          <p:cNvSpPr/>
          <p:nvPr/>
        </p:nvSpPr>
        <p:spPr>
          <a:xfrm>
            <a:off x="6236208" y="3008376"/>
            <a:ext cx="2468880" cy="3840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Health-conscious urban professional — repeat customer, high lifetime value</a:t>
            </a:r>
            <a:endParaRPr lang="en-US" sz="850" dirty="0"/>
          </a:p>
        </p:txBody>
      </p:sp>
      <p:sp>
        <p:nvSpPr>
          <p:cNvPr id="47" name="Text 45"/>
          <p:cNvSpPr/>
          <p:nvPr/>
        </p:nvSpPr>
        <p:spPr>
          <a:xfrm>
            <a:off x="6236208" y="3419856"/>
            <a:ext cx="2468880" cy="164592"/>
          </a:xfrm>
          <a:prstGeom prst="rect">
            <a:avLst/>
          </a:prstGeom>
          <a:noFill/>
          <a:ln/>
        </p:spPr>
        <p:txBody>
          <a:bodyPr wrap="square" rtlCol="0" anchor="ctr"/>
          <a:lstStyle/>
          <a:p>
            <a:pPr indent="0" marL="0">
              <a:buNone/>
            </a:pPr>
            <a:r>
              <a:rPr lang="en-US" sz="750" b="1" dirty="0">
                <a:solidFill>
                  <a:srgbClr val="6B7280"/>
                </a:solidFill>
                <a:latin typeface="Calibri" pitchFamily="34" charset="0"/>
                <a:ea typeface="Calibri" pitchFamily="34" charset="-122"/>
                <a:cs typeface="Calibri" pitchFamily="34" charset="-120"/>
              </a:rPr>
              <a:t>Sales channel:</a:t>
            </a:r>
            <a:endParaRPr lang="en-US" sz="750" dirty="0"/>
          </a:p>
        </p:txBody>
      </p:sp>
      <p:sp>
        <p:nvSpPr>
          <p:cNvPr id="48" name="Text 46"/>
          <p:cNvSpPr/>
          <p:nvPr/>
        </p:nvSpPr>
        <p:spPr>
          <a:xfrm>
            <a:off x="6236208" y="3575304"/>
            <a:ext cx="2468880" cy="3840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Website subscription. Monthly auto-delivery. SKU personalisation (CLARITY / MOMENTUM / VITALITY mix).</a:t>
            </a:r>
            <a:endParaRPr lang="en-US" sz="850" dirty="0"/>
          </a:p>
        </p:txBody>
      </p:sp>
      <p:sp>
        <p:nvSpPr>
          <p:cNvPr id="49" name="Text 47"/>
          <p:cNvSpPr/>
          <p:nvPr/>
        </p:nvSpPr>
        <p:spPr>
          <a:xfrm>
            <a:off x="6236208" y="3986784"/>
            <a:ext cx="2468880" cy="164592"/>
          </a:xfrm>
          <a:prstGeom prst="rect">
            <a:avLst/>
          </a:prstGeom>
          <a:noFill/>
          <a:ln/>
        </p:spPr>
        <p:txBody>
          <a:bodyPr wrap="square" rtlCol="0" anchor="ctr"/>
          <a:lstStyle/>
          <a:p>
            <a:pPr indent="0" marL="0">
              <a:buNone/>
            </a:pPr>
            <a:r>
              <a:rPr lang="en-US" sz="750" b="1" dirty="0">
                <a:solidFill>
                  <a:srgbClr val="6B7280"/>
                </a:solidFill>
                <a:latin typeface="Calibri" pitchFamily="34" charset="0"/>
                <a:ea typeface="Calibri" pitchFamily="34" charset="-122"/>
                <a:cs typeface="Calibri" pitchFamily="34" charset="-120"/>
              </a:rPr>
              <a:t>Market strategy:</a:t>
            </a:r>
            <a:endParaRPr lang="en-US" sz="750" dirty="0"/>
          </a:p>
        </p:txBody>
      </p:sp>
      <p:sp>
        <p:nvSpPr>
          <p:cNvPr id="50" name="Text 48"/>
          <p:cNvSpPr/>
          <p:nvPr/>
        </p:nvSpPr>
        <p:spPr>
          <a:xfrm>
            <a:off x="6236208" y="4142232"/>
            <a:ext cx="2468880" cy="384048"/>
          </a:xfrm>
          <a:prstGeom prst="rect">
            <a:avLst/>
          </a:prstGeom>
          <a:noFill/>
          <a:ln/>
        </p:spPr>
        <p:txBody>
          <a:bodyPr wrap="square" rtlCol="0" anchor="t"/>
          <a:lstStyle/>
          <a:p>
            <a:pPr indent="0" marL="0">
              <a:buNone/>
            </a:pPr>
            <a:r>
              <a:rPr lang="en-US" sz="850" dirty="0">
                <a:solidFill>
                  <a:srgbClr val="374151"/>
                </a:solidFill>
                <a:latin typeface="Calibri" pitchFamily="34" charset="0"/>
                <a:ea typeface="Calibri" pitchFamily="34" charset="-122"/>
                <a:cs typeface="Calibri" pitchFamily="34" charset="-120"/>
              </a:rPr>
              <a:t>Retention-first model. Subscription locks in recurring revenue. Phase 2 product: carbonated variant of the same fermented base — same bioactives, familiar fizzy format targeting Coke/Pepsi replacement market. Low churn expected from daily habit positioning.</a:t>
            </a:r>
            <a:endParaRPr lang="en-US" sz="850" dirty="0"/>
          </a:p>
        </p:txBody>
      </p:sp>
      <p:sp>
        <p:nvSpPr>
          <p:cNvPr id="51" name="Text 49"/>
          <p:cNvSpPr/>
          <p:nvPr/>
        </p:nvSpPr>
        <p:spPr>
          <a:xfrm>
            <a:off x="365760" y="4754880"/>
            <a:ext cx="8412480" cy="201168"/>
          </a:xfrm>
          <a:prstGeom prst="rect">
            <a:avLst/>
          </a:prstGeom>
          <a:noFill/>
          <a:ln/>
        </p:spPr>
        <p:txBody>
          <a:bodyPr wrap="square"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Current market share: Zero — Pre-revenue. Operating geography: Tamil Nadu (manufacturing) + Karnataka (B2B sales).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1380744"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1380744"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FIVE-YEAR GOALS</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Revenue Projections  ·  Market Share Objectives  ·  Operational Milestones</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Text 4"/>
          <p:cNvSpPr/>
          <p:nvPr/>
        </p:nvSpPr>
        <p:spPr>
          <a:xfrm>
            <a:off x="365760" y="941832"/>
            <a:ext cx="8412480" cy="228600"/>
          </a:xfrm>
          <a:prstGeom prst="rect">
            <a:avLst/>
          </a:prstGeom>
          <a:noFill/>
          <a:ln/>
        </p:spPr>
        <p:txBody>
          <a:bodyPr wrap="square"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All figures are pre-revenue estimates. Company incorporated March 2026 — no audited accounts exist.</a:t>
            </a:r>
            <a:endParaRPr lang="en-US" sz="950" dirty="0"/>
          </a:p>
        </p:txBody>
      </p:sp>
      <p:graphicFrame>
        <p:nvGraphicFramePr>
          <p:cNvPr id="7" name="Chart 0" descr=""/>
          <p:cNvGraphicFramePr/>
          <p:nvPr/>
        </p:nvGraphicFramePr>
        <p:xfrm>
          <a:off x="365760" y="1115568"/>
          <a:ext cx="4754880" cy="32461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349240" y="1115568"/>
            <a:ext cx="1905610" cy="228600"/>
          </a:xfrm>
          <a:prstGeom prst="roundRect">
            <a:avLst>
              <a:gd name="adj" fmla="val 20000"/>
            </a:avLst>
          </a:prstGeom>
          <a:solidFill>
            <a:srgbClr val="0A6059"/>
          </a:solidFill>
          <a:ln w="12700">
            <a:solidFill>
              <a:srgbClr val="0A6059"/>
            </a:solidFill>
            <a:prstDash val="solid"/>
          </a:ln>
        </p:spPr>
      </p:sp>
      <p:sp>
        <p:nvSpPr>
          <p:cNvPr id="9" name="Text 6"/>
          <p:cNvSpPr/>
          <p:nvPr/>
        </p:nvSpPr>
        <p:spPr>
          <a:xfrm>
            <a:off x="5349240" y="1115568"/>
            <a:ext cx="1905610"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KEY MILESTONES BY YEAR</a:t>
            </a:r>
            <a:endParaRPr lang="en-US" sz="700" dirty="0"/>
          </a:p>
        </p:txBody>
      </p:sp>
      <p:sp>
        <p:nvSpPr>
          <p:cNvPr id="10" name="Shape 7"/>
          <p:cNvSpPr/>
          <p:nvPr/>
        </p:nvSpPr>
        <p:spPr>
          <a:xfrm>
            <a:off x="5349240" y="1389888"/>
            <a:ext cx="3429000" cy="594360"/>
          </a:xfrm>
          <a:prstGeom prst="roundRect">
            <a:avLst>
              <a:gd name="adj" fmla="val 9231"/>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1" name="Text 8"/>
          <p:cNvSpPr/>
          <p:nvPr/>
        </p:nvSpPr>
        <p:spPr>
          <a:xfrm>
            <a:off x="5458968" y="1444752"/>
            <a:ext cx="594360" cy="219456"/>
          </a:xfrm>
          <a:prstGeom prst="rect">
            <a:avLst/>
          </a:prstGeom>
          <a:noFill/>
          <a:ln/>
        </p:spPr>
        <p:txBody>
          <a:bodyPr wrap="square"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Year 1</a:t>
            </a:r>
            <a:endParaRPr lang="en-US" sz="850" dirty="0"/>
          </a:p>
        </p:txBody>
      </p:sp>
      <p:sp>
        <p:nvSpPr>
          <p:cNvPr id="12" name="Text 9"/>
          <p:cNvSpPr/>
          <p:nvPr/>
        </p:nvSpPr>
        <p:spPr>
          <a:xfrm>
            <a:off x="5458968" y="1664208"/>
            <a:ext cx="3200400" cy="256032"/>
          </a:xfrm>
          <a:prstGeom prst="rect">
            <a:avLst/>
          </a:prstGeom>
          <a:noFill/>
          <a:ln/>
        </p:spPr>
        <p:txBody>
          <a:bodyPr wrap="square" rtlCol="0" anchor="t"/>
          <a:lstStyle/>
          <a:p>
            <a:pPr indent="0" marL="0">
              <a:buNone/>
            </a:pPr>
            <a:r>
              <a:rPr lang="en-US" sz="780" dirty="0">
                <a:solidFill>
                  <a:srgbClr val="374151"/>
                </a:solidFill>
                <a:latin typeface="Calibri" pitchFamily="34" charset="0"/>
                <a:ea typeface="Calibri" pitchFamily="34" charset="-122"/>
                <a:cs typeface="Calibri" pitchFamily="34" charset="-120"/>
              </a:rPr>
              <a:t>FSSAI licence granted · NABL testing complete · Patent filed · NBEC result · Consumer survey done</a:t>
            </a:r>
            <a:endParaRPr lang="en-US" sz="780" dirty="0"/>
          </a:p>
        </p:txBody>
      </p:sp>
      <p:sp>
        <p:nvSpPr>
          <p:cNvPr id="13" name="Shape 10"/>
          <p:cNvSpPr/>
          <p:nvPr/>
        </p:nvSpPr>
        <p:spPr>
          <a:xfrm>
            <a:off x="5349240" y="2048256"/>
            <a:ext cx="3429000" cy="594360"/>
          </a:xfrm>
          <a:prstGeom prst="roundRect">
            <a:avLst>
              <a:gd name="adj" fmla="val 9231"/>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4" name="Text 11"/>
          <p:cNvSpPr/>
          <p:nvPr/>
        </p:nvSpPr>
        <p:spPr>
          <a:xfrm>
            <a:off x="5458968" y="2103120"/>
            <a:ext cx="594360" cy="219456"/>
          </a:xfrm>
          <a:prstGeom prst="rect">
            <a:avLst/>
          </a:prstGeom>
          <a:noFill/>
          <a:ln/>
        </p:spPr>
        <p:txBody>
          <a:bodyPr wrap="square"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Year 2</a:t>
            </a:r>
            <a:endParaRPr lang="en-US" sz="850" dirty="0"/>
          </a:p>
        </p:txBody>
      </p:sp>
      <p:sp>
        <p:nvSpPr>
          <p:cNvPr id="15" name="Text 12"/>
          <p:cNvSpPr/>
          <p:nvPr/>
        </p:nvSpPr>
        <p:spPr>
          <a:xfrm>
            <a:off x="5458968" y="2322576"/>
            <a:ext cx="3200400" cy="256032"/>
          </a:xfrm>
          <a:prstGeom prst="rect">
            <a:avLst/>
          </a:prstGeom>
          <a:noFill/>
          <a:ln/>
        </p:spPr>
        <p:txBody>
          <a:bodyPr wrap="square" rtlCol="0" anchor="t"/>
          <a:lstStyle/>
          <a:p>
            <a:pPr indent="0" marL="0">
              <a:buNone/>
            </a:pPr>
            <a:r>
              <a:rPr lang="en-US" sz="780" dirty="0">
                <a:solidFill>
                  <a:srgbClr val="374151"/>
                </a:solidFill>
                <a:latin typeface="Calibri" pitchFamily="34" charset="0"/>
                <a:ea typeface="Calibri" pitchFamily="34" charset="-122"/>
                <a:cs typeface="Calibri" pitchFamily="34" charset="-120"/>
              </a:rPr>
              <a:t>Product launch (CLARITY) · 50+ B2B accounts · Subscription live · Carbonated variant launched</a:t>
            </a:r>
            <a:endParaRPr lang="en-US" sz="780" dirty="0"/>
          </a:p>
        </p:txBody>
      </p:sp>
      <p:sp>
        <p:nvSpPr>
          <p:cNvPr id="16" name="Shape 13"/>
          <p:cNvSpPr/>
          <p:nvPr/>
        </p:nvSpPr>
        <p:spPr>
          <a:xfrm>
            <a:off x="5349240" y="2706624"/>
            <a:ext cx="3429000" cy="594360"/>
          </a:xfrm>
          <a:prstGeom prst="roundRect">
            <a:avLst>
              <a:gd name="adj" fmla="val 9231"/>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7" name="Text 14"/>
          <p:cNvSpPr/>
          <p:nvPr/>
        </p:nvSpPr>
        <p:spPr>
          <a:xfrm>
            <a:off x="5458968" y="2761488"/>
            <a:ext cx="594360" cy="219456"/>
          </a:xfrm>
          <a:prstGeom prst="rect">
            <a:avLst/>
          </a:prstGeom>
          <a:noFill/>
          <a:ln/>
        </p:spPr>
        <p:txBody>
          <a:bodyPr wrap="square"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Year 3</a:t>
            </a:r>
            <a:endParaRPr lang="en-US" sz="850" dirty="0"/>
          </a:p>
        </p:txBody>
      </p:sp>
      <p:sp>
        <p:nvSpPr>
          <p:cNvPr id="18" name="Text 15"/>
          <p:cNvSpPr/>
          <p:nvPr/>
        </p:nvSpPr>
        <p:spPr>
          <a:xfrm>
            <a:off x="5458968" y="2980944"/>
            <a:ext cx="3200400" cy="256032"/>
          </a:xfrm>
          <a:prstGeom prst="rect">
            <a:avLst/>
          </a:prstGeom>
          <a:noFill/>
          <a:ln/>
        </p:spPr>
        <p:txBody>
          <a:bodyPr wrap="square" rtlCol="0" anchor="t"/>
          <a:lstStyle/>
          <a:p>
            <a:pPr indent="0" marL="0">
              <a:buNone/>
            </a:pPr>
            <a:r>
              <a:rPr lang="en-US" sz="780" dirty="0">
                <a:solidFill>
                  <a:srgbClr val="374151"/>
                </a:solidFill>
                <a:latin typeface="Calibri" pitchFamily="34" charset="0"/>
                <a:ea typeface="Calibri" pitchFamily="34" charset="-122"/>
                <a:cs typeface="Calibri" pitchFamily="34" charset="-120"/>
              </a:rPr>
              <a:t>All 3 SKUs launched · 200+ B2B accounts · BIRAC BIG secured · Functional food line initiated</a:t>
            </a:r>
            <a:endParaRPr lang="en-US" sz="780" dirty="0"/>
          </a:p>
        </p:txBody>
      </p:sp>
      <p:sp>
        <p:nvSpPr>
          <p:cNvPr id="19" name="Shape 16"/>
          <p:cNvSpPr/>
          <p:nvPr/>
        </p:nvSpPr>
        <p:spPr>
          <a:xfrm>
            <a:off x="5349240" y="3364992"/>
            <a:ext cx="3429000" cy="594360"/>
          </a:xfrm>
          <a:prstGeom prst="roundRect">
            <a:avLst>
              <a:gd name="adj" fmla="val 9231"/>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0" name="Text 17"/>
          <p:cNvSpPr/>
          <p:nvPr/>
        </p:nvSpPr>
        <p:spPr>
          <a:xfrm>
            <a:off x="5458968" y="3419856"/>
            <a:ext cx="594360" cy="219456"/>
          </a:xfrm>
          <a:prstGeom prst="rect">
            <a:avLst/>
          </a:prstGeom>
          <a:noFill/>
          <a:ln/>
        </p:spPr>
        <p:txBody>
          <a:bodyPr wrap="square"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Year 4</a:t>
            </a:r>
            <a:endParaRPr lang="en-US" sz="850" dirty="0"/>
          </a:p>
        </p:txBody>
      </p:sp>
      <p:sp>
        <p:nvSpPr>
          <p:cNvPr id="21" name="Text 18"/>
          <p:cNvSpPr/>
          <p:nvPr/>
        </p:nvSpPr>
        <p:spPr>
          <a:xfrm>
            <a:off x="5458968" y="3639312"/>
            <a:ext cx="3200400" cy="256032"/>
          </a:xfrm>
          <a:prstGeom prst="rect">
            <a:avLst/>
          </a:prstGeom>
          <a:noFill/>
          <a:ln/>
        </p:spPr>
        <p:txBody>
          <a:bodyPr wrap="square" rtlCol="0" anchor="t"/>
          <a:lstStyle/>
          <a:p>
            <a:pPr indent="0" marL="0">
              <a:buNone/>
            </a:pPr>
            <a:r>
              <a:rPr lang="en-US" sz="780" dirty="0">
                <a:solidFill>
                  <a:srgbClr val="374151"/>
                </a:solidFill>
                <a:latin typeface="Calibri" pitchFamily="34" charset="0"/>
                <a:ea typeface="Calibri" pitchFamily="34" charset="-122"/>
                <a:cs typeface="Calibri" pitchFamily="34" charset="-120"/>
              </a:rPr>
              <a:t>20L+ fermenter scale-up · Bengaluru institutional dominance · 1,000+ B2B · Series A readiness</a:t>
            </a:r>
            <a:endParaRPr lang="en-US" sz="780" dirty="0"/>
          </a:p>
        </p:txBody>
      </p:sp>
      <p:sp>
        <p:nvSpPr>
          <p:cNvPr id="22" name="Shape 19"/>
          <p:cNvSpPr/>
          <p:nvPr/>
        </p:nvSpPr>
        <p:spPr>
          <a:xfrm>
            <a:off x="5349240" y="4023360"/>
            <a:ext cx="3429000" cy="594360"/>
          </a:xfrm>
          <a:prstGeom prst="roundRect">
            <a:avLst>
              <a:gd name="adj" fmla="val 9231"/>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3" name="Text 20"/>
          <p:cNvSpPr/>
          <p:nvPr/>
        </p:nvSpPr>
        <p:spPr>
          <a:xfrm>
            <a:off x="5458968" y="4078224"/>
            <a:ext cx="594360" cy="219456"/>
          </a:xfrm>
          <a:prstGeom prst="rect">
            <a:avLst/>
          </a:prstGeom>
          <a:noFill/>
          <a:ln/>
        </p:spPr>
        <p:txBody>
          <a:bodyPr wrap="square"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Year 5</a:t>
            </a:r>
            <a:endParaRPr lang="en-US" sz="850" dirty="0"/>
          </a:p>
        </p:txBody>
      </p:sp>
      <p:sp>
        <p:nvSpPr>
          <p:cNvPr id="24" name="Text 21"/>
          <p:cNvSpPr/>
          <p:nvPr/>
        </p:nvSpPr>
        <p:spPr>
          <a:xfrm>
            <a:off x="5458968" y="4297680"/>
            <a:ext cx="3200400" cy="256032"/>
          </a:xfrm>
          <a:prstGeom prst="rect">
            <a:avLst/>
          </a:prstGeom>
          <a:noFill/>
          <a:ln/>
        </p:spPr>
        <p:txBody>
          <a:bodyPr wrap="square" rtlCol="0" anchor="t"/>
          <a:lstStyle/>
          <a:p>
            <a:pPr indent="0" marL="0">
              <a:buNone/>
            </a:pPr>
            <a:r>
              <a:rPr lang="en-US" sz="780" dirty="0">
                <a:solidFill>
                  <a:srgbClr val="374151"/>
                </a:solidFill>
                <a:latin typeface="Calibri" pitchFamily="34" charset="0"/>
                <a:ea typeface="Calibri" pitchFamily="34" charset="-122"/>
                <a:cs typeface="Calibri" pitchFamily="34" charset="-120"/>
              </a:rPr>
              <a:t>South India scale · Full IP portfolio filed · Manufacturing facility · Explore North India entry</a:t>
            </a:r>
            <a:endParaRPr lang="en-US" sz="780" dirty="0"/>
          </a:p>
        </p:txBody>
      </p:sp>
      <p:sp>
        <p:nvSpPr>
          <p:cNvPr id="25" name="Text 22"/>
          <p:cNvSpPr/>
          <p:nvPr/>
        </p:nvSpPr>
        <p:spPr>
          <a:xfrm>
            <a:off x="365760" y="4462272"/>
            <a:ext cx="8412480" cy="320040"/>
          </a:xfrm>
          <a:prstGeom prst="rect">
            <a:avLst/>
          </a:prstGeom>
          <a:noFill/>
          <a:ln/>
        </p:spPr>
        <p:txBody>
          <a:bodyPr wrap="square" rtlCol="0" anchor="ctr"/>
          <a:lstStyle/>
          <a:p>
            <a:pPr indent="0" marL="0">
              <a:buNone/>
            </a:pPr>
            <a:r>
              <a:rPr lang="en-US" sz="850" b="1" dirty="0">
                <a:solidFill>
                  <a:srgbClr val="374151"/>
                </a:solidFill>
                <a:latin typeface="Calibri" pitchFamily="34" charset="0"/>
                <a:ea typeface="Calibri" pitchFamily="34" charset="-122"/>
                <a:cs typeface="Calibri" pitchFamily="34" charset="-120"/>
              </a:rPr>
              <a:t xml:space="preserve">Year 3 market share target: </a:t>
            </a:r>
            <a:pPr indent="0" marL="0">
              <a:buNone/>
            </a:pPr>
            <a:r>
              <a:rPr lang="en-US" sz="850" dirty="0">
                <a:solidFill>
                  <a:srgbClr val="374151"/>
                </a:solidFill>
                <a:latin typeface="Calibri" pitchFamily="34" charset="0"/>
                <a:ea typeface="Calibri" pitchFamily="34" charset="-122"/>
                <a:cs typeface="Calibri" pitchFamily="34" charset="-120"/>
              </a:rPr>
              <a:t xml:space="preserve">3,000–5,000 active customers, South India (~2 purchases/week per customer)  ·  </a:t>
            </a:r>
            <a:pPr indent="0" marL="0">
              <a:buNone/>
            </a:pPr>
            <a:r>
              <a:rPr lang="en-US" sz="850" b="1" dirty="0">
                <a:solidFill>
                  <a:srgbClr val="374151"/>
                </a:solidFill>
                <a:latin typeface="Calibri" pitchFamily="34" charset="0"/>
                <a:ea typeface="Calibri" pitchFamily="34" charset="-122"/>
                <a:cs typeface="Calibri" pitchFamily="34" charset="-120"/>
              </a:rPr>
              <a:t xml:space="preserve">Year 5 revenue target: </a:t>
            </a:r>
            <a:pPr indent="0" marL="0">
              <a:buNone/>
            </a:pPr>
            <a:r>
              <a:rPr lang="en-US" sz="850" dirty="0">
                <a:solidFill>
                  <a:srgbClr val="374151"/>
                </a:solidFill>
                <a:latin typeface="Calibri" pitchFamily="34" charset="0"/>
                <a:ea typeface="Calibri" pitchFamily="34" charset="-122"/>
                <a:cs typeface="Calibri" pitchFamily="34" charset="-120"/>
              </a:rPr>
              <a:t>₹1,000–1,400L (midpoint ₹1,200L)</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1005840"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1005840"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CHALLENGES</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Known Risks — Identified Before Investors Do — With Active Mitigations</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Shape 4"/>
          <p:cNvSpPr/>
          <p:nvPr/>
        </p:nvSpPr>
        <p:spPr>
          <a:xfrm>
            <a:off x="365760" y="1115568"/>
            <a:ext cx="4114800" cy="1691640"/>
          </a:xfrm>
          <a:prstGeom prst="roundRect">
            <a:avLst>
              <a:gd name="adj" fmla="val 4324"/>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7" name="Shape 5"/>
          <p:cNvSpPr/>
          <p:nvPr/>
        </p:nvSpPr>
        <p:spPr>
          <a:xfrm>
            <a:off x="475488" y="1207008"/>
            <a:ext cx="804672" cy="219456"/>
          </a:xfrm>
          <a:prstGeom prst="roundRect">
            <a:avLst>
              <a:gd name="adj" fmla="val 16667"/>
            </a:avLst>
          </a:prstGeom>
          <a:solidFill>
            <a:srgbClr val="D97706"/>
          </a:solidFill>
          <a:ln w="12700">
            <a:solidFill>
              <a:srgbClr val="D97706"/>
            </a:solidFill>
            <a:prstDash val="solid"/>
          </a:ln>
        </p:spPr>
      </p:sp>
      <p:sp>
        <p:nvSpPr>
          <p:cNvPr id="8" name="Text 6"/>
          <p:cNvSpPr/>
          <p:nvPr/>
        </p:nvSpPr>
        <p:spPr>
          <a:xfrm>
            <a:off x="475488" y="1207008"/>
            <a:ext cx="804672"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9" name="Text 7"/>
          <p:cNvSpPr/>
          <p:nvPr/>
        </p:nvSpPr>
        <p:spPr>
          <a:xfrm>
            <a:off x="1371600" y="1188720"/>
            <a:ext cx="297180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FSSAI Licence Timeline</a:t>
            </a:r>
            <a:endParaRPr lang="en-US" sz="1100" dirty="0"/>
          </a:p>
        </p:txBody>
      </p:sp>
      <p:sp>
        <p:nvSpPr>
          <p:cNvPr id="10" name="Shape 8"/>
          <p:cNvSpPr/>
          <p:nvPr/>
        </p:nvSpPr>
        <p:spPr>
          <a:xfrm>
            <a:off x="475488" y="1499616"/>
            <a:ext cx="3886200" cy="10973"/>
          </a:xfrm>
          <a:prstGeom prst="rect">
            <a:avLst/>
          </a:prstGeom>
          <a:solidFill>
            <a:srgbClr val="CCEDE9"/>
          </a:solidFill>
          <a:ln w="12700">
            <a:solidFill>
              <a:srgbClr val="CCEDE9"/>
            </a:solidFill>
            <a:prstDash val="solid"/>
          </a:ln>
        </p:spPr>
      </p:sp>
      <p:sp>
        <p:nvSpPr>
          <p:cNvPr id="11" name="Text 9"/>
          <p:cNvSpPr/>
          <p:nvPr/>
        </p:nvSpPr>
        <p:spPr>
          <a:xfrm>
            <a:off x="475488" y="1572768"/>
            <a:ext cx="3886200" cy="1170432"/>
          </a:xfrm>
          <a:prstGeom prst="rect">
            <a:avLst/>
          </a:prstGeom>
          <a:noFill/>
          <a:ln/>
        </p:spPr>
        <p:txBody>
          <a:bodyPr wrap="square" rtlCol="0" anchor="t"/>
          <a:lstStyle/>
          <a:p>
            <a:pPr indent="0" marL="0">
              <a:buNone/>
            </a:pPr>
            <a:r>
              <a:rPr lang="en-US" sz="850" b="1" dirty="0">
                <a:solidFill>
                  <a:srgbClr val="DC2626"/>
                </a:solidFill>
                <a:latin typeface="Calibri" pitchFamily="34" charset="0"/>
                <a:ea typeface="Calibri" pitchFamily="34" charset="-122"/>
                <a:cs typeface="Calibri" pitchFamily="34" charset="-120"/>
              </a:rPr>
              <a:t xml:space="preserve">Risk: </a:t>
            </a:r>
            <a:pPr indent="0" marL="0">
              <a:buNone/>
            </a:pPr>
            <a:r>
              <a:rPr lang="en-US" sz="850" dirty="0">
                <a:solidFill>
                  <a:srgbClr val="374151"/>
                </a:solidFill>
                <a:latin typeface="Calibri" pitchFamily="34" charset="0"/>
                <a:ea typeface="Calibri" pitchFamily="34" charset="-122"/>
                <a:cs typeface="Calibri" pitchFamily="34" charset="-120"/>
              </a:rPr>
              <a:t>State manufacturing licence application takes 60–90 days to process. Any delay extends the time-to-revenue window.
</a:t>
            </a:r>
            <a:endParaRPr lang="en-US" sz="850" dirty="0"/>
          </a:p>
          <a:p>
            <a:pPr indent="0" marL="0">
              <a:buNone/>
            </a:pPr>
            <a:r>
              <a:rPr lang="en-US" sz="850" b="1" dirty="0">
                <a:solidFill>
                  <a:srgbClr val="059669"/>
                </a:solidFill>
                <a:latin typeface="Calibri" pitchFamily="34" charset="0"/>
                <a:ea typeface="Calibri" pitchFamily="34" charset="-122"/>
                <a:cs typeface="Calibri" pitchFamily="34" charset="-120"/>
              </a:rPr>
              <a:t xml:space="preserve">Mitigation: </a:t>
            </a:r>
            <a:pPr indent="0" marL="0">
              <a:buNone/>
            </a:pPr>
            <a:r>
              <a:rPr lang="en-US" sz="850" dirty="0">
                <a:solidFill>
                  <a:srgbClr val="374151"/>
                </a:solidFill>
                <a:latin typeface="Calibri" pitchFamily="34" charset="0"/>
                <a:ea typeface="Calibri" pitchFamily="34" charset="-122"/>
                <a:cs typeface="Calibri" pitchFamily="34" charset="-120"/>
              </a:rPr>
              <a:t>Application being prepared for immediate submission. State Licence processing: 30–60 days (corrected from prior 60–90 day estimate). Validation work continues in parallel. No revenue dependency until product launch (Q1 2027) — a 30-day licensing delay does not break the plan.</a:t>
            </a:r>
            <a:endParaRPr lang="en-US" sz="850" dirty="0"/>
          </a:p>
        </p:txBody>
      </p:sp>
      <p:sp>
        <p:nvSpPr>
          <p:cNvPr id="12" name="Shape 10"/>
          <p:cNvSpPr/>
          <p:nvPr/>
        </p:nvSpPr>
        <p:spPr>
          <a:xfrm>
            <a:off x="4709160" y="1115568"/>
            <a:ext cx="4114800" cy="1691640"/>
          </a:xfrm>
          <a:prstGeom prst="roundRect">
            <a:avLst>
              <a:gd name="adj" fmla="val 4324"/>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3" name="Shape 11"/>
          <p:cNvSpPr/>
          <p:nvPr/>
        </p:nvSpPr>
        <p:spPr>
          <a:xfrm>
            <a:off x="4818888" y="1207008"/>
            <a:ext cx="804672" cy="219456"/>
          </a:xfrm>
          <a:prstGeom prst="roundRect">
            <a:avLst>
              <a:gd name="adj" fmla="val 16667"/>
            </a:avLst>
          </a:prstGeom>
          <a:solidFill>
            <a:srgbClr val="D97706"/>
          </a:solidFill>
          <a:ln w="12700">
            <a:solidFill>
              <a:srgbClr val="D97706"/>
            </a:solidFill>
            <a:prstDash val="solid"/>
          </a:ln>
        </p:spPr>
      </p:sp>
      <p:sp>
        <p:nvSpPr>
          <p:cNvPr id="14" name="Text 12"/>
          <p:cNvSpPr/>
          <p:nvPr/>
        </p:nvSpPr>
        <p:spPr>
          <a:xfrm>
            <a:off x="4818888" y="1207008"/>
            <a:ext cx="804672"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15" name="Text 13"/>
          <p:cNvSpPr/>
          <p:nvPr/>
        </p:nvSpPr>
        <p:spPr>
          <a:xfrm>
            <a:off x="5715000" y="1188720"/>
            <a:ext cx="297180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GABA Yield Uncertainty</a:t>
            </a:r>
            <a:endParaRPr lang="en-US" sz="1100" dirty="0"/>
          </a:p>
        </p:txBody>
      </p:sp>
      <p:sp>
        <p:nvSpPr>
          <p:cNvPr id="16" name="Shape 14"/>
          <p:cNvSpPr/>
          <p:nvPr/>
        </p:nvSpPr>
        <p:spPr>
          <a:xfrm>
            <a:off x="4818888" y="1499616"/>
            <a:ext cx="3886200" cy="10973"/>
          </a:xfrm>
          <a:prstGeom prst="rect">
            <a:avLst/>
          </a:prstGeom>
          <a:solidFill>
            <a:srgbClr val="CCEDE9"/>
          </a:solidFill>
          <a:ln w="12700">
            <a:solidFill>
              <a:srgbClr val="CCEDE9"/>
            </a:solidFill>
            <a:prstDash val="solid"/>
          </a:ln>
        </p:spPr>
      </p:sp>
      <p:sp>
        <p:nvSpPr>
          <p:cNvPr id="17" name="Text 15"/>
          <p:cNvSpPr/>
          <p:nvPr/>
        </p:nvSpPr>
        <p:spPr>
          <a:xfrm>
            <a:off x="4818888" y="1572768"/>
            <a:ext cx="3886200" cy="1170432"/>
          </a:xfrm>
          <a:prstGeom prst="rect">
            <a:avLst/>
          </a:prstGeom>
          <a:noFill/>
          <a:ln/>
        </p:spPr>
        <p:txBody>
          <a:bodyPr wrap="square" rtlCol="0" anchor="t"/>
          <a:lstStyle/>
          <a:p>
            <a:pPr indent="0" marL="0">
              <a:buNone/>
            </a:pPr>
            <a:r>
              <a:rPr lang="en-US" sz="850" b="1" dirty="0">
                <a:solidFill>
                  <a:srgbClr val="DC2626"/>
                </a:solidFill>
                <a:latin typeface="Calibri" pitchFamily="34" charset="0"/>
                <a:ea typeface="Calibri" pitchFamily="34" charset="-122"/>
                <a:cs typeface="Calibri" pitchFamily="34" charset="-120"/>
              </a:rPr>
              <a:t xml:space="preserve">Risk: </a:t>
            </a:r>
            <a:pPr indent="0" marL="0">
              <a:buNone/>
            </a:pPr>
            <a:r>
              <a:rPr lang="en-US" sz="850" dirty="0">
                <a:solidFill>
                  <a:srgbClr val="374151"/>
                </a:solidFill>
                <a:latin typeface="Calibri" pitchFamily="34" charset="0"/>
                <a:ea typeface="Calibri" pitchFamily="34" charset="-122"/>
                <a:cs typeface="Calibri" pitchFamily="34" charset="-120"/>
              </a:rPr>
              <a:t>Our wild L. brevis isolate may not produce commercially meaningful GABA concentrations in every batch.
</a:t>
            </a:r>
            <a:endParaRPr lang="en-US" sz="850" dirty="0"/>
          </a:p>
          <a:p>
            <a:pPr indent="0" marL="0">
              <a:buNone/>
            </a:pPr>
            <a:r>
              <a:rPr lang="en-US" sz="850" b="1" dirty="0">
                <a:solidFill>
                  <a:srgbClr val="059669"/>
                </a:solidFill>
                <a:latin typeface="Calibri" pitchFamily="34" charset="0"/>
                <a:ea typeface="Calibri" pitchFamily="34" charset="-122"/>
                <a:cs typeface="Calibri" pitchFamily="34" charset="-120"/>
              </a:rPr>
              <a:t xml:space="preserve">Mitigation: </a:t>
            </a:r>
            <a:pPr indent="0" marL="0">
              <a:buNone/>
            </a:pPr>
            <a:r>
              <a:rPr lang="en-US" sz="850" dirty="0">
                <a:solidFill>
                  <a:srgbClr val="374151"/>
                </a:solidFill>
                <a:latin typeface="Calibri" pitchFamily="34" charset="0"/>
                <a:ea typeface="Calibri" pitchFamily="34" charset="-122"/>
                <a:cs typeface="Calibri" pitchFamily="34" charset="-120"/>
              </a:rPr>
              <a:t>Bioactive validation covers GABA, hericenones, cordycepin, ganoderic acids, beta-glucans, and anthocyanins — not GABA alone. MTCC 25662 backup strain ordered if wild isolate underperforms. Multiple substrate conditions tested in parallel. HPLC outsourced to NABL lab — funded by SISFS grant. 16S rRNA characterisation in progress at TBI-DETI@ACE.</a:t>
            </a:r>
            <a:endParaRPr lang="en-US" sz="850" dirty="0"/>
          </a:p>
        </p:txBody>
      </p:sp>
      <p:sp>
        <p:nvSpPr>
          <p:cNvPr id="18" name="Shape 16"/>
          <p:cNvSpPr/>
          <p:nvPr/>
        </p:nvSpPr>
        <p:spPr>
          <a:xfrm>
            <a:off x="365760" y="2999232"/>
            <a:ext cx="4114800" cy="1691640"/>
          </a:xfrm>
          <a:prstGeom prst="roundRect">
            <a:avLst>
              <a:gd name="adj" fmla="val 4324"/>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9" name="Shape 17"/>
          <p:cNvSpPr/>
          <p:nvPr/>
        </p:nvSpPr>
        <p:spPr>
          <a:xfrm>
            <a:off x="475488" y="3090672"/>
            <a:ext cx="804672" cy="219456"/>
          </a:xfrm>
          <a:prstGeom prst="roundRect">
            <a:avLst>
              <a:gd name="adj" fmla="val 16667"/>
            </a:avLst>
          </a:prstGeom>
          <a:solidFill>
            <a:srgbClr val="059669"/>
          </a:solidFill>
          <a:ln w="12700">
            <a:solidFill>
              <a:srgbClr val="059669"/>
            </a:solidFill>
            <a:prstDash val="solid"/>
          </a:ln>
        </p:spPr>
      </p:sp>
      <p:sp>
        <p:nvSpPr>
          <p:cNvPr id="20" name="Text 18"/>
          <p:cNvSpPr/>
          <p:nvPr/>
        </p:nvSpPr>
        <p:spPr>
          <a:xfrm>
            <a:off x="475488" y="3090672"/>
            <a:ext cx="804672"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LOW</a:t>
            </a:r>
            <a:endParaRPr lang="en-US" sz="700" dirty="0"/>
          </a:p>
        </p:txBody>
      </p:sp>
      <p:sp>
        <p:nvSpPr>
          <p:cNvPr id="21" name="Text 19"/>
          <p:cNvSpPr/>
          <p:nvPr/>
        </p:nvSpPr>
        <p:spPr>
          <a:xfrm>
            <a:off x="1371600" y="3072384"/>
            <a:ext cx="297180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Raw Material Quality + Batch-to-Batch Consistency</a:t>
            </a:r>
            <a:endParaRPr lang="en-US" sz="1100" dirty="0"/>
          </a:p>
        </p:txBody>
      </p:sp>
      <p:sp>
        <p:nvSpPr>
          <p:cNvPr id="22" name="Shape 20"/>
          <p:cNvSpPr/>
          <p:nvPr/>
        </p:nvSpPr>
        <p:spPr>
          <a:xfrm>
            <a:off x="475488" y="3383280"/>
            <a:ext cx="3886200" cy="10973"/>
          </a:xfrm>
          <a:prstGeom prst="rect">
            <a:avLst/>
          </a:prstGeom>
          <a:solidFill>
            <a:srgbClr val="CCEDE9"/>
          </a:solidFill>
          <a:ln w="12700">
            <a:solidFill>
              <a:srgbClr val="CCEDE9"/>
            </a:solidFill>
            <a:prstDash val="solid"/>
          </a:ln>
        </p:spPr>
      </p:sp>
      <p:sp>
        <p:nvSpPr>
          <p:cNvPr id="23" name="Text 21"/>
          <p:cNvSpPr/>
          <p:nvPr/>
        </p:nvSpPr>
        <p:spPr>
          <a:xfrm>
            <a:off x="475488" y="3456432"/>
            <a:ext cx="3886200" cy="1170432"/>
          </a:xfrm>
          <a:prstGeom prst="rect">
            <a:avLst/>
          </a:prstGeom>
          <a:noFill/>
          <a:ln/>
        </p:spPr>
        <p:txBody>
          <a:bodyPr wrap="square" rtlCol="0" anchor="t"/>
          <a:lstStyle/>
          <a:p>
            <a:pPr indent="0" marL="0">
              <a:buNone/>
            </a:pPr>
            <a:r>
              <a:rPr lang="en-US" sz="850" b="1" dirty="0">
                <a:solidFill>
                  <a:srgbClr val="DC2626"/>
                </a:solidFill>
                <a:latin typeface="Calibri" pitchFamily="34" charset="0"/>
                <a:ea typeface="Calibri" pitchFamily="34" charset="-122"/>
                <a:cs typeface="Calibri" pitchFamily="34" charset="-120"/>
              </a:rPr>
              <a:t xml:space="preserve">Risk: </a:t>
            </a:r>
            <a:pPr indent="0" marL="0">
              <a:buNone/>
            </a:pPr>
            <a:r>
              <a:rPr lang="en-US" sz="850" dirty="0">
                <a:solidFill>
                  <a:srgbClr val="374151"/>
                </a:solidFill>
                <a:latin typeface="Calibri" pitchFamily="34" charset="0"/>
                <a:ea typeface="Calibri" pitchFamily="34" charset="-122"/>
                <a:cs typeface="Calibri" pitchFamily="34" charset="-120"/>
              </a:rPr>
              <a:t>Ragi, Karuppu Kavuni, and urad dal vary seasonally — affecting fermentation performance and bioactive yield. Natural fermentation produces batch-to-batch variation in pH endpoint, colour, and taste.
</a:t>
            </a:r>
            <a:endParaRPr lang="en-US" sz="850" dirty="0"/>
          </a:p>
          <a:p>
            <a:pPr indent="0" marL="0">
              <a:buNone/>
            </a:pPr>
            <a:r>
              <a:rPr lang="en-US" sz="850" b="1" dirty="0">
                <a:solidFill>
                  <a:srgbClr val="059669"/>
                </a:solidFill>
                <a:latin typeface="Calibri" pitchFamily="34" charset="0"/>
                <a:ea typeface="Calibri" pitchFamily="34" charset="-122"/>
                <a:cs typeface="Calibri" pitchFamily="34" charset="-120"/>
              </a:rPr>
              <a:t xml:space="preserve">Mitigation: </a:t>
            </a:r>
            <a:pPr indent="0" marL="0">
              <a:buNone/>
            </a:pPr>
            <a:r>
              <a:rPr lang="en-US" sz="850" dirty="0">
                <a:solidFill>
                  <a:srgbClr val="374151"/>
                </a:solidFill>
                <a:latin typeface="Calibri" pitchFamily="34" charset="0"/>
                <a:ea typeface="Calibri" pitchFamily="34" charset="-122"/>
                <a:cs typeface="Calibri" pitchFamily="34" charset="-120"/>
              </a:rPr>
              <a:t>SISFS funds transition to controlled 2L bioprocess (pH stat, temperature control, agitation) — primary mitigation for batch-to-batch inconsistency. OxyOS tracks every batch parameter statistically, enabling CAPA. Instrument constraints are anticipated and budgeted — not a surprise. Autoclave confirmed operational in shared lab.</a:t>
            </a:r>
            <a:endParaRPr lang="en-US" sz="850" dirty="0"/>
          </a:p>
        </p:txBody>
      </p:sp>
      <p:sp>
        <p:nvSpPr>
          <p:cNvPr id="24" name="Shape 22"/>
          <p:cNvSpPr/>
          <p:nvPr/>
        </p:nvSpPr>
        <p:spPr>
          <a:xfrm>
            <a:off x="4709160" y="2999232"/>
            <a:ext cx="4114800" cy="1691640"/>
          </a:xfrm>
          <a:prstGeom prst="roundRect">
            <a:avLst>
              <a:gd name="adj" fmla="val 4324"/>
            </a:avLst>
          </a:prstGeom>
          <a:solidFill>
            <a:srgbClr val="FFFF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5" name="Shape 23"/>
          <p:cNvSpPr/>
          <p:nvPr/>
        </p:nvSpPr>
        <p:spPr>
          <a:xfrm>
            <a:off x="4818888" y="3090672"/>
            <a:ext cx="804672" cy="219456"/>
          </a:xfrm>
          <a:prstGeom prst="roundRect">
            <a:avLst>
              <a:gd name="adj" fmla="val 16667"/>
            </a:avLst>
          </a:prstGeom>
          <a:solidFill>
            <a:srgbClr val="059669"/>
          </a:solidFill>
          <a:ln w="12700">
            <a:solidFill>
              <a:srgbClr val="059669"/>
            </a:solidFill>
            <a:prstDash val="solid"/>
          </a:ln>
        </p:spPr>
      </p:sp>
      <p:sp>
        <p:nvSpPr>
          <p:cNvPr id="26" name="Text 24"/>
          <p:cNvSpPr/>
          <p:nvPr/>
        </p:nvSpPr>
        <p:spPr>
          <a:xfrm>
            <a:off x="4818888" y="3090672"/>
            <a:ext cx="804672"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LOW</a:t>
            </a:r>
            <a:endParaRPr lang="en-US" sz="700" dirty="0"/>
          </a:p>
        </p:txBody>
      </p:sp>
      <p:sp>
        <p:nvSpPr>
          <p:cNvPr id="27" name="Text 25"/>
          <p:cNvSpPr/>
          <p:nvPr/>
        </p:nvSpPr>
        <p:spPr>
          <a:xfrm>
            <a:off x="5715000" y="3072384"/>
            <a:ext cx="297180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Mushroom Cost / Supply + Large Company Replication</a:t>
            </a:r>
            <a:endParaRPr lang="en-US" sz="1100" dirty="0"/>
          </a:p>
        </p:txBody>
      </p:sp>
      <p:sp>
        <p:nvSpPr>
          <p:cNvPr id="28" name="Shape 26"/>
          <p:cNvSpPr/>
          <p:nvPr/>
        </p:nvSpPr>
        <p:spPr>
          <a:xfrm>
            <a:off x="4818888" y="3383280"/>
            <a:ext cx="3886200" cy="10973"/>
          </a:xfrm>
          <a:prstGeom prst="rect">
            <a:avLst/>
          </a:prstGeom>
          <a:solidFill>
            <a:srgbClr val="CCEDE9"/>
          </a:solidFill>
          <a:ln w="12700">
            <a:solidFill>
              <a:srgbClr val="CCEDE9"/>
            </a:solidFill>
            <a:prstDash val="solid"/>
          </a:ln>
        </p:spPr>
      </p:sp>
      <p:sp>
        <p:nvSpPr>
          <p:cNvPr id="29" name="Text 27"/>
          <p:cNvSpPr/>
          <p:nvPr/>
        </p:nvSpPr>
        <p:spPr>
          <a:xfrm>
            <a:off x="4818888" y="3456432"/>
            <a:ext cx="3886200" cy="1170432"/>
          </a:xfrm>
          <a:prstGeom prst="rect">
            <a:avLst/>
          </a:prstGeom>
          <a:noFill/>
          <a:ln/>
        </p:spPr>
        <p:txBody>
          <a:bodyPr wrap="square" rtlCol="0" anchor="t"/>
          <a:lstStyle/>
          <a:p>
            <a:pPr indent="0" marL="0">
              <a:buNone/>
            </a:pPr>
            <a:r>
              <a:rPr lang="en-US" sz="850" b="1" dirty="0">
                <a:solidFill>
                  <a:srgbClr val="DC2626"/>
                </a:solidFill>
                <a:latin typeface="Calibri" pitchFamily="34" charset="0"/>
                <a:ea typeface="Calibri" pitchFamily="34" charset="-122"/>
                <a:cs typeface="Calibri" pitchFamily="34" charset="-120"/>
              </a:rPr>
              <a:t xml:space="preserve">Risk: </a:t>
            </a:r>
            <a:pPr indent="0" marL="0">
              <a:buNone/>
            </a:pPr>
            <a:r>
              <a:rPr lang="en-US" sz="850" dirty="0">
                <a:solidFill>
                  <a:srgbClr val="374151"/>
                </a:solidFill>
                <a:latin typeface="Calibri" pitchFamily="34" charset="0"/>
                <a:ea typeface="Calibri" pitchFamily="34" charset="-122"/>
                <a:cs typeface="Calibri" pitchFamily="34" charset="-120"/>
              </a:rPr>
              <a:t>Medicinal mushroom extracts (Lion’s Mane, Cordyceps, Reishi) are import-dependent and expensive. If OBI proves the category, large FMCG players may replicate with greater resources. Patent-sensitive process details excluded from all public documents.
</a:t>
            </a:r>
            <a:endParaRPr lang="en-US" sz="850" dirty="0"/>
          </a:p>
          <a:p>
            <a:pPr indent="0" marL="0">
              <a:buNone/>
            </a:pPr>
            <a:r>
              <a:rPr lang="en-US" sz="850" b="1" dirty="0">
                <a:solidFill>
                  <a:srgbClr val="059669"/>
                </a:solidFill>
                <a:latin typeface="Calibri" pitchFamily="34" charset="0"/>
                <a:ea typeface="Calibri" pitchFamily="34" charset="-122"/>
                <a:cs typeface="Calibri" pitchFamily="34" charset="-120"/>
              </a:rPr>
              <a:t xml:space="preserve">Mitigation: </a:t>
            </a:r>
            <a:pPr indent="0" marL="0">
              <a:buNone/>
            </a:pPr>
            <a:r>
              <a:rPr lang="en-US" sz="850" dirty="0">
                <a:solidFill>
                  <a:srgbClr val="374151"/>
                </a:solidFill>
                <a:latin typeface="Calibri" pitchFamily="34" charset="0"/>
                <a:ea typeface="Calibri" pitchFamily="34" charset="-122"/>
                <a:cs typeface="Calibri" pitchFamily="34" charset="-120"/>
              </a:rPr>
              <a:t>Phase 2: domestic mushroom cultivation partnerships + multiple supplier qualification to reduce import dependence and cost. Patent filing covers integrated novel process — IP moat. First-mover brand loyalty + Karuppu Kavuni sourcing network + OxyOS infrastructure = replication barriers. Large FMCG companies require 18–36 months to enter a new subcategory.</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2355494"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2355494"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FUNDING / AWARDS / CAP TABLE</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Recognition  ·  Current Funding Status  ·  Capital Structure</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Shape 4"/>
          <p:cNvSpPr/>
          <p:nvPr/>
        </p:nvSpPr>
        <p:spPr>
          <a:xfrm>
            <a:off x="365760" y="1115568"/>
            <a:ext cx="3977640" cy="2423160"/>
          </a:xfrm>
          <a:prstGeom prst="roundRect">
            <a:avLst>
              <a:gd name="adj" fmla="val 3019"/>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7" name="Shape 5"/>
          <p:cNvSpPr/>
          <p:nvPr/>
        </p:nvSpPr>
        <p:spPr>
          <a:xfrm>
            <a:off x="548640" y="1188720"/>
            <a:ext cx="1755648" cy="228600"/>
          </a:xfrm>
          <a:prstGeom prst="roundRect">
            <a:avLst>
              <a:gd name="adj" fmla="val 20000"/>
            </a:avLst>
          </a:prstGeom>
          <a:solidFill>
            <a:srgbClr val="0D9488"/>
          </a:solidFill>
          <a:ln w="12700">
            <a:solidFill>
              <a:srgbClr val="0D9488"/>
            </a:solidFill>
            <a:prstDash val="solid"/>
          </a:ln>
        </p:spPr>
      </p:sp>
      <p:sp>
        <p:nvSpPr>
          <p:cNvPr id="8" name="Text 6"/>
          <p:cNvSpPr/>
          <p:nvPr/>
        </p:nvSpPr>
        <p:spPr>
          <a:xfrm>
            <a:off x="548640" y="1188720"/>
            <a:ext cx="1755648"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AWARDS &amp; RECOGNITION</a:t>
            </a:r>
            <a:endParaRPr lang="en-US" sz="700" dirty="0"/>
          </a:p>
        </p:txBody>
      </p:sp>
      <p:sp>
        <p:nvSpPr>
          <p:cNvPr id="9" name="Text 7"/>
          <p:cNvSpPr/>
          <p:nvPr/>
        </p:nvSpPr>
        <p:spPr>
          <a:xfrm>
            <a:off x="548640" y="1463040"/>
            <a:ext cx="3611880" cy="219456"/>
          </a:xfrm>
          <a:prstGeom prst="rect">
            <a:avLst/>
          </a:prstGeom>
          <a:noFill/>
          <a:ln/>
        </p:spPr>
        <p:txBody>
          <a:bodyPr wrap="square" rtlCol="0" anchor="ctr"/>
          <a:lstStyle/>
          <a:p>
            <a:pPr indent="0" marL="0">
              <a:buNone/>
            </a:pPr>
            <a:r>
              <a:rPr lang="en-US" sz="1000" b="1" dirty="0">
                <a:solidFill>
                  <a:srgbClr val="0A6059"/>
                </a:solidFill>
                <a:latin typeface="Calibri" pitchFamily="34" charset="0"/>
                <a:ea typeface="Calibri" pitchFamily="34" charset="-122"/>
                <a:cs typeface="Calibri" pitchFamily="34" charset="-120"/>
              </a:rPr>
              <a:t>DPIIT Recognised</a:t>
            </a:r>
            <a:endParaRPr lang="en-US" sz="1000" dirty="0"/>
          </a:p>
        </p:txBody>
      </p:sp>
      <p:sp>
        <p:nvSpPr>
          <p:cNvPr id="10" name="Text 8"/>
          <p:cNvSpPr/>
          <p:nvPr/>
        </p:nvSpPr>
        <p:spPr>
          <a:xfrm>
            <a:off x="548640" y="1682496"/>
            <a:ext cx="3611880" cy="365760"/>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Certificate No. DIPP258270 · DeepTech, Biotechnology · Issued 29 April 2026 · Valid until 04 March 2036</a:t>
            </a:r>
            <a:endParaRPr lang="en-US" sz="850" dirty="0"/>
          </a:p>
        </p:txBody>
      </p:sp>
      <p:sp>
        <p:nvSpPr>
          <p:cNvPr id="11" name="Text 9"/>
          <p:cNvSpPr/>
          <p:nvPr/>
        </p:nvSpPr>
        <p:spPr>
          <a:xfrm>
            <a:off x="548640" y="2121408"/>
            <a:ext cx="3611880" cy="219456"/>
          </a:xfrm>
          <a:prstGeom prst="rect">
            <a:avLst/>
          </a:prstGeom>
          <a:noFill/>
          <a:ln/>
        </p:spPr>
        <p:txBody>
          <a:bodyPr wrap="square" rtlCol="0" anchor="ctr"/>
          <a:lstStyle/>
          <a:p>
            <a:pPr indent="0" marL="0">
              <a:buNone/>
            </a:pPr>
            <a:r>
              <a:rPr lang="en-US" sz="1000" b="1" dirty="0">
                <a:solidFill>
                  <a:srgbClr val="0A6059"/>
                </a:solidFill>
                <a:latin typeface="Calibri" pitchFamily="34" charset="0"/>
                <a:ea typeface="Calibri" pitchFamily="34" charset="-122"/>
                <a:cs typeface="Calibri" pitchFamily="34" charset="-120"/>
              </a:rPr>
              <a:t>TBI-DETI@ACE Incubatee</a:t>
            </a:r>
            <a:endParaRPr lang="en-US" sz="1000" dirty="0"/>
          </a:p>
        </p:txBody>
      </p:sp>
      <p:sp>
        <p:nvSpPr>
          <p:cNvPr id="12" name="Text 10"/>
          <p:cNvSpPr/>
          <p:nvPr/>
        </p:nvSpPr>
        <p:spPr>
          <a:xfrm>
            <a:off x="548640" y="2340864"/>
            <a:ext cx="3611880" cy="365760"/>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Adhiyamaan College of Engineering, Hosur, Tamil Nadu · Technology Business Incubator · Lab access, mentorship, infrastructure</a:t>
            </a:r>
            <a:endParaRPr lang="en-US" sz="850" dirty="0"/>
          </a:p>
        </p:txBody>
      </p:sp>
      <p:sp>
        <p:nvSpPr>
          <p:cNvPr id="13" name="Text 11"/>
          <p:cNvSpPr/>
          <p:nvPr/>
        </p:nvSpPr>
        <p:spPr>
          <a:xfrm>
            <a:off x="548640" y="2779776"/>
            <a:ext cx="3611880" cy="219456"/>
          </a:xfrm>
          <a:prstGeom prst="rect">
            <a:avLst/>
          </a:prstGeom>
          <a:noFill/>
          <a:ln/>
        </p:spPr>
        <p:txBody>
          <a:bodyPr wrap="square" rtlCol="0" anchor="ctr"/>
          <a:lstStyle/>
          <a:p>
            <a:pPr indent="0" marL="0">
              <a:buNone/>
            </a:pPr>
            <a:r>
              <a:rPr lang="en-US" sz="1000" b="1" dirty="0">
                <a:solidFill>
                  <a:srgbClr val="0A6059"/>
                </a:solidFill>
                <a:latin typeface="Calibri" pitchFamily="34" charset="0"/>
                <a:ea typeface="Calibri" pitchFamily="34" charset="-122"/>
                <a:cs typeface="Calibri" pitchFamily="34" charset="-120"/>
              </a:rPr>
              <a:t>SISFS Applicant</a:t>
            </a:r>
            <a:endParaRPr lang="en-US" sz="1000" dirty="0"/>
          </a:p>
        </p:txBody>
      </p:sp>
      <p:sp>
        <p:nvSpPr>
          <p:cNvPr id="14" name="Text 12"/>
          <p:cNvSpPr/>
          <p:nvPr/>
        </p:nvSpPr>
        <p:spPr>
          <a:xfrm>
            <a:off x="548640" y="2999232"/>
            <a:ext cx="3611880" cy="365760"/>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Application No. 113783 · Indigram Labs Foundation · Screening Presentation: 19 June 2026</a:t>
            </a:r>
            <a:endParaRPr lang="en-US" sz="850" dirty="0"/>
          </a:p>
        </p:txBody>
      </p:sp>
      <p:sp>
        <p:nvSpPr>
          <p:cNvPr id="15" name="Shape 13"/>
          <p:cNvSpPr/>
          <p:nvPr/>
        </p:nvSpPr>
        <p:spPr>
          <a:xfrm>
            <a:off x="4526280" y="1115568"/>
            <a:ext cx="4251960" cy="1650000"/>
          </a:xfrm>
          <a:prstGeom prst="roundRect">
            <a:avLst>
              <a:gd name="adj" fmla="val 5714"/>
            </a:avLst>
          </a:prstGeom>
          <a:solidFill>
            <a:srgbClr val="FFFBEB"/>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16" name="Shape 14"/>
          <p:cNvSpPr/>
          <p:nvPr/>
        </p:nvSpPr>
        <p:spPr>
          <a:xfrm>
            <a:off x="4709160" y="1188720"/>
            <a:ext cx="1455725" cy="228600"/>
          </a:xfrm>
          <a:prstGeom prst="roundRect">
            <a:avLst>
              <a:gd name="adj" fmla="val 20000"/>
            </a:avLst>
          </a:prstGeom>
          <a:solidFill>
            <a:srgbClr val="D97706"/>
          </a:solidFill>
          <a:ln w="12700">
            <a:solidFill>
              <a:srgbClr val="D97706"/>
            </a:solidFill>
            <a:prstDash val="solid"/>
          </a:ln>
        </p:spPr>
      </p:sp>
      <p:sp>
        <p:nvSpPr>
          <p:cNvPr id="17" name="Text 15"/>
          <p:cNvSpPr/>
          <p:nvPr/>
        </p:nvSpPr>
        <p:spPr>
          <a:xfrm>
            <a:off x="4709160" y="1188720"/>
            <a:ext cx="1455725"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FUNDING PIPELINE</a:t>
            </a:r>
            <a:endParaRPr lang="en-US" sz="700" dirty="0"/>
          </a:p>
        </p:txBody>
      </p:sp>
      <p:sp>
        <p:nvSpPr>
          <p:cNvPr id="18" name="Text 16"/>
          <p:cNvSpPr/>
          <p:nvPr/>
        </p:nvSpPr>
        <p:spPr>
          <a:xfrm>
            <a:off x="4709160" y="1463040"/>
            <a:ext cx="2194560" cy="201168"/>
          </a:xfrm>
          <a:prstGeom prst="rect">
            <a:avLst/>
          </a:prstGeom>
          <a:noFill/>
          <a:ln/>
        </p:spPr>
        <p:txBody>
          <a:bodyPr wrap="square"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Bootstrapped</a:t>
            </a:r>
            <a:endParaRPr lang="en-US" sz="900" dirty="0"/>
          </a:p>
        </p:txBody>
      </p:sp>
      <p:sp>
        <p:nvSpPr>
          <p:cNvPr id="19" name="Text 17"/>
          <p:cNvSpPr/>
          <p:nvPr/>
        </p:nvSpPr>
        <p:spPr>
          <a:xfrm>
            <a:off x="4709160" y="1664208"/>
            <a:ext cx="2194560" cy="182880"/>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Phase 0 operational</a:t>
            </a:r>
            <a:endParaRPr lang="en-US" sz="850" dirty="0"/>
          </a:p>
        </p:txBody>
      </p:sp>
      <p:sp>
        <p:nvSpPr>
          <p:cNvPr id="20" name="Text 18"/>
          <p:cNvSpPr/>
          <p:nvPr/>
        </p:nvSpPr>
        <p:spPr>
          <a:xfrm>
            <a:off x="6949440" y="1508760"/>
            <a:ext cx="1645920" cy="201168"/>
          </a:xfrm>
          <a:prstGeom prst="rect">
            <a:avLst/>
          </a:prstGeom>
          <a:noFill/>
          <a:ln/>
        </p:spPr>
        <p:txBody>
          <a:bodyPr wrap="square" rtlCol="0" anchor="ctr"/>
          <a:lstStyle/>
          <a:p>
            <a:pPr algn="r" indent="0" marL="0">
              <a:buNone/>
            </a:pPr>
            <a:r>
              <a:rPr lang="en-US" sz="850" b="1" dirty="0">
                <a:solidFill>
                  <a:srgbClr val="059669"/>
                </a:solidFill>
                <a:latin typeface="Calibri" pitchFamily="34" charset="0"/>
                <a:ea typeface="Calibri" pitchFamily="34" charset="-122"/>
                <a:cs typeface="Calibri" pitchFamily="34" charset="-120"/>
              </a:rPr>
              <a:t>Confirmed</a:t>
            </a:r>
            <a:endParaRPr lang="en-US" sz="850" dirty="0"/>
          </a:p>
        </p:txBody>
      </p:sp>
      <p:sp>
        <p:nvSpPr>
          <p:cNvPr id="21" name="Text 19"/>
          <p:cNvSpPr/>
          <p:nvPr/>
        </p:nvSpPr>
        <p:spPr>
          <a:xfrm>
            <a:off x="4709160" y="1874520"/>
            <a:ext cx="2194560" cy="201168"/>
          </a:xfrm>
          <a:prstGeom prst="rect">
            <a:avLst/>
          </a:prstGeom>
          <a:noFill/>
          <a:ln/>
        </p:spPr>
        <p:txBody>
          <a:bodyPr wrap="square"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SISFS — Indigram Labs</a:t>
            </a:r>
            <a:endParaRPr lang="en-US" sz="900" dirty="0"/>
          </a:p>
        </p:txBody>
      </p:sp>
      <p:sp>
        <p:nvSpPr>
          <p:cNvPr id="22" name="Text 20"/>
          <p:cNvSpPr/>
          <p:nvPr/>
        </p:nvSpPr>
        <p:spPr>
          <a:xfrm>
            <a:off x="4709160" y="2075688"/>
            <a:ext cx="2194560" cy="182880"/>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₹20L (this application)</a:t>
            </a:r>
            <a:endParaRPr lang="en-US" sz="850" dirty="0"/>
          </a:p>
        </p:txBody>
      </p:sp>
      <p:sp>
        <p:nvSpPr>
          <p:cNvPr id="23" name="Text 21"/>
          <p:cNvSpPr/>
          <p:nvPr/>
        </p:nvSpPr>
        <p:spPr>
          <a:xfrm>
            <a:off x="6949440" y="1920240"/>
            <a:ext cx="1645920" cy="201168"/>
          </a:xfrm>
          <a:prstGeom prst="rect">
            <a:avLst/>
          </a:prstGeom>
          <a:noFill/>
          <a:ln/>
        </p:spPr>
        <p:txBody>
          <a:bodyPr wrap="square" rtlCol="0" anchor="ctr"/>
          <a:lstStyle/>
          <a:p>
            <a:pPr algn="r" indent="0" marL="0">
              <a:buNone/>
            </a:pPr>
            <a:r>
              <a:rPr lang="en-US" sz="850" b="1" dirty="0">
                <a:solidFill>
                  <a:srgbClr val="D97706"/>
                </a:solidFill>
                <a:latin typeface="Calibri" pitchFamily="34" charset="0"/>
                <a:ea typeface="Calibri" pitchFamily="34" charset="-122"/>
                <a:cs typeface="Calibri" pitchFamily="34" charset="-120"/>
              </a:rPr>
              <a:t>In Progress</a:t>
            </a:r>
            <a:endParaRPr lang="en-US" sz="850" dirty="0"/>
          </a:p>
        </p:txBody>
      </p:sp>
      <p:sp>
        <p:nvSpPr>
          <p:cNvPr id="24" name="Text 22"/>
          <p:cNvSpPr/>
          <p:nvPr/>
        </p:nvSpPr>
        <p:spPr>
          <a:xfrm>
            <a:off x="4709160" y="2286000"/>
            <a:ext cx="2194560" cy="201168"/>
          </a:xfrm>
          <a:prstGeom prst="rect">
            <a:avLst/>
          </a:prstGeom>
          <a:noFill/>
          <a:ln/>
        </p:spPr>
        <p:txBody>
          <a:bodyPr wrap="square"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BIRAC BIG Grant</a:t>
            </a:r>
            <a:endParaRPr lang="en-US" sz="900" dirty="0"/>
          </a:p>
        </p:txBody>
      </p:sp>
      <p:sp>
        <p:nvSpPr>
          <p:cNvPr id="25" name="Text 23"/>
          <p:cNvSpPr/>
          <p:nvPr/>
        </p:nvSpPr>
        <p:spPr>
          <a:xfrm>
            <a:off x="4709160" y="2487168"/>
            <a:ext cx="2194560" cy="182880"/>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₹50L target — July 2026 call</a:t>
            </a:r>
            <a:endParaRPr lang="en-US" sz="850" dirty="0"/>
          </a:p>
        </p:txBody>
      </p:sp>
      <p:sp>
        <p:nvSpPr>
          <p:cNvPr id="26" name="Text 24"/>
          <p:cNvSpPr/>
          <p:nvPr/>
        </p:nvSpPr>
        <p:spPr>
          <a:xfrm>
            <a:off x="6949440" y="2331720"/>
            <a:ext cx="1645920" cy="201168"/>
          </a:xfrm>
          <a:prstGeom prst="rect">
            <a:avLst/>
          </a:prstGeom>
          <a:noFill/>
          <a:ln/>
        </p:spPr>
        <p:txBody>
          <a:bodyPr wrap="square" rtlCol="0" anchor="ctr"/>
          <a:lstStyle/>
          <a:p>
            <a:pPr algn="r" indent="0" marL="0">
              <a:buNone/>
            </a:pPr>
            <a:r>
              <a:rPr lang="en-US" sz="850" b="1" dirty="0">
                <a:solidFill>
                  <a:srgbClr val="6B7280"/>
                </a:solidFill>
                <a:latin typeface="Calibri" pitchFamily="34" charset="0"/>
                <a:ea typeface="Calibri" pitchFamily="34" charset="-122"/>
                <a:cs typeface="Calibri" pitchFamily="34" charset="-120"/>
              </a:rPr>
              <a:t>Planned</a:t>
            </a:r>
            <a:endParaRPr lang="en-US" sz="850" dirty="0"/>
          </a:p>
        </p:txBody>
      </p:sp>
      <p:sp>
        <p:nvSpPr>
          <p:cNvPr id="27" name="Shape 25"/>
          <p:cNvSpPr/>
          <p:nvPr/>
        </p:nvSpPr>
        <p:spPr>
          <a:xfrm>
            <a:off x="4526280" y="2911872"/>
            <a:ext cx="4251960" cy="1005840"/>
          </a:xfrm>
          <a:prstGeom prst="roundRect">
            <a:avLst>
              <a:gd name="adj" fmla="val 7273"/>
            </a:avLst>
          </a:prstGeom>
          <a:solidFill>
            <a:srgbClr val="F5F3FF"/>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28" name="Shape 26"/>
          <p:cNvSpPr/>
          <p:nvPr/>
        </p:nvSpPr>
        <p:spPr>
          <a:xfrm>
            <a:off x="4709160" y="2985024"/>
            <a:ext cx="930859" cy="228600"/>
          </a:xfrm>
          <a:prstGeom prst="roundRect">
            <a:avLst>
              <a:gd name="adj" fmla="val 20000"/>
            </a:avLst>
          </a:prstGeom>
          <a:solidFill>
            <a:srgbClr val="7C3AED"/>
          </a:solidFill>
          <a:ln w="12700">
            <a:solidFill>
              <a:srgbClr val="7C3AED"/>
            </a:solidFill>
            <a:prstDash val="solid"/>
          </a:ln>
        </p:spPr>
      </p:sp>
      <p:sp>
        <p:nvSpPr>
          <p:cNvPr id="29" name="Text 27"/>
          <p:cNvSpPr/>
          <p:nvPr/>
        </p:nvSpPr>
        <p:spPr>
          <a:xfrm>
            <a:off x="4709160" y="2985024"/>
            <a:ext cx="930859"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CAP TABLE</a:t>
            </a:r>
            <a:endParaRPr lang="en-US" sz="700" dirty="0"/>
          </a:p>
        </p:txBody>
      </p:sp>
      <p:sp>
        <p:nvSpPr>
          <p:cNvPr id="30" name="Text 28"/>
          <p:cNvSpPr/>
          <p:nvPr/>
        </p:nvSpPr>
        <p:spPr>
          <a:xfrm>
            <a:off x="4709160" y="3241056"/>
            <a:ext cx="3886200" cy="621792"/>
          </a:xfrm>
          <a:prstGeom prst="rect">
            <a:avLst/>
          </a:prstGeom>
          <a:noFill/>
          <a:ln/>
        </p:spPr>
        <p:txBody>
          <a:bodyPr wrap="square" rtlCol="0" anchor="t"/>
          <a:lstStyle/>
          <a:p>
            <a:pPr indent="0" marL="0">
              <a:buNone/>
            </a:pPr>
            <a:r>
              <a:rPr lang="en-US" sz="900" b="1" dirty="0">
                <a:solidFill>
                  <a:srgbClr val="374151"/>
                </a:solidFill>
                <a:latin typeface="Calibri" pitchFamily="34" charset="0"/>
                <a:ea typeface="Calibri" pitchFamily="34" charset="-122"/>
                <a:cs typeface="Calibri" pitchFamily="34" charset="-120"/>
              </a:rPr>
              <a:t xml:space="preserve">Manisreethaar S (CEO &amp; Director): </a:t>
            </a:r>
            <a:pPr indent="0" marL="0">
              <a:buNone/>
            </a:pPr>
            <a:r>
              <a:rPr lang="en-US" sz="900" dirty="0">
                <a:solidFill>
                  <a:srgbClr val="374151"/>
                </a:solidFill>
                <a:latin typeface="Calibri" pitchFamily="34" charset="0"/>
                <a:ea typeface="Calibri" pitchFamily="34" charset="-122"/>
                <a:cs typeface="Calibri" pitchFamily="34" charset="-120"/>
              </a:rPr>
              <a:t>99% equity
</a:t>
            </a:r>
            <a:endParaRPr lang="en-US" sz="900" dirty="0"/>
          </a:p>
          <a:p>
            <a:pPr indent="0" marL="0">
              <a:buNone/>
            </a:pPr>
            <a:r>
              <a:rPr lang="en-US" sz="900" b="1" dirty="0">
                <a:solidFill>
                  <a:srgbClr val="374151"/>
                </a:solidFill>
                <a:latin typeface="Calibri" pitchFamily="34" charset="0"/>
                <a:ea typeface="Calibri" pitchFamily="34" charset="-122"/>
                <a:cs typeface="Calibri" pitchFamily="34" charset="-120"/>
              </a:rPr>
              <a:t xml:space="preserve">Libinraj Christopher (Co-Director): </a:t>
            </a:r>
            <a:pPr indent="0" marL="0">
              <a:buNone/>
            </a:pPr>
            <a:r>
              <a:rPr lang="en-US" sz="900" dirty="0">
                <a:solidFill>
                  <a:srgbClr val="374151"/>
                </a:solidFill>
                <a:latin typeface="Calibri" pitchFamily="34" charset="0"/>
                <a:ea typeface="Calibri" pitchFamily="34" charset="-122"/>
                <a:cs typeface="Calibri" pitchFamily="34" charset="-120"/>
              </a:rPr>
              <a:t>1%
</a:t>
            </a:r>
            <a:endParaRPr lang="en-US" sz="900" dirty="0"/>
          </a:p>
          <a:p>
            <a:pPr indent="0" marL="0">
              <a:buNone/>
            </a:pPr>
            <a:r>
              <a:rPr lang="en-US" sz="900" b="1" dirty="0">
                <a:solidFill>
                  <a:srgbClr val="374151"/>
                </a:solidFill>
                <a:latin typeface="Calibri" pitchFamily="34" charset="0"/>
                <a:ea typeface="Calibri" pitchFamily="34" charset="-122"/>
                <a:cs typeface="Calibri" pitchFamily="34" charset="-120"/>
              </a:rPr>
              <a:t xml:space="preserve">External equity / Debt drawn: </a:t>
            </a:r>
            <a:pPr indent="0" marL="0">
              <a:buNone/>
            </a:pPr>
            <a:r>
              <a:rPr lang="en-US" sz="900" dirty="0">
                <a:solidFill>
                  <a:srgbClr val="374151"/>
                </a:solidFill>
                <a:latin typeface="Calibri" pitchFamily="34" charset="0"/>
                <a:ea typeface="Calibri" pitchFamily="34" charset="-122"/>
                <a:cs typeface="Calibri" pitchFamily="34" charset="-120"/>
              </a:rPr>
              <a:t>None — 100% founder-owned, zero external capital</a:t>
            </a:r>
            <a:endParaRPr lang="en-US" sz="900" dirty="0"/>
          </a:p>
        </p:txBody>
      </p:sp>
      <p:sp>
        <p:nvSpPr>
          <p:cNvPr id="31" name="Shape 29"/>
          <p:cNvSpPr/>
          <p:nvPr/>
        </p:nvSpPr>
        <p:spPr>
          <a:xfrm>
            <a:off x="365760" y="4073160"/>
            <a:ext cx="8412480" cy="685800"/>
          </a:xfrm>
          <a:prstGeom prst="roundRect">
            <a:avLst>
              <a:gd name="adj" fmla="val 10667"/>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32" name="Shape 30"/>
          <p:cNvSpPr/>
          <p:nvPr/>
        </p:nvSpPr>
        <p:spPr>
          <a:xfrm>
            <a:off x="548640" y="4146312"/>
            <a:ext cx="2205533" cy="228600"/>
          </a:xfrm>
          <a:prstGeom prst="roundRect">
            <a:avLst>
              <a:gd name="adj" fmla="val 20000"/>
            </a:avLst>
          </a:prstGeom>
          <a:solidFill>
            <a:srgbClr val="6B7280"/>
          </a:solidFill>
          <a:ln w="12700">
            <a:solidFill>
              <a:srgbClr val="6B7280"/>
            </a:solidFill>
            <a:prstDash val="solid"/>
          </a:ln>
        </p:spPr>
      </p:sp>
      <p:sp>
        <p:nvSpPr>
          <p:cNvPr id="33" name="Text 31"/>
          <p:cNvSpPr/>
          <p:nvPr/>
        </p:nvSpPr>
        <p:spPr>
          <a:xfrm>
            <a:off x="548640" y="4146312"/>
            <a:ext cx="2205533"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PIPELINE — NOT YET APPLIED</a:t>
            </a:r>
            <a:endParaRPr lang="en-US" sz="700" dirty="0"/>
          </a:p>
        </p:txBody>
      </p:sp>
      <p:sp>
        <p:nvSpPr>
          <p:cNvPr id="34" name="Text 32"/>
          <p:cNvSpPr/>
          <p:nvPr/>
        </p:nvSpPr>
        <p:spPr>
          <a:xfrm>
            <a:off x="548640" y="4374912"/>
            <a:ext cx="8046720" cy="320040"/>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TANSEED · TANFUND · CFTRI BioNEST · NIFTEM N-SIP · DST NIDHI · DBT schemes · C-CAMP NBEC 2026 (applied, result awaited) — research ongoing. Loan / debt instruments not being pursued at this stage. Focus is 100% on grant-funded validation before any capex decision.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365760" y="182880"/>
            <a:ext cx="1230782" cy="228600"/>
          </a:xfrm>
          <a:prstGeom prst="roundRect">
            <a:avLst>
              <a:gd name="adj" fmla="val 20000"/>
            </a:avLst>
          </a:prstGeom>
          <a:solidFill>
            <a:srgbClr val="0D9488"/>
          </a:solidFill>
          <a:ln w="12700">
            <a:solidFill>
              <a:srgbClr val="0D9488"/>
            </a:solidFill>
            <a:prstDash val="solid"/>
          </a:ln>
        </p:spPr>
      </p:sp>
      <p:sp>
        <p:nvSpPr>
          <p:cNvPr id="3" name="Text 1"/>
          <p:cNvSpPr/>
          <p:nvPr/>
        </p:nvSpPr>
        <p:spPr>
          <a:xfrm>
            <a:off x="365760" y="182880"/>
            <a:ext cx="1230782"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FUND REQUIRED</a:t>
            </a:r>
            <a:endParaRPr lang="en-US" sz="700" dirty="0"/>
          </a:p>
        </p:txBody>
      </p:sp>
      <p:sp>
        <p:nvSpPr>
          <p:cNvPr id="4" name="Text 2"/>
          <p:cNvSpPr/>
          <p:nvPr/>
        </p:nvSpPr>
        <p:spPr>
          <a:xfrm>
            <a:off x="365760" y="484632"/>
            <a:ext cx="8412480" cy="475488"/>
          </a:xfrm>
          <a:prstGeom prst="rect">
            <a:avLst/>
          </a:prstGeom>
          <a:noFill/>
          <a:ln/>
        </p:spPr>
        <p:txBody>
          <a:bodyPr wrap="square" rtlCol="0" anchor="ctr"/>
          <a:lstStyle/>
          <a:p>
            <a:pPr indent="0" marL="0">
              <a:buNone/>
            </a:pPr>
            <a:r>
              <a:rPr lang="en-US" sz="2100" b="1" dirty="0">
                <a:solidFill>
                  <a:srgbClr val="0A6059"/>
                </a:solidFill>
                <a:latin typeface="Calibri" pitchFamily="34" charset="0"/>
                <a:ea typeface="Calibri" pitchFamily="34" charset="-122"/>
                <a:cs typeface="Calibri" pitchFamily="34" charset="-120"/>
              </a:rPr>
              <a:t>SISFS Grant Ask — ₹20,00,000  ·  Milestone-Linked Deployment Plan</a:t>
            </a:r>
            <a:endParaRPr lang="en-US" sz="2100" dirty="0"/>
          </a:p>
        </p:txBody>
      </p:sp>
      <p:sp>
        <p:nvSpPr>
          <p:cNvPr id="5" name="Shape 3"/>
          <p:cNvSpPr/>
          <p:nvPr/>
        </p:nvSpPr>
        <p:spPr>
          <a:xfrm>
            <a:off x="365760" y="914400"/>
            <a:ext cx="8412480" cy="16459"/>
          </a:xfrm>
          <a:prstGeom prst="rect">
            <a:avLst/>
          </a:prstGeom>
          <a:solidFill>
            <a:srgbClr val="CCEDE9"/>
          </a:solidFill>
          <a:ln w="12700">
            <a:solidFill>
              <a:srgbClr val="CCEDE9"/>
            </a:solidFill>
            <a:prstDash val="solid"/>
          </a:ln>
        </p:spPr>
      </p:sp>
      <p:sp>
        <p:nvSpPr>
          <p:cNvPr id="6" name="Shape 4"/>
          <p:cNvSpPr/>
          <p:nvPr/>
        </p:nvSpPr>
        <p:spPr>
          <a:xfrm>
            <a:off x="365760" y="1097280"/>
            <a:ext cx="3474720" cy="1143000"/>
          </a:xfrm>
          <a:prstGeom prst="roundRect">
            <a:avLst>
              <a:gd name="adj" fmla="val 6400"/>
            </a:avLst>
          </a:prstGeom>
          <a:solidFill>
            <a:srgbClr val="E6F7F5"/>
          </a:solidFill>
          <a:ln w="6350">
            <a:solidFill>
              <a:srgbClr val="CCEDE9"/>
            </a:solidFill>
            <a:prstDash val="solid"/>
          </a:ln>
          <a:effectLst>
            <a:outerShdw sx="100000" sy="100000" kx="0" ky="0" algn="bl" rotWithShape="0" blurRad="63500" dist="25400" dir="2700000">
              <a:srgbClr val="000000">
                <a:alpha val="9000"/>
              </a:srgbClr>
            </a:outerShdw>
          </a:effectLst>
        </p:spPr>
      </p:sp>
      <p:sp>
        <p:nvSpPr>
          <p:cNvPr id="7" name="Text 5"/>
          <p:cNvSpPr/>
          <p:nvPr/>
        </p:nvSpPr>
        <p:spPr>
          <a:xfrm>
            <a:off x="457200" y="1170432"/>
            <a:ext cx="3291840" cy="640080"/>
          </a:xfrm>
          <a:prstGeom prst="rect">
            <a:avLst/>
          </a:prstGeom>
          <a:noFill/>
          <a:ln/>
        </p:spPr>
        <p:txBody>
          <a:bodyPr wrap="square" rtlCol="0" anchor="ctr"/>
          <a:lstStyle/>
          <a:p>
            <a:pPr algn="ctr" indent="0" marL="0">
              <a:buNone/>
            </a:pPr>
            <a:r>
              <a:rPr lang="en-US" sz="3000" b="1" dirty="0">
                <a:solidFill>
                  <a:srgbClr val="0A6059"/>
                </a:solidFill>
                <a:latin typeface="Calibri" pitchFamily="34" charset="0"/>
                <a:ea typeface="Calibri" pitchFamily="34" charset="-122"/>
                <a:cs typeface="Calibri" pitchFamily="34" charset="-120"/>
              </a:rPr>
              <a:t>₹20,00,000</a:t>
            </a:r>
            <a:endParaRPr lang="en-US" sz="3000" dirty="0"/>
          </a:p>
        </p:txBody>
      </p:sp>
      <p:sp>
        <p:nvSpPr>
          <p:cNvPr id="8" name="Text 6"/>
          <p:cNvSpPr/>
          <p:nvPr/>
        </p:nvSpPr>
        <p:spPr>
          <a:xfrm>
            <a:off x="457200" y="1783080"/>
            <a:ext cx="3291840" cy="365760"/>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Total Grant Requested  ·  Debt: None  ·  Equity: None</a:t>
            </a:r>
            <a:endParaRPr lang="en-US" sz="850" dirty="0"/>
          </a:p>
        </p:txBody>
      </p:sp>
      <p:graphicFrame>
        <p:nvGraphicFramePr>
          <p:cNvPr id="9" name="Chart 0" descr=""/>
          <p:cNvGraphicFramePr/>
          <p:nvPr/>
        </p:nvGraphicFramePr>
        <p:xfrm>
          <a:off x="4023360" y="1078992"/>
          <a:ext cx="2377440" cy="201168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720840" y="1170432"/>
            <a:ext cx="182880" cy="182880"/>
          </a:xfrm>
          <a:prstGeom prst="roundRect">
            <a:avLst>
              <a:gd name="adj" fmla="val 15000"/>
            </a:avLst>
          </a:prstGeom>
          <a:solidFill>
            <a:srgbClr val="0D9488"/>
          </a:solidFill>
          <a:ln w="12700">
            <a:solidFill>
              <a:srgbClr val="0D9488"/>
            </a:solidFill>
            <a:prstDash val="solid"/>
          </a:ln>
        </p:spPr>
      </p:sp>
      <p:sp>
        <p:nvSpPr>
          <p:cNvPr id="11" name="Text 8"/>
          <p:cNvSpPr/>
          <p:nvPr/>
        </p:nvSpPr>
        <p:spPr>
          <a:xfrm>
            <a:off x="6976872" y="1170432"/>
            <a:ext cx="1847088" cy="201168"/>
          </a:xfrm>
          <a:prstGeom prst="rect">
            <a:avLst/>
          </a:prstGeom>
          <a:noFill/>
          <a:ln/>
        </p:spPr>
        <p:txBody>
          <a:bodyPr wrap="square" rtlCol="0" anchor="ctr"/>
          <a:lstStyle/>
          <a:p>
            <a:pPr indent="0" marL="0">
              <a:buNone/>
            </a:pPr>
            <a:r>
              <a:rPr lang="en-US" sz="780" dirty="0">
                <a:solidFill>
                  <a:srgbClr val="374151"/>
                </a:solidFill>
                <a:latin typeface="Calibri" pitchFamily="34" charset="0"/>
                <a:ea typeface="Calibri" pitchFamily="34" charset="-122"/>
                <a:cs typeface="Calibri" pitchFamily="34" charset="-120"/>
              </a:rPr>
              <a:t>Bioactive Validation + NABL Testing (30%) — ₹6,00,000</a:t>
            </a:r>
            <a:endParaRPr lang="en-US" sz="780" dirty="0"/>
          </a:p>
        </p:txBody>
      </p:sp>
      <p:sp>
        <p:nvSpPr>
          <p:cNvPr id="12" name="Shape 9"/>
          <p:cNvSpPr/>
          <p:nvPr/>
        </p:nvSpPr>
        <p:spPr>
          <a:xfrm>
            <a:off x="6720840" y="1444752"/>
            <a:ext cx="182880" cy="182880"/>
          </a:xfrm>
          <a:prstGeom prst="roundRect">
            <a:avLst>
              <a:gd name="adj" fmla="val 15000"/>
            </a:avLst>
          </a:prstGeom>
          <a:solidFill>
            <a:srgbClr val="0369A1"/>
          </a:solidFill>
          <a:ln w="12700">
            <a:solidFill>
              <a:srgbClr val="0369A1"/>
            </a:solidFill>
            <a:prstDash val="solid"/>
          </a:ln>
        </p:spPr>
      </p:sp>
      <p:sp>
        <p:nvSpPr>
          <p:cNvPr id="13" name="Text 10"/>
          <p:cNvSpPr/>
          <p:nvPr/>
        </p:nvSpPr>
        <p:spPr>
          <a:xfrm>
            <a:off x="6976872" y="1444752"/>
            <a:ext cx="1847088" cy="201168"/>
          </a:xfrm>
          <a:prstGeom prst="rect">
            <a:avLst/>
          </a:prstGeom>
          <a:noFill/>
          <a:ln/>
        </p:spPr>
        <p:txBody>
          <a:bodyPr wrap="square" rtlCol="0" anchor="ctr"/>
          <a:lstStyle/>
          <a:p>
            <a:pPr indent="0" marL="0">
              <a:buNone/>
            </a:pPr>
            <a:r>
              <a:rPr lang="en-US" sz="780" dirty="0">
                <a:solidFill>
                  <a:srgbClr val="374151"/>
                </a:solidFill>
                <a:latin typeface="Calibri" pitchFamily="34" charset="0"/>
                <a:ea typeface="Calibri" pitchFamily="34" charset="-122"/>
                <a:cs typeface="Calibri" pitchFamily="34" charset="-120"/>
              </a:rPr>
              <a:t>Regulatory + IP Filing (25%) — ₹5,00,000</a:t>
            </a:r>
            <a:endParaRPr lang="en-US" sz="780" dirty="0"/>
          </a:p>
        </p:txBody>
      </p:sp>
      <p:sp>
        <p:nvSpPr>
          <p:cNvPr id="14" name="Shape 11"/>
          <p:cNvSpPr/>
          <p:nvPr/>
        </p:nvSpPr>
        <p:spPr>
          <a:xfrm>
            <a:off x="6720840" y="1719072"/>
            <a:ext cx="182880" cy="182880"/>
          </a:xfrm>
          <a:prstGeom prst="roundRect">
            <a:avLst>
              <a:gd name="adj" fmla="val 15000"/>
            </a:avLst>
          </a:prstGeom>
          <a:solidFill>
            <a:srgbClr val="7C3AED"/>
          </a:solidFill>
          <a:ln w="12700">
            <a:solidFill>
              <a:srgbClr val="7C3AED"/>
            </a:solidFill>
            <a:prstDash val="solid"/>
          </a:ln>
        </p:spPr>
      </p:sp>
      <p:sp>
        <p:nvSpPr>
          <p:cNvPr id="15" name="Text 12"/>
          <p:cNvSpPr/>
          <p:nvPr/>
        </p:nvSpPr>
        <p:spPr>
          <a:xfrm>
            <a:off x="6976872" y="1719072"/>
            <a:ext cx="1847088" cy="201168"/>
          </a:xfrm>
          <a:prstGeom prst="rect">
            <a:avLst/>
          </a:prstGeom>
          <a:noFill/>
          <a:ln/>
        </p:spPr>
        <p:txBody>
          <a:bodyPr wrap="square" rtlCol="0" anchor="ctr"/>
          <a:lstStyle/>
          <a:p>
            <a:pPr indent="0" marL="0">
              <a:buNone/>
            </a:pPr>
            <a:r>
              <a:rPr lang="en-US" sz="780" dirty="0">
                <a:solidFill>
                  <a:srgbClr val="374151"/>
                </a:solidFill>
                <a:latin typeface="Calibri" pitchFamily="34" charset="0"/>
                <a:ea typeface="Calibri" pitchFamily="34" charset="-122"/>
                <a:cs typeface="Calibri" pitchFamily="34" charset="-120"/>
              </a:rPr>
              <a:t>Shelf-Life + Process Validation (20%) — ₹4,00,000</a:t>
            </a:r>
            <a:endParaRPr lang="en-US" sz="780" dirty="0"/>
          </a:p>
        </p:txBody>
      </p:sp>
      <p:sp>
        <p:nvSpPr>
          <p:cNvPr id="16" name="Shape 13"/>
          <p:cNvSpPr/>
          <p:nvPr/>
        </p:nvSpPr>
        <p:spPr>
          <a:xfrm>
            <a:off x="6720840" y="1993392"/>
            <a:ext cx="182880" cy="182880"/>
          </a:xfrm>
          <a:prstGeom prst="roundRect">
            <a:avLst>
              <a:gd name="adj" fmla="val 15000"/>
            </a:avLst>
          </a:prstGeom>
          <a:solidFill>
            <a:srgbClr val="D97706"/>
          </a:solidFill>
          <a:ln w="12700">
            <a:solidFill>
              <a:srgbClr val="D97706"/>
            </a:solidFill>
            <a:prstDash val="solid"/>
          </a:ln>
        </p:spPr>
      </p:sp>
      <p:sp>
        <p:nvSpPr>
          <p:cNvPr id="17" name="Text 14"/>
          <p:cNvSpPr/>
          <p:nvPr/>
        </p:nvSpPr>
        <p:spPr>
          <a:xfrm>
            <a:off x="6976872" y="1993392"/>
            <a:ext cx="1847088" cy="201168"/>
          </a:xfrm>
          <a:prstGeom prst="rect">
            <a:avLst/>
          </a:prstGeom>
          <a:noFill/>
          <a:ln/>
        </p:spPr>
        <p:txBody>
          <a:bodyPr wrap="square" rtlCol="0" anchor="ctr"/>
          <a:lstStyle/>
          <a:p>
            <a:pPr indent="0" marL="0">
              <a:buNone/>
            </a:pPr>
            <a:r>
              <a:rPr lang="en-US" sz="780" dirty="0">
                <a:solidFill>
                  <a:srgbClr val="374151"/>
                </a:solidFill>
                <a:latin typeface="Calibri" pitchFamily="34" charset="0"/>
                <a:ea typeface="Calibri" pitchFamily="34" charset="-122"/>
                <a:cs typeface="Calibri" pitchFamily="34" charset="-120"/>
              </a:rPr>
              <a:t>Consumables, Reagents + Stipends (25%) — ₹5,00,000</a:t>
            </a:r>
            <a:endParaRPr lang="en-US" sz="78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2542032"/>
          <a:ext cx="8412480" cy="2423160"/>
        </p:xfrm>
        <a:graphic>
          <a:graphicData uri="http://schemas.openxmlformats.org/drawingml/2006/table">
            <a:tbl>
              <a:tblPr/>
              <a:tblGrid>
                <a:gridCol w="2011680"/>
                <a:gridCol w="3657600"/>
                <a:gridCol w="1097280"/>
                <a:gridCol w="1645920"/>
              </a:tblGrid>
              <a:tr h="26974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Milestone</a:t>
                      </a:r>
                      <a:endParaRPr lang="en-US" sz="9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c>
                  <a:txBody>
                    <a:bodyPr/>
                    <a:lstStyle/>
                    <a:p>
                      <a:pPr indent="0" marL="0">
                        <a:buNone/>
                      </a:pPr>
                      <a:r>
                        <a:rPr lang="en-US" sz="900" b="1" dirty="0">
                          <a:solidFill>
                            <a:srgbClr val="0D9488"/>
                          </a:solidFill>
                          <a:latin typeface="Calibri" pitchFamily="34" charset="0"/>
                          <a:ea typeface="Calibri" pitchFamily="34" charset="-122"/>
                          <a:cs typeface="Calibri" pitchFamily="34" charset="-120"/>
                        </a:rPr>
                        <a:t>Deliverable</a:t>
                      </a:r>
                      <a:endParaRPr lang="en-US" sz="9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c>
                  <a:txBody>
                    <a:bodyPr/>
                    <a:lstStyle/>
                    <a:p>
                      <a:pPr algn="ctr" indent="0" marL="0">
                        <a:buNone/>
                      </a:pPr>
                      <a:r>
                        <a:rPr lang="en-US" sz="900" b="1" dirty="0">
                          <a:solidFill>
                            <a:srgbClr val="0D9488"/>
                          </a:solidFill>
                          <a:latin typeface="Calibri" pitchFamily="34" charset="0"/>
                          <a:ea typeface="Calibri" pitchFamily="34" charset="-122"/>
                          <a:cs typeface="Calibri" pitchFamily="34" charset="-120"/>
                        </a:rPr>
                        <a:t>Timeline</a:t>
                      </a:r>
                      <a:endParaRPr lang="en-US" sz="9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c>
                  <a:txBody>
                    <a:bodyPr/>
                    <a:lstStyle/>
                    <a:p>
                      <a:pPr algn="ctr" indent="0" marL="0">
                        <a:buNone/>
                      </a:pPr>
                      <a:r>
                        <a:rPr lang="en-US" sz="900" b="1" dirty="0">
                          <a:solidFill>
                            <a:srgbClr val="0D9488"/>
                          </a:solidFill>
                          <a:latin typeface="Calibri" pitchFamily="34" charset="0"/>
                          <a:ea typeface="Calibri" pitchFamily="34" charset="-122"/>
                          <a:cs typeface="Calibri" pitchFamily="34" charset="-120"/>
                        </a:rPr>
                        <a:t>Fund (₹)</a:t>
                      </a:r>
                      <a:endParaRPr lang="en-US" sz="9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r>
              <a:tr h="269748">
                <a:tc>
                  <a:txBody>
                    <a:bodyPr/>
                    <a:lstStyle/>
                    <a:p>
                      <a:pPr indent="0" marL="0">
                        <a:buNone/>
                      </a:pPr>
                      <a:r>
                        <a:rPr lang="en-US" sz="850" b="1" dirty="0">
                          <a:solidFill>
                            <a:srgbClr val="000000"/>
                          </a:solidFill>
                          <a:latin typeface="Calibri" pitchFamily="34" charset="0"/>
                          <a:ea typeface="Calibri" pitchFamily="34" charset="-122"/>
                          <a:cs typeface="Calibri" pitchFamily="34" charset="-120"/>
                        </a:rPr>
                        <a:t>Bioactive Yield Validation</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HPLC quantification — 3 batches (GABA, hericenones, cordycepin, ganoderic acids, beta-glucans); L. brevis MTCC strain deposit; 16S rRNA characterisation</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850" dirty="0">
                          <a:solidFill>
                            <a:srgbClr val="000000"/>
                          </a:solidFill>
                          <a:latin typeface="Calibri" pitchFamily="34" charset="0"/>
                          <a:ea typeface="Calibri" pitchFamily="34" charset="-122"/>
                          <a:cs typeface="Calibri" pitchFamily="34" charset="-120"/>
                        </a:rPr>
                        <a:t>Month 1–3</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850" b="1" dirty="0">
                          <a:solidFill>
                            <a:srgbClr val="000000"/>
                          </a:solidFill>
                          <a:latin typeface="Calibri" pitchFamily="34" charset="0"/>
                          <a:ea typeface="Calibri" pitchFamily="34" charset="-122"/>
                          <a:cs typeface="Calibri" pitchFamily="34" charset="-120"/>
                        </a:rPr>
                        <a:t>₹3,00,000</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r>
              <a:tr h="269748">
                <a:tc>
                  <a:txBody>
                    <a:bodyPr/>
                    <a:lstStyle/>
                    <a:p>
                      <a:pPr indent="0" marL="0">
                        <a:buNone/>
                      </a:pPr>
                      <a:r>
                        <a:rPr lang="en-US" sz="850" b="1" dirty="0">
                          <a:solidFill>
                            <a:srgbClr val="000000"/>
                          </a:solidFill>
                          <a:latin typeface="Calibri" pitchFamily="34" charset="0"/>
                          <a:ea typeface="Calibri" pitchFamily="34" charset="-122"/>
                          <a:cs typeface="Calibri" pitchFamily="34" charset="-120"/>
                        </a:rPr>
                        <a:t>NABL Batch Testing</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Microbial, heavy metals, nutritional, mycotoxin certificate — 3 production batches (₹35,000–45,000/batch, South India NABL labs, non-carbonated category) + HPLC bioactive panel</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Calibri" pitchFamily="34" charset="0"/>
                          <a:ea typeface="Calibri" pitchFamily="34" charset="-122"/>
                          <a:cs typeface="Calibri" pitchFamily="34" charset="-120"/>
                        </a:rPr>
                        <a:t>Month 3–5</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0000"/>
                          </a:solidFill>
                          <a:latin typeface="Calibri" pitchFamily="34" charset="0"/>
                          <a:ea typeface="Calibri" pitchFamily="34" charset="-122"/>
                          <a:cs typeface="Calibri" pitchFamily="34" charset="-120"/>
                        </a:rPr>
                        <a:t>₹3,00,000</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r>
              <a:tr h="269748">
                <a:tc>
                  <a:txBody>
                    <a:bodyPr/>
                    <a:lstStyle/>
                    <a:p>
                      <a:pPr indent="0" marL="0">
                        <a:buNone/>
                      </a:pPr>
                      <a:r>
                        <a:rPr lang="en-US" sz="850" b="1" dirty="0">
                          <a:solidFill>
                            <a:srgbClr val="000000"/>
                          </a:solidFill>
                          <a:latin typeface="Calibri" pitchFamily="34" charset="0"/>
                          <a:ea typeface="Calibri" pitchFamily="34" charset="-122"/>
                          <a:cs typeface="Calibri" pitchFamily="34" charset="-120"/>
                        </a:rPr>
                        <a:t>FSSAI Licence Application</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FoSCoS application + FOSTAC certification (2 staff) + Schedule 4 premises compliance audit and upgrades (handwashing station, pest control certification, drainage) + regulatory consultant retainer for application support and category verification</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850" dirty="0">
                          <a:solidFill>
                            <a:srgbClr val="000000"/>
                          </a:solidFill>
                          <a:latin typeface="Calibri" pitchFamily="34" charset="0"/>
                          <a:ea typeface="Calibri" pitchFamily="34" charset="-122"/>
                          <a:cs typeface="Calibri" pitchFamily="34" charset="-120"/>
                        </a:rPr>
                        <a:t>Month 1–4</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850" b="1" dirty="0">
                          <a:solidFill>
                            <a:srgbClr val="000000"/>
                          </a:solidFill>
                          <a:latin typeface="Calibri" pitchFamily="34" charset="0"/>
                          <a:ea typeface="Calibri" pitchFamily="34" charset="-122"/>
                          <a:cs typeface="Calibri" pitchFamily="34" charset="-120"/>
                        </a:rPr>
                        <a:t>₹2,50,000</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r>
              <a:tr h="269748">
                <a:tc>
                  <a:txBody>
                    <a:bodyPr/>
                    <a:lstStyle/>
                    <a:p>
                      <a:pPr indent="0" marL="0">
                        <a:buNone/>
                      </a:pPr>
                      <a:r>
                        <a:rPr lang="en-US" sz="850" b="1" dirty="0">
                          <a:solidFill>
                            <a:srgbClr val="000000"/>
                          </a:solidFill>
                          <a:latin typeface="Calibri" pitchFamily="34" charset="0"/>
                          <a:ea typeface="Calibri" pitchFamily="34" charset="-122"/>
                          <a:cs typeface="Calibri" pitchFamily="34" charset="-120"/>
                        </a:rPr>
                        <a:t>Patent Provisional Filing</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Provisional application filed with IPO Chennai (post-HPLC + MTCC deposit) + patent agent retainer covering prior-art search, claims drafting, and complete specification preparation within 12 months of provisional</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Calibri" pitchFamily="34" charset="0"/>
                          <a:ea typeface="Calibri" pitchFamily="34" charset="-122"/>
                          <a:cs typeface="Calibri" pitchFamily="34" charset="-120"/>
                        </a:rPr>
                        <a:t>Month 2–3</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0000"/>
                          </a:solidFill>
                          <a:latin typeface="Calibri" pitchFamily="34" charset="0"/>
                          <a:ea typeface="Calibri" pitchFamily="34" charset="-122"/>
                          <a:cs typeface="Calibri" pitchFamily="34" charset="-120"/>
                        </a:rPr>
                        <a:t>₹2,50,000</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r>
              <a:tr h="269748">
                <a:tc>
                  <a:txBody>
                    <a:bodyPr/>
                    <a:lstStyle/>
                    <a:p>
                      <a:pPr indent="0" marL="0">
                        <a:buNone/>
                      </a:pPr>
                      <a:r>
                        <a:rPr lang="en-US" sz="850" b="1" dirty="0">
                          <a:solidFill>
                            <a:srgbClr val="000000"/>
                          </a:solidFill>
                          <a:latin typeface="Calibri" pitchFamily="34" charset="0"/>
                          <a:ea typeface="Calibri" pitchFamily="34" charset="-122"/>
                          <a:cs typeface="Calibri" pitchFamily="34" charset="-120"/>
                        </a:rPr>
                        <a:t>Shelf-Life Study</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6-month accelerated shelf-life data; DSC thermal stability analysis</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850" dirty="0">
                          <a:solidFill>
                            <a:srgbClr val="000000"/>
                          </a:solidFill>
                          <a:latin typeface="Calibri" pitchFamily="34" charset="0"/>
                          <a:ea typeface="Calibri" pitchFamily="34" charset="-122"/>
                          <a:cs typeface="Calibri" pitchFamily="34" charset="-120"/>
                        </a:rPr>
                        <a:t>Month 4–8</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850" b="1" dirty="0">
                          <a:solidFill>
                            <a:srgbClr val="000000"/>
                          </a:solidFill>
                          <a:latin typeface="Calibri" pitchFamily="34" charset="0"/>
                          <a:ea typeface="Calibri" pitchFamily="34" charset="-122"/>
                          <a:cs typeface="Calibri" pitchFamily="34" charset="-120"/>
                        </a:rPr>
                        <a:t>₹1,50,000</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r>
              <a:tr h="269748">
                <a:tc>
                  <a:txBody>
                    <a:bodyPr/>
                    <a:lstStyle/>
                    <a:p>
                      <a:pPr indent="0" marL="0">
                        <a:buNone/>
                      </a:pPr>
                      <a:r>
                        <a:rPr lang="en-US" sz="850" b="1" dirty="0">
                          <a:solidFill>
                            <a:srgbClr val="000000"/>
                          </a:solidFill>
                          <a:latin typeface="Calibri" pitchFamily="34" charset="0"/>
                          <a:ea typeface="Calibri" pitchFamily="34" charset="-122"/>
                          <a:cs typeface="Calibri" pitchFamily="34" charset="-120"/>
                        </a:rPr>
                        <a:t>Process Validation Batch</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100-unit CLARITY pilot batch; structured consumer panel (20+ participants)</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Calibri" pitchFamily="34" charset="0"/>
                          <a:ea typeface="Calibri" pitchFamily="34" charset="-122"/>
                          <a:cs typeface="Calibri" pitchFamily="34" charset="-120"/>
                        </a:rPr>
                        <a:t>Month 6–9</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0000"/>
                          </a:solidFill>
                          <a:latin typeface="Calibri" pitchFamily="34" charset="0"/>
                          <a:ea typeface="Calibri" pitchFamily="34" charset="-122"/>
                          <a:cs typeface="Calibri" pitchFamily="34" charset="-120"/>
                        </a:rPr>
                        <a:t>₹2,50,000</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FFFFFF"/>
                    </a:solidFill>
                  </a:tcPr>
                </a:tc>
              </a:tr>
              <a:tr h="269748">
                <a:tc>
                  <a:txBody>
                    <a:bodyPr/>
                    <a:lstStyle/>
                    <a:p>
                      <a:pPr indent="0" marL="0">
                        <a:buNone/>
                      </a:pPr>
                      <a:r>
                        <a:rPr lang="en-US" sz="850" b="1" dirty="0">
                          <a:solidFill>
                            <a:srgbClr val="000000"/>
                          </a:solidFill>
                          <a:latin typeface="Calibri" pitchFamily="34" charset="0"/>
                          <a:ea typeface="Calibri" pitchFamily="34" charset="-122"/>
                          <a:cs typeface="Calibri" pitchFamily="34" charset="-120"/>
                        </a:rPr>
                        <a:t>Consumables &amp; Stipends</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Lab reagents, consumables, Research Fellow + intern stipend support, misc contingency</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850" dirty="0">
                          <a:solidFill>
                            <a:srgbClr val="000000"/>
                          </a:solidFill>
                          <a:latin typeface="Calibri" pitchFamily="34" charset="0"/>
                          <a:ea typeface="Calibri" pitchFamily="34" charset="-122"/>
                          <a:cs typeface="Calibri" pitchFamily="34" charset="-120"/>
                        </a:rPr>
                        <a:t>Month 1–18</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c>
                  <a:txBody>
                    <a:bodyPr/>
                    <a:lstStyle/>
                    <a:p>
                      <a:pPr algn="ctr" indent="0" marL="0">
                        <a:buNone/>
                      </a:pPr>
                      <a:r>
                        <a:rPr lang="en-US" sz="850" b="1" dirty="0">
                          <a:solidFill>
                            <a:srgbClr val="000000"/>
                          </a:solidFill>
                          <a:latin typeface="Calibri" pitchFamily="34" charset="0"/>
                          <a:ea typeface="Calibri" pitchFamily="34" charset="-122"/>
                          <a:cs typeface="Calibri" pitchFamily="34" charset="-120"/>
                        </a:rPr>
                        <a:t>₹5,00,000</a:t>
                      </a:r>
                      <a:endParaRPr lang="en-US" sz="8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E6F7F5"/>
                    </a:solidFill>
                  </a:tcPr>
                </a:tc>
              </a:tr>
              <a:tr h="26974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c>
                  <a:txBody>
                    <a:bodyPr/>
                    <a:lstStyle/>
                    <a:p>
                      <a:pPr indent="0" marL="0">
                        <a:buNone/>
                      </a:pPr>
                      <a:r>
                        <a:rPr lang="en-US" sz="900" dirty="0">
                          <a:solidFill>
                            <a:srgbClr val="94A3B8"/>
                          </a:solidFill>
                          <a:latin typeface="Calibri" pitchFamily="34" charset="0"/>
                          <a:ea typeface="Calibri" pitchFamily="34" charset="-122"/>
                          <a:cs typeface="Calibri" pitchFamily="34" charset="-120"/>
                        </a:rPr>
                        <a:t>Full 18-month validation and regulatory phase (maximum SISFS project duration). Verify final timeline with Indigram at presentation.</a:t>
                      </a:r>
                      <a:endParaRPr lang="en-US" sz="9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c>
                  <a:txBody>
                    <a:bodyPr/>
                    <a:lstStyle/>
                    <a:p>
                      <a:pPr algn="ctr" indent="0" marL="0">
                        <a:buNone/>
                      </a:pPr>
                      <a:r>
                        <a:rPr lang="en-US" sz="900" dirty="0">
                          <a:solidFill>
                            <a:srgbClr val="94A3B8"/>
                          </a:solidFill>
                          <a:latin typeface="Calibri" pitchFamily="34" charset="0"/>
                          <a:ea typeface="Calibri" pitchFamily="34" charset="-122"/>
                          <a:cs typeface="Calibri" pitchFamily="34" charset="-120"/>
                        </a:rPr>
                        <a:t>12 Months</a:t>
                      </a:r>
                      <a:endParaRPr lang="en-US" sz="9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₹20,00,000</a:t>
                      </a:r>
                      <a:endParaRPr lang="en-US" sz="1000" dirty="0">
                        <a:latin typeface="Calibri" charset="0"/>
                        <a:ea typeface="Calibri" charset="0"/>
                        <a:cs typeface="Calibri" charset="0"/>
                      </a:endParaRPr>
                    </a:p>
                  </a:txBody>
                  <a:tcPr marL="91440" marR="91440" marT="45720" marB="45720">
                    <a:lnL w="6350" cap="flat" cmpd="sng" algn="ctr">
                      <a:solidFill>
                        <a:srgbClr val="CCEDE9"/>
                      </a:solidFill>
                      <a:prstDash val="solid"/>
                      <a:round/>
                      <a:headEnd type="none" w="med" len="med"/>
                      <a:tailEnd type="none" w="med" len="med"/>
                    </a:lnL>
                    <a:lnR w="6350" cap="flat" cmpd="sng" algn="ctr">
                      <a:solidFill>
                        <a:srgbClr val="CCEDE9"/>
                      </a:solidFill>
                      <a:prstDash val="solid"/>
                      <a:round/>
                      <a:headEnd type="none" w="med" len="med"/>
                      <a:tailEnd type="none" w="med" len="med"/>
                    </a:lnR>
                    <a:lnT w="6350" cap="flat" cmpd="sng" algn="ctr">
                      <a:solidFill>
                        <a:srgbClr val="CCEDE9"/>
                      </a:solidFill>
                      <a:prstDash val="solid"/>
                      <a:round/>
                      <a:headEnd type="none" w="med" len="med"/>
                      <a:tailEnd type="none" w="med" len="med"/>
                    </a:lnT>
                    <a:lnB w="6350" cap="flat" cmpd="sng" algn="ctr">
                      <a:solidFill>
                        <a:srgbClr val="CCEDE9"/>
                      </a:solidFill>
                      <a:prstDash val="solid"/>
                      <a:round/>
                      <a:headEnd type="none" w="med" len="med"/>
                      <a:tailEnd type="none" w="med" len="med"/>
                    </a:lnB>
                    <a:solidFill>
                      <a:srgbClr val="0F3D38"/>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FFE"/>
        </a:solidFill>
      </p:bgPr>
    </p:bg>
    <p:spTree>
      <p:nvGrpSpPr>
        <p:cNvPr id="1" name=""/>
        <p:cNvGrpSpPr/>
        <p:nvPr/>
      </p:nvGrpSpPr>
      <p:grpSpPr>
        <a:xfrm>
          <a:off x="0" y="0"/>
          <a:ext cx="0" cy="0"/>
          <a:chOff x="0" y="0"/>
          <a:chExt cx="0" cy="0"/>
        </a:xfrm>
      </p:grpSpPr>
      <p:sp>
        <p:nvSpPr>
          <p:cNvPr id="2" name="Tag"/>
          <p:cNvSpPr/>
          <p:nvPr/>
        </p:nvSpPr>
        <p:spPr>
          <a:xfrm>
            <a:off x="365760" y="182880"/>
            <a:ext cx="1280160" cy="228600"/>
          </a:xfrm>
          <a:prstGeom prst="roundRect">
            <a:avLst>
              <a:gd name="adj" fmla="val 20000"/>
            </a:avLst>
          </a:prstGeom>
          <a:solidFill>
            <a:srgbClr val="0D9488"/>
          </a:solidFill>
          <a:ln w="12700">
            <a:solidFill>
              <a:srgbClr val="0D9488"/>
            </a:solidFill>
          </a:ln>
        </p:spPr>
      </p:sp>
      <p:sp>
        <p:nvSpPr>
          <p:cNvPr id="3" name="TagTxt"/>
          <p:cNvSpPr/>
          <p:nvPr/>
        </p:nvSpPr>
        <p:spPr>
          <a:xfrm>
            <a:off x="365760" y="182880"/>
            <a:ext cx="1280160" cy="22860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rPr>
              <a:t>ADVISORY BOARD</a:t>
            </a:r>
          </a:p>
        </p:txBody>
      </p:sp>
      <p:sp>
        <p:nvSpPr>
          <p:cNvPr id="4" name="Title"/>
          <p:cNvSpPr/>
          <p:nvPr/>
        </p:nvSpPr>
        <p:spPr>
          <a:xfrm>
            <a:off x="365760" y="484632"/>
            <a:ext cx="8412480" cy="420624"/>
          </a:xfrm>
          <a:prstGeom prst="rect">
            <a:avLst/>
          </a:prstGeom>
          <a:noFill/>
          <a:ln/>
        </p:spPr>
        <p:txBody>
          <a:bodyPr wrap="square" rtlCol="0" anchor="ctr"/>
          <a:lstStyle/>
          <a:p>
            <a:pPr indent="0" marL="0">
              <a:buNone/>
            </a:pPr>
            <a:r>
              <a:rPr lang="en-US" sz="2100" b="1" dirty="0">
                <a:solidFill>
                  <a:srgbClr val="0A6059"/>
                </a:solidFill>
                <a:latin typeface="Calibri" pitchFamily="34" charset="0"/>
              </a:rPr>
              <a:t>Expert Advisory — Industry &amp; Academic</a:t>
            </a:r>
          </a:p>
        </p:txBody>
      </p:sp>
      <p:sp>
        <p:nvSpPr>
          <p:cNvPr id="5" name="Divider"/>
          <p:cNvSpPr/>
          <p:nvPr/>
        </p:nvSpPr>
        <p:spPr>
          <a:xfrm>
            <a:off x="365760" y="914400"/>
            <a:ext cx="8412480" cy="16459"/>
          </a:xfrm>
          <a:prstGeom prst="rect">
            <a:avLst/>
          </a:prstGeom>
          <a:solidFill>
            <a:srgbClr val="CCEDE9"/>
          </a:solidFill>
        </p:spPr>
      </p:sp>
      <p:sp>
        <p:nvSpPr>
          <p:cNvPr id="6" name="Subtitle"/>
          <p:cNvSpPr/>
          <p:nvPr/>
        </p:nvSpPr>
        <p:spPr>
          <a:xfrm>
            <a:off x="365760" y="941832"/>
            <a:ext cx="841248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rPr>
              <a:t>Confirmed advisors from leading biotech CROs, pharmaceutical companies, and academic institutions</a:t>
            </a:r>
          </a:p>
        </p:txBody>
      </p:sp>
      <p:sp>
        <p:nvSpPr>
          <p:cNvPr id="7" name="IndustryLabel"/>
          <p:cNvSpPr/>
          <p:nvPr/>
        </p:nvSpPr>
        <p:spPr>
          <a:xfrm>
            <a:off x="365760" y="1234440"/>
            <a:ext cx="8412480" cy="200000"/>
          </a:xfrm>
          <a:prstGeom prst="rect">
            <a:avLst/>
          </a:prstGeom>
          <a:noFill/>
          <a:ln/>
        </p:spPr>
        <p:txBody>
          <a:bodyPr wrap="square" rtlCol="0" anchor="ctr"/>
          <a:lstStyle/>
          <a:p>
            <a:pPr indent="0" marL="0">
              <a:buNone/>
            </a:pPr>
            <a:r>
              <a:rPr lang="en-US" sz="800" b="1" dirty="0">
                <a:solidFill>
                  <a:srgbClr val="0D9488"/>
                </a:solidFill>
                <a:latin typeface="Calibri" pitchFamily="34" charset="0"/>
              </a:rPr>
              <a:t>INDUSTRY ADVISORY</a:t>
            </a:r>
          </a:p>
        </p:txBody>
      </p:sp>
      <p:sp>
        <p:nvSpPr>
          <p:cNvPr id="8" name="Ind1Bg"/>
          <p:cNvSpPr/>
          <p:nvPr/>
        </p:nvSpPr>
        <p:spPr>
          <a:xfrm>
            <a:off x="365760" y="1452240"/>
            <a:ext cx="2640000" cy="820800"/>
          </a:xfrm>
          <a:prstGeom prst="roundRect">
            <a:avLst>
              <a:gd name="adj" fmla="val 3000"/>
            </a:avLst>
          </a:prstGeom>
          <a:solidFill>
            <a:srgbClr val="E6F7F5"/>
          </a:solidFill>
          <a:ln w="6350">
            <a:solidFill>
              <a:srgbClr val="CCEDE9"/>
            </a:solidFill>
          </a:ln>
        </p:spPr>
      </p:sp>
      <p:sp>
        <p:nvSpPr>
          <p:cNvPr id="9" name="Ind1Txt"/>
          <p:cNvSpPr/>
          <p:nvPr/>
        </p:nvSpPr>
        <p:spPr>
          <a:xfrm>
            <a:off x="502920" y="1480000"/>
            <a:ext cx="2366000" cy="764000"/>
          </a:xfrm>
          <a:prstGeom prst="rect">
            <a:avLst/>
          </a:prstGeom>
          <a:noFill/>
          <a:ln/>
        </p:spPr>
        <p:txBody>
          <a:bodyPr wrap="square" rtlCol="0" anchor="t"/>
          <a:lstStyle/>
          <a:p>
            <a:pPr indent="0" marL="0">
              <a:buNone/>
            </a:pPr>
            <a:r>
              <a:rPr lang="en-US" sz="750" b="1" dirty="0">
                <a:solidFill>
                  <a:srgbClr val="0A6059"/>
                </a:solidFill>
                <a:latin typeface="Calibri" pitchFamily="34" charset="0"/>
              </a:rPr>
              <a:t>Prabahar Jerik S</a:t>
            </a:r>
          </a:p>
          <a:p>
            <a:pPr indent="0" marL="0">
              <a:buNone/>
            </a:pPr>
            <a:r>
              <a:rPr lang="en-US" sz="700" dirty="0">
                <a:solidFill>
                  <a:srgbClr val="374151"/>
                </a:solidFill>
                <a:latin typeface="Calibri" pitchFamily="34" charset="0"/>
              </a:rPr>
              <a:t>Senior Scientist MSAT · Syngene International Ltd</a:t>
            </a:r>
          </a:p>
          <a:p>
            <a:pPr indent="0" marL="0">
              <a:buNone/>
            </a:pPr>
            <a:r>
              <a:rPr lang="en-US" sz="700" i="1" dirty="0">
                <a:solidFill>
                  <a:srgbClr val="6B7280"/>
                </a:solidFill>
                <a:latin typeface="Calibri" pitchFamily="34" charset="0"/>
              </a:rPr>
              <a:t>Pilot Scale-Up Strategy</a:t>
            </a:r>
          </a:p>
        </p:txBody>
      </p:sp>
      <p:sp>
        <p:nvSpPr>
          <p:cNvPr id="10" name="Ind2Bg"/>
          <p:cNvSpPr/>
          <p:nvPr/>
        </p:nvSpPr>
        <p:spPr>
          <a:xfrm>
            <a:off x="3072960" y="1452240"/>
            <a:ext cx="2640000" cy="820800"/>
          </a:xfrm>
          <a:prstGeom prst="roundRect">
            <a:avLst>
              <a:gd name="adj" fmla="val 3000"/>
            </a:avLst>
          </a:prstGeom>
          <a:solidFill>
            <a:srgbClr val="E6F7F5"/>
          </a:solidFill>
          <a:ln w="6350">
            <a:solidFill>
              <a:srgbClr val="CCEDE9"/>
            </a:solidFill>
          </a:ln>
        </p:spPr>
      </p:sp>
      <p:sp>
        <p:nvSpPr>
          <p:cNvPr id="11" name="Ind2Txt"/>
          <p:cNvSpPr/>
          <p:nvPr/>
        </p:nvSpPr>
        <p:spPr>
          <a:xfrm>
            <a:off x="3210120" y="1480000"/>
            <a:ext cx="2366000" cy="764000"/>
          </a:xfrm>
          <a:prstGeom prst="rect">
            <a:avLst/>
          </a:prstGeom>
          <a:noFill/>
          <a:ln/>
        </p:spPr>
        <p:txBody>
          <a:bodyPr wrap="square" rtlCol="0" anchor="t"/>
          <a:lstStyle/>
          <a:p>
            <a:pPr indent="0" marL="0">
              <a:buNone/>
            </a:pPr>
            <a:r>
              <a:rPr lang="en-US" sz="750" b="1" dirty="0">
                <a:solidFill>
                  <a:srgbClr val="0A6059"/>
                </a:solidFill>
                <a:latin typeface="Calibri" pitchFamily="34" charset="0"/>
              </a:rPr>
              <a:t>Yeslin Pushan M</a:t>
            </a:r>
          </a:p>
          <a:p>
            <a:pPr indent="0" marL="0">
              <a:buNone/>
            </a:pPr>
            <a:r>
              <a:rPr lang="en-US" sz="700" dirty="0">
                <a:solidFill>
                  <a:srgbClr val="374151"/>
                </a:solidFill>
                <a:latin typeface="Calibri" pitchFamily="34" charset="0"/>
              </a:rPr>
              <a:t>Associate Scientist MSAT · Syngene International Ltd</a:t>
            </a:r>
          </a:p>
          <a:p>
            <a:pPr indent="0" marL="0">
              <a:buNone/>
            </a:pPr>
            <a:r>
              <a:rPr lang="en-US" sz="700" i="1" dirty="0">
                <a:solidFill>
                  <a:srgbClr val="6B7280"/>
                </a:solidFill>
                <a:latin typeface="Calibri" pitchFamily="34" charset="0"/>
              </a:rPr>
              <a:t>Process Analytics</a:t>
            </a:r>
          </a:p>
        </p:txBody>
      </p:sp>
      <p:sp>
        <p:nvSpPr>
          <p:cNvPr id="12" name="Ind3Bg"/>
          <p:cNvSpPr/>
          <p:nvPr/>
        </p:nvSpPr>
        <p:spPr>
          <a:xfrm>
            <a:off x="5780160" y="1452240"/>
            <a:ext cx="2998800" cy="820800"/>
          </a:xfrm>
          <a:prstGeom prst="roundRect">
            <a:avLst>
              <a:gd name="adj" fmla="val 3000"/>
            </a:avLst>
          </a:prstGeom>
          <a:solidFill>
            <a:srgbClr val="E6F7F5"/>
          </a:solidFill>
          <a:ln w="6350">
            <a:solidFill>
              <a:srgbClr val="CCEDE9"/>
            </a:solidFill>
          </a:ln>
        </p:spPr>
      </p:sp>
      <p:sp>
        <p:nvSpPr>
          <p:cNvPr id="13" name="Ind3Txt"/>
          <p:cNvSpPr/>
          <p:nvPr/>
        </p:nvSpPr>
        <p:spPr>
          <a:xfrm>
            <a:off x="5917320" y="1480000"/>
            <a:ext cx="2724000" cy="764000"/>
          </a:xfrm>
          <a:prstGeom prst="rect">
            <a:avLst/>
          </a:prstGeom>
          <a:noFill/>
          <a:ln/>
        </p:spPr>
        <p:txBody>
          <a:bodyPr wrap="square" rtlCol="0" anchor="t"/>
          <a:lstStyle/>
          <a:p>
            <a:pPr indent="0" marL="0">
              <a:buNone/>
            </a:pPr>
            <a:r>
              <a:rPr lang="en-US" sz="750" b="1" dirty="0">
                <a:solidFill>
                  <a:srgbClr val="0A6059"/>
                </a:solidFill>
                <a:latin typeface="Calibri" pitchFamily="34" charset="0"/>
              </a:rPr>
              <a:t>Jegan K</a:t>
            </a:r>
          </a:p>
          <a:p>
            <a:pPr indent="0" marL="0">
              <a:buNone/>
            </a:pPr>
            <a:r>
              <a:rPr lang="en-US" sz="700" dirty="0">
                <a:solidFill>
                  <a:srgbClr val="374151"/>
                </a:solidFill>
                <a:latin typeface="Calibri" pitchFamily="34" charset="0"/>
              </a:rPr>
              <a:t>Sr. Executive, Process Development · Aragen Life Sciences</a:t>
            </a:r>
          </a:p>
          <a:p>
            <a:pPr indent="0" marL="0">
              <a:buNone/>
            </a:pPr>
            <a:r>
              <a:rPr lang="en-US" sz="700" i="1" dirty="0">
                <a:solidFill>
                  <a:srgbClr val="6B7280"/>
                </a:solidFill>
                <a:latin typeface="Calibri" pitchFamily="34" charset="0"/>
              </a:rPr>
              <a:t>Commercial Bioprocessing</a:t>
            </a:r>
          </a:p>
        </p:txBody>
      </p:sp>
      <p:sp>
        <p:nvSpPr>
          <p:cNvPr id="14" name="AcadLabel"/>
          <p:cNvSpPr/>
          <p:nvPr/>
        </p:nvSpPr>
        <p:spPr>
          <a:xfrm>
            <a:off x="365760" y="2400000"/>
            <a:ext cx="8412480" cy="200000"/>
          </a:xfrm>
          <a:prstGeom prst="rect">
            <a:avLst/>
          </a:prstGeom>
          <a:noFill/>
          <a:ln/>
        </p:spPr>
        <p:txBody>
          <a:bodyPr wrap="square" rtlCol="0" anchor="ctr"/>
          <a:lstStyle/>
          <a:p>
            <a:pPr indent="0" marL="0">
              <a:buNone/>
            </a:pPr>
            <a:r>
              <a:rPr lang="en-US" sz="800" b="1" dirty="0">
                <a:solidFill>
                  <a:srgbClr val="0D9488"/>
                </a:solidFill>
                <a:latin typeface="Calibri" pitchFamily="34" charset="0"/>
              </a:rPr>
              <a:t>ACADEMIC &amp; RESEARCH ADVISORY</a:t>
            </a:r>
          </a:p>
        </p:txBody>
      </p:sp>
      <p:sp>
        <p:nvSpPr>
          <p:cNvPr id="15" name="Ac1Bg"/>
          <p:cNvSpPr/>
          <p:nvPr/>
        </p:nvSpPr>
        <p:spPr>
          <a:xfrm>
            <a:off x="365760" y="2618000"/>
            <a:ext cx="2555000" cy="820800"/>
          </a:xfrm>
          <a:prstGeom prst="roundRect">
            <a:avLst>
              <a:gd name="adj" fmla="val 3000"/>
            </a:avLst>
          </a:prstGeom>
          <a:solidFill>
            <a:srgbClr val="F0FDFA"/>
          </a:solidFill>
          <a:ln w="6350">
            <a:solidFill>
              <a:srgbClr val="CCEDE9"/>
            </a:solidFill>
          </a:ln>
        </p:spPr>
      </p:sp>
      <p:sp>
        <p:nvSpPr>
          <p:cNvPr id="16" name="Ac1Txt"/>
          <p:cNvSpPr/>
          <p:nvPr/>
        </p:nvSpPr>
        <p:spPr>
          <a:xfrm>
            <a:off x="502920" y="2646000"/>
            <a:ext cx="2281000" cy="764000"/>
          </a:xfrm>
          <a:prstGeom prst="rect">
            <a:avLst/>
          </a:prstGeom>
          <a:noFill/>
          <a:ln/>
        </p:spPr>
        <p:txBody>
          <a:bodyPr wrap="square" rtlCol="0" anchor="t"/>
          <a:lstStyle/>
          <a:p>
            <a:pPr indent="0" marL="0">
              <a:buNone/>
            </a:pPr>
            <a:r>
              <a:rPr lang="en-US" sz="750" b="1" dirty="0">
                <a:solidFill>
                  <a:srgbClr val="0A6059"/>
                </a:solidFill>
                <a:latin typeface="Calibri" pitchFamily="34" charset="0"/>
              </a:rPr>
              <a:t>Dr. P. Suresh Babu</a:t>
            </a:r>
          </a:p>
          <a:p>
            <a:pPr indent="0" marL="0">
              <a:buNone/>
            </a:pPr>
            <a:r>
              <a:rPr lang="en-US" sz="700" dirty="0">
                <a:solidFill>
                  <a:srgbClr val="374151"/>
                </a:solidFill>
                <a:latin typeface="Calibri" pitchFamily="34" charset="0"/>
              </a:rPr>
              <a:t>Professor &amp; Head, Dept of Biotechnology · Savitha University, Chennai</a:t>
            </a:r>
          </a:p>
          <a:p>
            <a:pPr indent="0" marL="0">
              <a:buNone/>
            </a:pPr>
            <a:r>
              <a:rPr lang="en-US" sz="700" i="1" dirty="0">
                <a:solidFill>
                  <a:srgbClr val="6B7280"/>
                </a:solidFill>
                <a:latin typeface="Calibri" pitchFamily="34" charset="0"/>
              </a:rPr>
              <a:t>Academic Advisory</a:t>
            </a:r>
          </a:p>
        </p:txBody>
      </p:sp>
      <p:sp>
        <p:nvSpPr>
          <p:cNvPr id="17" name="Ac2Bg"/>
          <p:cNvSpPr/>
          <p:nvPr/>
        </p:nvSpPr>
        <p:spPr>
          <a:xfrm>
            <a:off x="2987760" y="2618000"/>
            <a:ext cx="2555000" cy="820800"/>
          </a:xfrm>
          <a:prstGeom prst="roundRect">
            <a:avLst>
              <a:gd name="adj" fmla="val 3000"/>
            </a:avLst>
          </a:prstGeom>
          <a:solidFill>
            <a:srgbClr val="F0FDFA"/>
          </a:solidFill>
          <a:ln w="6350">
            <a:solidFill>
              <a:srgbClr val="CCEDE9"/>
            </a:solidFill>
          </a:ln>
        </p:spPr>
      </p:sp>
      <p:sp>
        <p:nvSpPr>
          <p:cNvPr id="18" name="Ac2Txt"/>
          <p:cNvSpPr/>
          <p:nvPr/>
        </p:nvSpPr>
        <p:spPr>
          <a:xfrm>
            <a:off x="3124920" y="2646000"/>
            <a:ext cx="2281000" cy="764000"/>
          </a:xfrm>
          <a:prstGeom prst="rect">
            <a:avLst/>
          </a:prstGeom>
          <a:noFill/>
          <a:ln/>
        </p:spPr>
        <p:txBody>
          <a:bodyPr wrap="square" rtlCol="0" anchor="t"/>
          <a:lstStyle/>
          <a:p>
            <a:pPr indent="0" marL="0">
              <a:buNone/>
            </a:pPr>
            <a:r>
              <a:rPr lang="en-US" sz="750" b="1" dirty="0">
                <a:solidFill>
                  <a:srgbClr val="0A6059"/>
                </a:solidFill>
                <a:latin typeface="Calibri" pitchFamily="34" charset="0"/>
              </a:rPr>
              <a:t>Dr. V. Manivasagan</a:t>
            </a:r>
          </a:p>
          <a:p>
            <a:pPr indent="0" marL="0">
              <a:buNone/>
            </a:pPr>
            <a:r>
              <a:rPr lang="en-US" sz="700" dirty="0">
                <a:solidFill>
                  <a:srgbClr val="374151"/>
                </a:solidFill>
                <a:latin typeface="Calibri" pitchFamily="34" charset="0"/>
              </a:rPr>
              <a:t>Professor &amp; Head, Dept of Biotechnology · Adhiyamaan College of Engineering, Hosur</a:t>
            </a:r>
          </a:p>
          <a:p>
            <a:pPr indent="0" marL="0">
              <a:buNone/>
            </a:pPr>
            <a:r>
              <a:rPr lang="en-US" sz="700" i="1" dirty="0">
                <a:solidFill>
                  <a:srgbClr val="6B7280"/>
                </a:solidFill>
                <a:latin typeface="Calibri" pitchFamily="34" charset="0"/>
              </a:rPr>
              <a:t>Academic Advisory</a:t>
            </a:r>
          </a:p>
        </p:txBody>
      </p:sp>
      <p:sp>
        <p:nvSpPr>
          <p:cNvPr id="19" name="Ac3Bg"/>
          <p:cNvSpPr/>
          <p:nvPr/>
        </p:nvSpPr>
        <p:spPr>
          <a:xfrm>
            <a:off x="5609760" y="2618000"/>
            <a:ext cx="3168960" cy="820800"/>
          </a:xfrm>
          <a:prstGeom prst="roundRect">
            <a:avLst>
              <a:gd name="adj" fmla="val 3000"/>
            </a:avLst>
          </a:prstGeom>
          <a:solidFill>
            <a:srgbClr val="F0FDFA"/>
          </a:solidFill>
          <a:ln w="6350">
            <a:solidFill>
              <a:srgbClr val="CCEDE9"/>
            </a:solidFill>
          </a:ln>
        </p:spPr>
      </p:sp>
      <p:sp>
        <p:nvSpPr>
          <p:cNvPr id="20" name="Ac3Txt"/>
          <p:cNvSpPr/>
          <p:nvPr/>
        </p:nvSpPr>
        <p:spPr>
          <a:xfrm>
            <a:off x="5746920" y="2646000"/>
            <a:ext cx="2994000" cy="764000"/>
          </a:xfrm>
          <a:prstGeom prst="rect">
            <a:avLst/>
          </a:prstGeom>
          <a:noFill/>
          <a:ln/>
        </p:spPr>
        <p:txBody>
          <a:bodyPr wrap="square" rtlCol="0" anchor="t"/>
          <a:lstStyle/>
          <a:p>
            <a:pPr indent="0" marL="0">
              <a:buNone/>
            </a:pPr>
            <a:r>
              <a:rPr lang="en-US" sz="750" b="1" dirty="0">
                <a:solidFill>
                  <a:srgbClr val="0A6059"/>
                </a:solidFill>
                <a:latin typeface="Calibri" pitchFamily="34" charset="0"/>
              </a:rPr>
              <a:t>Dr. S. Hari Lakshmi</a:t>
            </a:r>
          </a:p>
          <a:p>
            <a:pPr indent="0" marL="0">
              <a:buNone/>
            </a:pPr>
            <a:r>
              <a:rPr lang="en-US" sz="700" dirty="0">
                <a:solidFill>
                  <a:srgbClr val="374151"/>
                </a:solidFill>
                <a:latin typeface="Calibri" pitchFamily="34" charset="0"/>
              </a:rPr>
              <a:t>Asst Professor · Sri Shakthi Institute of Engg &amp; Tech, Coimbatore</a:t>
            </a:r>
          </a:p>
          <a:p>
            <a:pPr indent="0" marL="0">
              <a:buNone/>
            </a:pPr>
            <a:r>
              <a:rPr lang="en-US" sz="700" i="1" dirty="0">
                <a:solidFill>
                  <a:srgbClr val="6B7280"/>
                </a:solidFill>
                <a:latin typeface="Calibri" pitchFamily="34" charset="0"/>
              </a:rPr>
              <a:t>Bioactive Profiling</a:t>
            </a:r>
          </a:p>
        </p:txBody>
      </p:sp>
      <p:sp>
        <p:nvSpPr>
          <p:cNvPr id="21" name="Ac4Bg"/>
          <p:cNvSpPr/>
          <p:nvPr/>
        </p:nvSpPr>
        <p:spPr>
          <a:xfrm>
            <a:off x="1534320" y="3530000"/>
            <a:ext cx="2555000" cy="820800"/>
          </a:xfrm>
          <a:prstGeom prst="roundRect">
            <a:avLst>
              <a:gd name="adj" fmla="val 3000"/>
            </a:avLst>
          </a:prstGeom>
          <a:solidFill>
            <a:srgbClr val="F0FDFA"/>
          </a:solidFill>
          <a:ln w="6350">
            <a:solidFill>
              <a:srgbClr val="CCEDE9"/>
            </a:solidFill>
          </a:ln>
        </p:spPr>
      </p:sp>
      <p:sp>
        <p:nvSpPr>
          <p:cNvPr id="22" name="Ac4Txt"/>
          <p:cNvSpPr/>
          <p:nvPr/>
        </p:nvSpPr>
        <p:spPr>
          <a:xfrm>
            <a:off x="1671480" y="3558000"/>
            <a:ext cx="2281000" cy="764000"/>
          </a:xfrm>
          <a:prstGeom prst="rect">
            <a:avLst/>
          </a:prstGeom>
          <a:noFill/>
          <a:ln/>
        </p:spPr>
        <p:txBody>
          <a:bodyPr wrap="square" rtlCol="0" anchor="t"/>
          <a:lstStyle/>
          <a:p>
            <a:pPr indent="0" marL="0">
              <a:buNone/>
            </a:pPr>
            <a:r>
              <a:rPr lang="en-US" sz="750" b="1" dirty="0">
                <a:solidFill>
                  <a:srgbClr val="0A6059"/>
                </a:solidFill>
                <a:latin typeface="Calibri" pitchFamily="34" charset="0"/>
              </a:rPr>
              <a:t>R.C. Aashika</a:t>
            </a:r>
          </a:p>
          <a:p>
            <a:pPr indent="0" marL="0">
              <a:buNone/>
            </a:pPr>
            <a:r>
              <a:rPr lang="en-US" sz="700" dirty="0">
                <a:solidFill>
                  <a:srgbClr val="374151"/>
                </a:solidFill>
                <a:latin typeface="Calibri" pitchFamily="34" charset="0"/>
              </a:rPr>
              <a:t>Asst Professor · Jeppiaar Engineering College, Chennai</a:t>
            </a:r>
          </a:p>
          <a:p>
            <a:pPr indent="0" marL="0">
              <a:buNone/>
            </a:pPr>
            <a:r>
              <a:rPr lang="en-US" sz="700" i="1" dirty="0">
                <a:solidFill>
                  <a:srgbClr val="6B7280"/>
                </a:solidFill>
                <a:latin typeface="Calibri" pitchFamily="34" charset="0"/>
              </a:rPr>
              <a:t>Functional Methodology</a:t>
            </a:r>
          </a:p>
        </p:txBody>
      </p:sp>
      <p:sp>
        <p:nvSpPr>
          <p:cNvPr id="23" name="Ac5Bg"/>
          <p:cNvSpPr/>
          <p:nvPr/>
        </p:nvSpPr>
        <p:spPr>
          <a:xfrm>
            <a:off x="4156320" y="3530000"/>
            <a:ext cx="2609400" cy="820800"/>
          </a:xfrm>
          <a:prstGeom prst="roundRect">
            <a:avLst>
              <a:gd name="adj" fmla="val 3000"/>
            </a:avLst>
          </a:prstGeom>
          <a:solidFill>
            <a:srgbClr val="F0FDFA"/>
          </a:solidFill>
          <a:ln w="6350">
            <a:solidFill>
              <a:srgbClr val="CCEDE9"/>
            </a:solidFill>
          </a:ln>
        </p:spPr>
      </p:sp>
      <p:sp>
        <p:nvSpPr>
          <p:cNvPr id="24" name="Ac5Txt"/>
          <p:cNvSpPr/>
          <p:nvPr/>
        </p:nvSpPr>
        <p:spPr>
          <a:xfrm>
            <a:off x="4293480" y="3558000"/>
            <a:ext cx="2335400" cy="764000"/>
          </a:xfrm>
          <a:prstGeom prst="rect">
            <a:avLst/>
          </a:prstGeom>
          <a:noFill/>
          <a:ln/>
        </p:spPr>
        <p:txBody>
          <a:bodyPr wrap="square" rtlCol="0" anchor="t"/>
          <a:lstStyle/>
          <a:p>
            <a:pPr indent="0" marL="0">
              <a:buNone/>
            </a:pPr>
            <a:r>
              <a:rPr lang="en-US" sz="750" b="1" dirty="0">
                <a:solidFill>
                  <a:srgbClr val="0A6059"/>
                </a:solidFill>
                <a:latin typeface="Calibri" pitchFamily="34" charset="0"/>
              </a:rPr>
              <a:t>Gopi K</a:t>
            </a:r>
          </a:p>
          <a:p>
            <a:pPr indent="0" marL="0">
              <a:buNone/>
            </a:pPr>
            <a:r>
              <a:rPr lang="en-US" sz="700" dirty="0">
                <a:solidFill>
                  <a:srgbClr val="374151"/>
                </a:solidFill>
                <a:latin typeface="Calibri" pitchFamily="34" charset="0"/>
              </a:rPr>
              <a:t>Bioengineering Major · Chung-Ang University, Seoul</a:t>
            </a:r>
          </a:p>
          <a:p>
            <a:pPr indent="0" marL="0">
              <a:buNone/>
            </a:pPr>
            <a:r>
              <a:rPr lang="en-US" sz="700" i="1" dirty="0">
                <a:solidFill>
                  <a:srgbClr val="6B7280"/>
                </a:solidFill>
                <a:latin typeface="Calibri" pitchFamily="34" charset="0"/>
              </a:rPr>
              <a:t>Biological Assay Design</a:t>
            </a:r>
          </a:p>
        </p:txBody>
      </p:sp>
      <p:sp>
        <p:nvSpPr>
          <p:cNvPr id="25" name="Footer"/>
          <p:cNvSpPr/>
          <p:nvPr/>
        </p:nvSpPr>
        <p:spPr>
          <a:xfrm>
            <a:off x="365760" y="4845240"/>
            <a:ext cx="8412480" cy="182880"/>
          </a:xfrm>
          <a:prstGeom prst="rect">
            <a:avLst/>
          </a:prstGeom>
          <a:noFill/>
          <a:ln/>
        </p:spPr>
        <p:txBody>
          <a:bodyPr wrap="square" rtlCol="0" anchor="ctr"/>
          <a:lstStyle/>
          <a:p>
            <a:pPr algn="ctr" indent="0" marL="0">
              <a:buNone/>
            </a:pPr>
            <a:r>
              <a:rPr lang="en-US" sz="750" i="1" dirty="0">
                <a:solidFill>
                  <a:srgbClr val="6B7280"/>
                </a:solidFill>
                <a:latin typeface="Calibri" pitchFamily="34" charset="0"/>
              </a:rPr>
              <a:t>Incubated at TBI-DETI@ACE, Cabin D, Hosur, Tamil Nadu  ·  CIN: U72100TZ2026PTC038160  ·  DPIIT Recognised: DIPP258270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Oxygen Bioinnovations — SISFS Pitch — Indigram Labs Foundation 2026</dc:title>
  <dc:subject>PptxGenJS Presentation</dc:subject>
  <dc:creator>Oxygen Bioinnovations Private Limited</dc:creator>
  <cp:lastModifiedBy>Oxygen Bioinnovations Private Limited</cp:lastModifiedBy>
  <cp:revision>1</cp:revision>
  <dcterms:created xsi:type="dcterms:W3CDTF">2026-06-18T18:36:51Z</dcterms:created>
  <dcterms:modified xsi:type="dcterms:W3CDTF">2026-06-18T18:36:51Z</dcterms:modified>
</cp:coreProperties>
</file>